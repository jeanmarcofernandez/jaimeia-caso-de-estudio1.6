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Literata Bold" charset="1" panose="00000000000000000000"/>
      <p:regular r:id="rId27"/>
    </p:embeddedFont>
    <p:embeddedFont>
      <p:font typeface="Literata" charset="1" panose="00000000000000000000"/>
      <p:regular r:id="rId28"/>
    </p:embeddedFont>
    <p:embeddedFont>
      <p:font typeface="Arimo Bold" charset="1" panose="020B0704020202020204"/>
      <p:regular r:id="rId43"/>
    </p:embeddedFont>
    <p:embeddedFont>
      <p:font typeface="Arimo" charset="1" panose="020B0604020202020204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notesSlides/notesSlide18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2.jpe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16" Target="../media/image35.png" Type="http://schemas.openxmlformats.org/officeDocument/2006/relationships/image"/><Relationship Id="rId17" Target="../media/image36.svg" Type="http://schemas.openxmlformats.org/officeDocument/2006/relationships/image"/><Relationship Id="rId18" Target="../media/image37.png" Type="http://schemas.openxmlformats.org/officeDocument/2006/relationships/image"/><Relationship Id="rId19" Target="../media/image38.sv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39.png" Type="http://schemas.openxmlformats.org/officeDocument/2006/relationships/image"/><Relationship Id="rId21" Target="../media/image40.sv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.jpe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16" Target="../media/image53.png" Type="http://schemas.openxmlformats.org/officeDocument/2006/relationships/image"/><Relationship Id="rId17" Target="../media/image54.svg" Type="http://schemas.openxmlformats.org/officeDocument/2006/relationships/image"/><Relationship Id="rId18" Target="../media/image55.png" Type="http://schemas.openxmlformats.org/officeDocument/2006/relationships/image"/><Relationship Id="rId19" Target="../media/image56.sv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57.png" Type="http://schemas.openxmlformats.org/officeDocument/2006/relationships/image"/><Relationship Id="rId21" Target="../media/image58.svg" Type="http://schemas.openxmlformats.org/officeDocument/2006/relationships/image"/><Relationship Id="rId22" Target="../media/image59.png" Type="http://schemas.openxmlformats.org/officeDocument/2006/relationships/image"/><Relationship Id="rId23" Target="../media/image60.svg" Type="http://schemas.openxmlformats.org/officeDocument/2006/relationships/image"/><Relationship Id="rId24" Target="../media/image61.png" Type="http://schemas.openxmlformats.org/officeDocument/2006/relationships/image"/><Relationship Id="rId25" Target="../media/image62.svg" Type="http://schemas.openxmlformats.org/officeDocument/2006/relationships/image"/><Relationship Id="rId26" Target="../media/image63.png" Type="http://schemas.openxmlformats.org/officeDocument/2006/relationships/image"/><Relationship Id="rId27" Target="../media/image64.svg" Type="http://schemas.openxmlformats.org/officeDocument/2006/relationships/image"/><Relationship Id="rId28" Target="../media/image65.png" Type="http://schemas.openxmlformats.org/officeDocument/2006/relationships/image"/><Relationship Id="rId29" Target="../media/image66.sv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2.jpe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75.svg" Type="http://schemas.openxmlformats.org/officeDocument/2006/relationships/image"/><Relationship Id="rId13" Target="../media/image76.png" Type="http://schemas.openxmlformats.org/officeDocument/2006/relationships/image"/><Relationship Id="rId14" Target="../media/image77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67.png" Type="http://schemas.openxmlformats.org/officeDocument/2006/relationships/image"/><Relationship Id="rId4" Target="../media/image68.svg" Type="http://schemas.openxmlformats.org/officeDocument/2006/relationships/image"/><Relationship Id="rId5" Target="../media/image2.jpe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svg" Type="http://schemas.openxmlformats.org/officeDocument/2006/relationships/image"/><Relationship Id="rId11" Target="../media/image85.png" Type="http://schemas.openxmlformats.org/officeDocument/2006/relationships/image"/><Relationship Id="rId12" Target="../media/image86.svg" Type="http://schemas.openxmlformats.org/officeDocument/2006/relationships/image"/><Relationship Id="rId13" Target="../media/image87.png" Type="http://schemas.openxmlformats.org/officeDocument/2006/relationships/image"/><Relationship Id="rId14" Target="../media/image88.svg" Type="http://schemas.openxmlformats.org/officeDocument/2006/relationships/image"/><Relationship Id="rId15" Target="../media/image89.png" Type="http://schemas.openxmlformats.org/officeDocument/2006/relationships/image"/><Relationship Id="rId16" Target="../media/image90.svg" Type="http://schemas.openxmlformats.org/officeDocument/2006/relationships/image"/><Relationship Id="rId17" Target="../media/image91.png" Type="http://schemas.openxmlformats.org/officeDocument/2006/relationships/image"/><Relationship Id="rId18" Target="../media/image92.svg" Type="http://schemas.openxmlformats.org/officeDocument/2006/relationships/image"/><Relationship Id="rId19" Target="../media/image93.png" Type="http://schemas.openxmlformats.org/officeDocument/2006/relationships/image"/><Relationship Id="rId2" Target="../notesSlides/notesSlide6.xml" Type="http://schemas.openxmlformats.org/officeDocument/2006/relationships/notesSlide"/><Relationship Id="rId20" Target="../media/image94.svg" Type="http://schemas.openxmlformats.org/officeDocument/2006/relationships/image"/><Relationship Id="rId21" Target="../media/image95.png" Type="http://schemas.openxmlformats.org/officeDocument/2006/relationships/image"/><Relationship Id="rId22" Target="../media/image96.svg" Type="http://schemas.openxmlformats.org/officeDocument/2006/relationships/image"/><Relationship Id="rId3" Target="../media/image78.png" Type="http://schemas.openxmlformats.org/officeDocument/2006/relationships/image"/><Relationship Id="rId4" Target="../media/image79.svg" Type="http://schemas.openxmlformats.org/officeDocument/2006/relationships/image"/><Relationship Id="rId5" Target="../media/image2.jpe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Relationship Id="rId8" Target="../media/image82.pn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png" Type="http://schemas.openxmlformats.org/officeDocument/2006/relationships/image"/><Relationship Id="rId11" Target="../media/image102.png" Type="http://schemas.openxmlformats.org/officeDocument/2006/relationships/image"/><Relationship Id="rId12" Target="../media/image103.svg" Type="http://schemas.openxmlformats.org/officeDocument/2006/relationships/image"/><Relationship Id="rId13" Target="../media/image104.png" Type="http://schemas.openxmlformats.org/officeDocument/2006/relationships/image"/><Relationship Id="rId14" Target="../media/image105.svg" Type="http://schemas.openxmlformats.org/officeDocument/2006/relationships/image"/><Relationship Id="rId15" Target="../media/image106.png" Type="http://schemas.openxmlformats.org/officeDocument/2006/relationships/image"/><Relationship Id="rId16" Target="../media/image107.svg" Type="http://schemas.openxmlformats.org/officeDocument/2006/relationships/image"/><Relationship Id="rId17" Target="../media/image108.png" Type="http://schemas.openxmlformats.org/officeDocument/2006/relationships/image"/><Relationship Id="rId18" Target="../media/image109.svg" Type="http://schemas.openxmlformats.org/officeDocument/2006/relationships/image"/><Relationship Id="rId19" Target="../media/image93.png" Type="http://schemas.openxmlformats.org/officeDocument/2006/relationships/image"/><Relationship Id="rId2" Target="../notesSlides/notesSlide7.xml" Type="http://schemas.openxmlformats.org/officeDocument/2006/relationships/notesSlide"/><Relationship Id="rId20" Target="../media/image94.svg" Type="http://schemas.openxmlformats.org/officeDocument/2006/relationships/image"/><Relationship Id="rId21" Target="../media/image110.png" Type="http://schemas.openxmlformats.org/officeDocument/2006/relationships/image"/><Relationship Id="rId22" Target="../media/image111.svg" Type="http://schemas.openxmlformats.org/officeDocument/2006/relationships/image"/><Relationship Id="rId3" Target="../media/image97.png" Type="http://schemas.openxmlformats.org/officeDocument/2006/relationships/image"/><Relationship Id="rId4" Target="../media/image98.svg" Type="http://schemas.openxmlformats.org/officeDocument/2006/relationships/image"/><Relationship Id="rId5" Target="../media/image2.jpeg" Type="http://schemas.openxmlformats.org/officeDocument/2006/relationships/image"/><Relationship Id="rId6" Target="../media/image80.png" Type="http://schemas.openxmlformats.org/officeDocument/2006/relationships/image"/><Relationship Id="rId7" Target="../media/image81.svg" Type="http://schemas.openxmlformats.org/officeDocument/2006/relationships/image"/><Relationship Id="rId8" Target="../media/image99.png" Type="http://schemas.openxmlformats.org/officeDocument/2006/relationships/image"/><Relationship Id="rId9" Target="../media/image10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8.png" Type="http://schemas.openxmlformats.org/officeDocument/2006/relationships/image"/><Relationship Id="rId11" Target="../media/image119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12.png" Type="http://schemas.openxmlformats.org/officeDocument/2006/relationships/image"/><Relationship Id="rId4" Target="../media/image113.svg" Type="http://schemas.openxmlformats.org/officeDocument/2006/relationships/image"/><Relationship Id="rId5" Target="../media/image2.jpeg" Type="http://schemas.openxmlformats.org/officeDocument/2006/relationships/image"/><Relationship Id="rId6" Target="../media/image114.png" Type="http://schemas.openxmlformats.org/officeDocument/2006/relationships/image"/><Relationship Id="rId7" Target="../media/image115.svg" Type="http://schemas.openxmlformats.org/officeDocument/2006/relationships/image"/><Relationship Id="rId8" Target="../media/image116.png" Type="http://schemas.openxmlformats.org/officeDocument/2006/relationships/image"/><Relationship Id="rId9" Target="../media/image1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6.png" Type="http://schemas.openxmlformats.org/officeDocument/2006/relationships/image"/><Relationship Id="rId11" Target="../media/image127.svg" Type="http://schemas.openxmlformats.org/officeDocument/2006/relationships/image"/><Relationship Id="rId12" Target="../media/image128.png" Type="http://schemas.openxmlformats.org/officeDocument/2006/relationships/image"/><Relationship Id="rId13" Target="../media/image129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130.png" Type="http://schemas.openxmlformats.org/officeDocument/2006/relationships/image"/><Relationship Id="rId17" Target="../media/image131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20.png" Type="http://schemas.openxmlformats.org/officeDocument/2006/relationships/image"/><Relationship Id="rId4" Target="../media/image121.svg" Type="http://schemas.openxmlformats.org/officeDocument/2006/relationships/image"/><Relationship Id="rId5" Target="../media/image2.jpeg" Type="http://schemas.openxmlformats.org/officeDocument/2006/relationships/image"/><Relationship Id="rId6" Target="../media/image122.png" Type="http://schemas.openxmlformats.org/officeDocument/2006/relationships/image"/><Relationship Id="rId7" Target="../media/image123.svg" Type="http://schemas.openxmlformats.org/officeDocument/2006/relationships/image"/><Relationship Id="rId8" Target="../media/image124.png" Type="http://schemas.openxmlformats.org/officeDocument/2006/relationships/image"/><Relationship Id="rId9" Target="../media/image12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8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32.png" Type="http://schemas.openxmlformats.org/officeDocument/2006/relationships/image"/><Relationship Id="rId4" Target="../media/image133.png" Type="http://schemas.openxmlformats.org/officeDocument/2006/relationships/image"/><Relationship Id="rId5" Target="../media/image134.svg" Type="http://schemas.openxmlformats.org/officeDocument/2006/relationships/image"/><Relationship Id="rId6" Target="../media/image2.jpeg" Type="http://schemas.openxmlformats.org/officeDocument/2006/relationships/image"/><Relationship Id="rId7" Target="../media/image135.png" Type="http://schemas.openxmlformats.org/officeDocument/2006/relationships/image"/><Relationship Id="rId8" Target="../media/image136.svg" Type="http://schemas.openxmlformats.org/officeDocument/2006/relationships/image"/><Relationship Id="rId9" Target="../media/image13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5.png" Type="http://schemas.openxmlformats.org/officeDocument/2006/relationships/image"/><Relationship Id="rId11" Target="../media/image146.svg" Type="http://schemas.openxmlformats.org/officeDocument/2006/relationships/image"/><Relationship Id="rId12" Target="../media/image147.png" Type="http://schemas.openxmlformats.org/officeDocument/2006/relationships/image"/><Relationship Id="rId13" Target="../media/image148.svg" Type="http://schemas.openxmlformats.org/officeDocument/2006/relationships/image"/><Relationship Id="rId14" Target="../media/image149.png" Type="http://schemas.openxmlformats.org/officeDocument/2006/relationships/image"/><Relationship Id="rId15" Target="../media/image150.svg" Type="http://schemas.openxmlformats.org/officeDocument/2006/relationships/image"/><Relationship Id="rId16" Target="../media/image151.png" Type="http://schemas.openxmlformats.org/officeDocument/2006/relationships/image"/><Relationship Id="rId17" Target="../media/image152.svg" Type="http://schemas.openxmlformats.org/officeDocument/2006/relationships/image"/><Relationship Id="rId18" Target="../media/image153.png" Type="http://schemas.openxmlformats.org/officeDocument/2006/relationships/image"/><Relationship Id="rId19" Target="../media/image154.svg" Type="http://schemas.openxmlformats.org/officeDocument/2006/relationships/image"/><Relationship Id="rId2" Target="../notesSlides/notesSlide11.xml" Type="http://schemas.openxmlformats.org/officeDocument/2006/relationships/notesSlide"/><Relationship Id="rId20" Target="../media/image155.png" Type="http://schemas.openxmlformats.org/officeDocument/2006/relationships/image"/><Relationship Id="rId21" Target="../media/image156.svg" Type="http://schemas.openxmlformats.org/officeDocument/2006/relationships/image"/><Relationship Id="rId22" Target="../media/image157.png" Type="http://schemas.openxmlformats.org/officeDocument/2006/relationships/image"/><Relationship Id="rId23" Target="../media/image158.svg" Type="http://schemas.openxmlformats.org/officeDocument/2006/relationships/image"/><Relationship Id="rId3" Target="../media/image139.png" Type="http://schemas.openxmlformats.org/officeDocument/2006/relationships/image"/><Relationship Id="rId4" Target="../media/image140.svg" Type="http://schemas.openxmlformats.org/officeDocument/2006/relationships/image"/><Relationship Id="rId5" Target="../media/image2.jpeg" Type="http://schemas.openxmlformats.org/officeDocument/2006/relationships/image"/><Relationship Id="rId6" Target="../media/image141.png" Type="http://schemas.openxmlformats.org/officeDocument/2006/relationships/image"/><Relationship Id="rId7" Target="../media/image142.svg" Type="http://schemas.openxmlformats.org/officeDocument/2006/relationships/image"/><Relationship Id="rId8" Target="../media/image143.png" Type="http://schemas.openxmlformats.org/officeDocument/2006/relationships/image"/><Relationship Id="rId9" Target="../media/image14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5.png" Type="http://schemas.openxmlformats.org/officeDocument/2006/relationships/image"/><Relationship Id="rId11" Target="../media/image166.png" Type="http://schemas.openxmlformats.org/officeDocument/2006/relationships/image"/><Relationship Id="rId12" Target="../media/image167.svg" Type="http://schemas.openxmlformats.org/officeDocument/2006/relationships/image"/><Relationship Id="rId13" Target="../media/image76.png" Type="http://schemas.openxmlformats.org/officeDocument/2006/relationships/image"/><Relationship Id="rId14" Target="../media/image77.svg" Type="http://schemas.openxmlformats.org/officeDocument/2006/relationships/image"/><Relationship Id="rId15" Target="../media/image168.png" Type="http://schemas.openxmlformats.org/officeDocument/2006/relationships/image"/><Relationship Id="rId16" Target="../media/image169.svg" Type="http://schemas.openxmlformats.org/officeDocument/2006/relationships/image"/><Relationship Id="rId17" Target="../media/image170.png" Type="http://schemas.openxmlformats.org/officeDocument/2006/relationships/image"/><Relationship Id="rId18" Target="../media/image171.svg" Type="http://schemas.openxmlformats.org/officeDocument/2006/relationships/image"/><Relationship Id="rId19" Target="../media/image95.png" Type="http://schemas.openxmlformats.org/officeDocument/2006/relationships/image"/><Relationship Id="rId2" Target="../notesSlides/notesSlide12.xml" Type="http://schemas.openxmlformats.org/officeDocument/2006/relationships/notesSlide"/><Relationship Id="rId20" Target="../media/image96.svg" Type="http://schemas.openxmlformats.org/officeDocument/2006/relationships/image"/><Relationship Id="rId3" Target="../media/image159.png" Type="http://schemas.openxmlformats.org/officeDocument/2006/relationships/image"/><Relationship Id="rId4" Target="../media/image160.svg" Type="http://schemas.openxmlformats.org/officeDocument/2006/relationships/image"/><Relationship Id="rId5" Target="../media/image2.jpeg" Type="http://schemas.openxmlformats.org/officeDocument/2006/relationships/image"/><Relationship Id="rId6" Target="../media/image161.png" Type="http://schemas.openxmlformats.org/officeDocument/2006/relationships/image"/><Relationship Id="rId7" Target="../media/image162.svg" Type="http://schemas.openxmlformats.org/officeDocument/2006/relationships/image"/><Relationship Id="rId8" Target="../media/image163.png" Type="http://schemas.openxmlformats.org/officeDocument/2006/relationships/image"/><Relationship Id="rId9" Target="../media/image16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8.png" Type="http://schemas.openxmlformats.org/officeDocument/2006/relationships/image"/><Relationship Id="rId11" Target="../media/image179.svg" Type="http://schemas.openxmlformats.org/officeDocument/2006/relationships/image"/><Relationship Id="rId12" Target="../media/image180.png" Type="http://schemas.openxmlformats.org/officeDocument/2006/relationships/image"/><Relationship Id="rId13" Target="../media/image181.svg" Type="http://schemas.openxmlformats.org/officeDocument/2006/relationships/image"/><Relationship Id="rId14" Target="../media/image182.png" Type="http://schemas.openxmlformats.org/officeDocument/2006/relationships/image"/><Relationship Id="rId15" Target="../media/image183.svg" Type="http://schemas.openxmlformats.org/officeDocument/2006/relationships/image"/><Relationship Id="rId16" Target="../media/image184.png" Type="http://schemas.openxmlformats.org/officeDocument/2006/relationships/image"/><Relationship Id="rId17" Target="../media/image185.svg" Type="http://schemas.openxmlformats.org/officeDocument/2006/relationships/image"/><Relationship Id="rId18" Target="../media/image186.png" Type="http://schemas.openxmlformats.org/officeDocument/2006/relationships/image"/><Relationship Id="rId19" Target="../media/image187.svg" Type="http://schemas.openxmlformats.org/officeDocument/2006/relationships/image"/><Relationship Id="rId2" Target="../notesSlides/notesSlide13.xml" Type="http://schemas.openxmlformats.org/officeDocument/2006/relationships/notesSlide"/><Relationship Id="rId20" Target="../media/image188.png" Type="http://schemas.openxmlformats.org/officeDocument/2006/relationships/image"/><Relationship Id="rId21" Target="../media/image189.svg" Type="http://schemas.openxmlformats.org/officeDocument/2006/relationships/image"/><Relationship Id="rId3" Target="../media/image172.png" Type="http://schemas.openxmlformats.org/officeDocument/2006/relationships/image"/><Relationship Id="rId4" Target="../media/image173.svg" Type="http://schemas.openxmlformats.org/officeDocument/2006/relationships/image"/><Relationship Id="rId5" Target="../media/image2.jpeg" Type="http://schemas.openxmlformats.org/officeDocument/2006/relationships/image"/><Relationship Id="rId6" Target="../media/image174.png" Type="http://schemas.openxmlformats.org/officeDocument/2006/relationships/image"/><Relationship Id="rId7" Target="../media/image175.svg" Type="http://schemas.openxmlformats.org/officeDocument/2006/relationships/image"/><Relationship Id="rId8" Target="../media/image176.png" Type="http://schemas.openxmlformats.org/officeDocument/2006/relationships/image"/><Relationship Id="rId9" Target="../media/image17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6.png" Type="http://schemas.openxmlformats.org/officeDocument/2006/relationships/image"/><Relationship Id="rId11" Target="../media/image197.svg" Type="http://schemas.openxmlformats.org/officeDocument/2006/relationships/image"/><Relationship Id="rId12" Target="../media/image198.png" Type="http://schemas.openxmlformats.org/officeDocument/2006/relationships/image"/><Relationship Id="rId13" Target="../media/image199.svg" Type="http://schemas.openxmlformats.org/officeDocument/2006/relationships/image"/><Relationship Id="rId14" Target="../media/image200.png" Type="http://schemas.openxmlformats.org/officeDocument/2006/relationships/image"/><Relationship Id="rId15" Target="../media/image201.svg" Type="http://schemas.openxmlformats.org/officeDocument/2006/relationships/image"/><Relationship Id="rId16" Target="../media/image202.png" Type="http://schemas.openxmlformats.org/officeDocument/2006/relationships/image"/><Relationship Id="rId17" Target="../media/image203.svg" Type="http://schemas.openxmlformats.org/officeDocument/2006/relationships/image"/><Relationship Id="rId18" Target="../media/image204.png" Type="http://schemas.openxmlformats.org/officeDocument/2006/relationships/image"/><Relationship Id="rId19" Target="../media/image205.sv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190.png" Type="http://schemas.openxmlformats.org/officeDocument/2006/relationships/image"/><Relationship Id="rId4" Target="../media/image191.svg" Type="http://schemas.openxmlformats.org/officeDocument/2006/relationships/image"/><Relationship Id="rId5" Target="../media/image2.jpeg" Type="http://schemas.openxmlformats.org/officeDocument/2006/relationships/image"/><Relationship Id="rId6" Target="../media/image192.png" Type="http://schemas.openxmlformats.org/officeDocument/2006/relationships/image"/><Relationship Id="rId7" Target="../media/image193.svg" Type="http://schemas.openxmlformats.org/officeDocument/2006/relationships/image"/><Relationship Id="rId8" Target="../media/image194.png" Type="http://schemas.openxmlformats.org/officeDocument/2006/relationships/image"/><Relationship Id="rId9" Target="../media/image19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99.png" Type="http://schemas.openxmlformats.org/officeDocument/2006/relationships/image"/><Relationship Id="rId4" Target="../media/image100.svg" Type="http://schemas.openxmlformats.org/officeDocument/2006/relationships/image"/><Relationship Id="rId5" Target="../media/image2.jpeg" Type="http://schemas.openxmlformats.org/officeDocument/2006/relationships/image"/><Relationship Id="rId6" Target="../media/image206.png" Type="http://schemas.openxmlformats.org/officeDocument/2006/relationships/image"/><Relationship Id="rId7" Target="../media/image207.svg" Type="http://schemas.openxmlformats.org/officeDocument/2006/relationships/image"/><Relationship Id="rId8" Target="../media/image208.png" Type="http://schemas.openxmlformats.org/officeDocument/2006/relationships/image"/><Relationship Id="rId9" Target="../media/image20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2.png" Type="http://schemas.openxmlformats.org/officeDocument/2006/relationships/image"/><Relationship Id="rId11" Target="../media/image213.svg" Type="http://schemas.openxmlformats.org/officeDocument/2006/relationships/image"/><Relationship Id="rId12" Target="../media/image214.png" Type="http://schemas.openxmlformats.org/officeDocument/2006/relationships/image"/><Relationship Id="rId13" Target="../media/image215.svg" Type="http://schemas.openxmlformats.org/officeDocument/2006/relationships/image"/><Relationship Id="rId14" Target="../media/image216.png" Type="http://schemas.openxmlformats.org/officeDocument/2006/relationships/image"/><Relationship Id="rId15" Target="../media/image217.svg" Type="http://schemas.openxmlformats.org/officeDocument/2006/relationships/image"/><Relationship Id="rId16" Target="../media/image218.png" Type="http://schemas.openxmlformats.org/officeDocument/2006/relationships/image"/><Relationship Id="rId17" Target="../media/image219.svg" Type="http://schemas.openxmlformats.org/officeDocument/2006/relationships/image"/><Relationship Id="rId18" Target="../media/image80.png" Type="http://schemas.openxmlformats.org/officeDocument/2006/relationships/image"/><Relationship Id="rId19" Target="../media/image81.svg" Type="http://schemas.openxmlformats.org/officeDocument/2006/relationships/image"/><Relationship Id="rId2" Target="../notesSlides/notesSlide16.xml" Type="http://schemas.openxmlformats.org/officeDocument/2006/relationships/notesSlide"/><Relationship Id="rId20" Target="../media/image220.png" Type="http://schemas.openxmlformats.org/officeDocument/2006/relationships/image"/><Relationship Id="rId21" Target="../media/image221.svg" Type="http://schemas.openxmlformats.org/officeDocument/2006/relationships/image"/><Relationship Id="rId22" Target="../media/image106.png" Type="http://schemas.openxmlformats.org/officeDocument/2006/relationships/image"/><Relationship Id="rId23" Target="../media/image107.svg" Type="http://schemas.openxmlformats.org/officeDocument/2006/relationships/image"/><Relationship Id="rId24" Target="../media/image222.png" Type="http://schemas.openxmlformats.org/officeDocument/2006/relationships/image"/><Relationship Id="rId25" Target="../media/image223.svg" Type="http://schemas.openxmlformats.org/officeDocument/2006/relationships/image"/><Relationship Id="rId26" Target="../media/image224.png" Type="http://schemas.openxmlformats.org/officeDocument/2006/relationships/image"/><Relationship Id="rId27" Target="../media/image225.svg" Type="http://schemas.openxmlformats.org/officeDocument/2006/relationships/image"/><Relationship Id="rId3" Target="../media/image120.png" Type="http://schemas.openxmlformats.org/officeDocument/2006/relationships/image"/><Relationship Id="rId4" Target="../media/image121.svg" Type="http://schemas.openxmlformats.org/officeDocument/2006/relationships/image"/><Relationship Id="rId5" Target="../media/image2.jpeg" Type="http://schemas.openxmlformats.org/officeDocument/2006/relationships/image"/><Relationship Id="rId6" Target="../media/image210.png" Type="http://schemas.openxmlformats.org/officeDocument/2006/relationships/image"/><Relationship Id="rId7" Target="../media/image211.svg" Type="http://schemas.openxmlformats.org/officeDocument/2006/relationships/image"/><Relationship Id="rId8" Target="../media/image85.png" Type="http://schemas.openxmlformats.org/officeDocument/2006/relationships/image"/><Relationship Id="rId9" Target="../media/image8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2.png" Type="http://schemas.openxmlformats.org/officeDocument/2006/relationships/image"/><Relationship Id="rId11" Target="../media/image233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34.png" Type="http://schemas.openxmlformats.org/officeDocument/2006/relationships/image"/><Relationship Id="rId15" Target="../media/image235.svg" Type="http://schemas.openxmlformats.org/officeDocument/2006/relationships/image"/><Relationship Id="rId16" Target="../media/image236.png" Type="http://schemas.openxmlformats.org/officeDocument/2006/relationships/image"/><Relationship Id="rId17" Target="../media/image237.svg" Type="http://schemas.openxmlformats.org/officeDocument/2006/relationships/image"/><Relationship Id="rId18" Target="../media/image238.png" Type="http://schemas.openxmlformats.org/officeDocument/2006/relationships/image"/><Relationship Id="rId19" Target="../media/image239.svg" Type="http://schemas.openxmlformats.org/officeDocument/2006/relationships/image"/><Relationship Id="rId2" Target="../notesSlides/notesSlide17.xml" Type="http://schemas.openxmlformats.org/officeDocument/2006/relationships/notesSlide"/><Relationship Id="rId3" Target="../media/image226.png" Type="http://schemas.openxmlformats.org/officeDocument/2006/relationships/image"/><Relationship Id="rId4" Target="../media/image227.svg" Type="http://schemas.openxmlformats.org/officeDocument/2006/relationships/image"/><Relationship Id="rId5" Target="../media/image2.jpeg" Type="http://schemas.openxmlformats.org/officeDocument/2006/relationships/image"/><Relationship Id="rId6" Target="../media/image228.png" Type="http://schemas.openxmlformats.org/officeDocument/2006/relationships/image"/><Relationship Id="rId7" Target="../media/image229.svg" Type="http://schemas.openxmlformats.org/officeDocument/2006/relationships/image"/><Relationship Id="rId8" Target="../media/image230.png" Type="http://schemas.openxmlformats.org/officeDocument/2006/relationships/image"/><Relationship Id="rId9" Target="../media/image231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6.svg" Type="http://schemas.openxmlformats.org/officeDocument/2006/relationships/image"/><Relationship Id="rId11" Target="../media/image247.png" Type="http://schemas.openxmlformats.org/officeDocument/2006/relationships/image"/><Relationship Id="rId12" Target="../media/image248.svg" Type="http://schemas.openxmlformats.org/officeDocument/2006/relationships/image"/><Relationship Id="rId13" Target="../media/image249.png" Type="http://schemas.openxmlformats.org/officeDocument/2006/relationships/image"/><Relationship Id="rId14" Target="../media/image250.svg" Type="http://schemas.openxmlformats.org/officeDocument/2006/relationships/image"/><Relationship Id="rId15" Target="../media/image251.png" Type="http://schemas.openxmlformats.org/officeDocument/2006/relationships/image"/><Relationship Id="rId16" Target="../media/image252.svg" Type="http://schemas.openxmlformats.org/officeDocument/2006/relationships/image"/><Relationship Id="rId17" Target="../media/image253.png" Type="http://schemas.openxmlformats.org/officeDocument/2006/relationships/image"/><Relationship Id="rId18" Target="../media/image254.svg" Type="http://schemas.openxmlformats.org/officeDocument/2006/relationships/image"/><Relationship Id="rId19" Target="../media/image255.png" Type="http://schemas.openxmlformats.org/officeDocument/2006/relationships/image"/><Relationship Id="rId2" Target="../notesSlides/notesSlide18.xml" Type="http://schemas.openxmlformats.org/officeDocument/2006/relationships/notesSlide"/><Relationship Id="rId20" Target="../media/image256.svg" Type="http://schemas.openxmlformats.org/officeDocument/2006/relationships/image"/><Relationship Id="rId21" Target="../media/image257.png" Type="http://schemas.openxmlformats.org/officeDocument/2006/relationships/image"/><Relationship Id="rId22" Target="../media/image258.svg" Type="http://schemas.openxmlformats.org/officeDocument/2006/relationships/image"/><Relationship Id="rId23" Target="../media/image259.png" Type="http://schemas.openxmlformats.org/officeDocument/2006/relationships/image"/><Relationship Id="rId24" Target="../media/image260.svg" Type="http://schemas.openxmlformats.org/officeDocument/2006/relationships/image"/><Relationship Id="rId3" Target="../media/image240.png" Type="http://schemas.openxmlformats.org/officeDocument/2006/relationships/image"/><Relationship Id="rId4" Target="../media/image241.png" Type="http://schemas.openxmlformats.org/officeDocument/2006/relationships/image"/><Relationship Id="rId5" Target="../media/image242.svg" Type="http://schemas.openxmlformats.org/officeDocument/2006/relationships/image"/><Relationship Id="rId6" Target="../media/image2.jpeg" Type="http://schemas.openxmlformats.org/officeDocument/2006/relationships/image"/><Relationship Id="rId7" Target="../media/image243.png" Type="http://schemas.openxmlformats.org/officeDocument/2006/relationships/image"/><Relationship Id="rId8" Target="../media/image244.svg" Type="http://schemas.openxmlformats.org/officeDocument/2006/relationships/image"/><Relationship Id="rId9" Target="../media/image24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cdn.dribbble.com/756b9827047586f72dc841a7857facf1371f83cc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0" t="-22222" r="0" b="-555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91919">
                    <a:alpha val="95000"/>
                  </a:srgbClr>
                </a:gs>
                <a:gs pos="50000">
                  <a:srgbClr val="191919">
                    <a:alpha val="850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571500"/>
            <a:ext cx="57150" cy="685800"/>
            <a:chOff x="0" y="0"/>
            <a:chExt cx="762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914400"/>
            </a:xfrm>
            <a:custGeom>
              <a:avLst/>
              <a:gdLst/>
              <a:ahLst/>
              <a:cxnLst/>
              <a:rect r="r" b="b" t="t" l="l"/>
              <a:pathLst>
                <a:path h="914400" w="76200">
                  <a:moveTo>
                    <a:pt x="0" y="0"/>
                  </a:moveTo>
                  <a:lnTo>
                    <a:pt x="76200" y="0"/>
                  </a:lnTo>
                  <a:lnTo>
                    <a:pt x="762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71500" y="2914650"/>
            <a:ext cx="17659350" cy="4185094"/>
            <a:chOff x="0" y="0"/>
            <a:chExt cx="23545800" cy="55801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545800" cy="5580126"/>
            </a:xfrm>
            <a:custGeom>
              <a:avLst/>
              <a:gdLst/>
              <a:ahLst/>
              <a:cxnLst/>
              <a:rect r="r" b="b" t="t" l="l"/>
              <a:pathLst>
                <a:path h="5580126" w="23545800">
                  <a:moveTo>
                    <a:pt x="0" y="0"/>
                  </a:moveTo>
                  <a:lnTo>
                    <a:pt x="23545800" y="0"/>
                  </a:lnTo>
                  <a:lnTo>
                    <a:pt x="23545800" y="5580126"/>
                  </a:lnTo>
                  <a:lnTo>
                    <a:pt x="0" y="55801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31" r="0" b="-2830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3545800" cy="5589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Análisis</a:t>
              </a:r>
            </a:p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Predictivo de</a:t>
              </a:r>
            </a:p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Entregas e-commerce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14362" y="7172325"/>
            <a:ext cx="200025" cy="228600"/>
            <a:chOff x="0" y="0"/>
            <a:chExt cx="266700" cy="304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6700" cy="285750"/>
            </a:xfrm>
            <a:custGeom>
              <a:avLst/>
              <a:gdLst/>
              <a:ahLst/>
              <a:cxnLst/>
              <a:rect r="r" b="b" t="t" l="l"/>
              <a:pathLst>
                <a:path h="285750" w="266700">
                  <a:moveTo>
                    <a:pt x="76200" y="0"/>
                  </a:moveTo>
                  <a:cubicBezTo>
                    <a:pt x="65659" y="0"/>
                    <a:pt x="57150" y="8509"/>
                    <a:pt x="57150" y="19050"/>
                  </a:cubicBezTo>
                  <a:lnTo>
                    <a:pt x="57150" y="38100"/>
                  </a:lnTo>
                  <a:lnTo>
                    <a:pt x="38100" y="38100"/>
                  </a:lnTo>
                  <a:cubicBezTo>
                    <a:pt x="17145" y="38100"/>
                    <a:pt x="0" y="55245"/>
                    <a:pt x="0" y="76200"/>
                  </a:cubicBezTo>
                  <a:lnTo>
                    <a:pt x="0" y="104775"/>
                  </a:lnTo>
                  <a:lnTo>
                    <a:pt x="266700" y="104775"/>
                  </a:lnTo>
                  <a:lnTo>
                    <a:pt x="266700" y="76200"/>
                  </a:lnTo>
                  <a:cubicBezTo>
                    <a:pt x="266700" y="55245"/>
                    <a:pt x="249555" y="38100"/>
                    <a:pt x="228600" y="38100"/>
                  </a:cubicBezTo>
                  <a:lnTo>
                    <a:pt x="209550" y="38100"/>
                  </a:lnTo>
                  <a:lnTo>
                    <a:pt x="209550" y="19050"/>
                  </a:lnTo>
                  <a:cubicBezTo>
                    <a:pt x="209550" y="8509"/>
                    <a:pt x="201041" y="0"/>
                    <a:pt x="190500" y="0"/>
                  </a:cubicBezTo>
                  <a:cubicBezTo>
                    <a:pt x="179959" y="0"/>
                    <a:pt x="171450" y="8509"/>
                    <a:pt x="171450" y="19050"/>
                  </a:cubicBezTo>
                  <a:lnTo>
                    <a:pt x="171450" y="38100"/>
                  </a:lnTo>
                  <a:lnTo>
                    <a:pt x="95250" y="38100"/>
                  </a:lnTo>
                  <a:lnTo>
                    <a:pt x="95250" y="19050"/>
                  </a:lnTo>
                  <a:cubicBezTo>
                    <a:pt x="95250" y="8509"/>
                    <a:pt x="86741" y="0"/>
                    <a:pt x="76200" y="0"/>
                  </a:cubicBezTo>
                  <a:close/>
                  <a:moveTo>
                    <a:pt x="0" y="133350"/>
                  </a:moveTo>
                  <a:lnTo>
                    <a:pt x="0" y="247650"/>
                  </a:lnTo>
                  <a:cubicBezTo>
                    <a:pt x="0" y="268605"/>
                    <a:pt x="17145" y="285750"/>
                    <a:pt x="38100" y="285750"/>
                  </a:cubicBezTo>
                  <a:lnTo>
                    <a:pt x="228600" y="285750"/>
                  </a:lnTo>
                  <a:cubicBezTo>
                    <a:pt x="249555" y="285750"/>
                    <a:pt x="266700" y="268605"/>
                    <a:pt x="266700" y="247650"/>
                  </a:cubicBezTo>
                  <a:lnTo>
                    <a:pt x="2667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71550" y="7115175"/>
            <a:ext cx="1343025" cy="342900"/>
            <a:chOff x="0" y="0"/>
            <a:chExt cx="1790700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90700" cy="457200"/>
            </a:xfrm>
            <a:custGeom>
              <a:avLst/>
              <a:gdLst/>
              <a:ahLst/>
              <a:cxnLst/>
              <a:rect r="r" b="b" t="t" l="l"/>
              <a:pathLst>
                <a:path h="457200" w="1790700">
                  <a:moveTo>
                    <a:pt x="0" y="0"/>
                  </a:moveTo>
                  <a:lnTo>
                    <a:pt x="1790700" y="0"/>
                  </a:lnTo>
                  <a:lnTo>
                    <a:pt x="17907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316" r="0" b="-2631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7907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Marzo 2026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583361" y="7172325"/>
            <a:ext cx="200025" cy="228600"/>
          </a:xfrm>
          <a:custGeom>
            <a:avLst/>
            <a:gdLst/>
            <a:ahLst/>
            <a:cxnLst/>
            <a:rect r="r" b="b" t="t" l="l"/>
            <a:pathLst>
              <a:path h="228600" w="200025">
                <a:moveTo>
                  <a:pt x="0" y="0"/>
                </a:moveTo>
                <a:lnTo>
                  <a:pt x="200025" y="0"/>
                </a:lnTo>
                <a:lnTo>
                  <a:pt x="2000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940548" y="7115175"/>
            <a:ext cx="2886075" cy="733425"/>
            <a:chOff x="0" y="0"/>
            <a:chExt cx="3848100" cy="977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48100" cy="977900"/>
            </a:xfrm>
            <a:custGeom>
              <a:avLst/>
              <a:gdLst/>
              <a:ahLst/>
              <a:cxnLst/>
              <a:rect r="r" b="b" t="t" l="l"/>
              <a:pathLst>
                <a:path h="977900" w="3848100">
                  <a:moveTo>
                    <a:pt x="0" y="0"/>
                  </a:moveTo>
                  <a:lnTo>
                    <a:pt x="3848100" y="0"/>
                  </a:lnTo>
                  <a:lnTo>
                    <a:pt x="3848100" y="977900"/>
                  </a:lnTo>
                  <a:lnTo>
                    <a:pt x="0" y="977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298" r="0" b="-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3848100" cy="104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+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10,000 registros analizados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69119" y="9113044"/>
            <a:ext cx="1376362" cy="604838"/>
          </a:xfrm>
          <a:custGeom>
            <a:avLst/>
            <a:gdLst/>
            <a:ahLst/>
            <a:cxnLst/>
            <a:rect r="r" b="b" t="t" l="l"/>
            <a:pathLst>
              <a:path h="604838" w="1376362">
                <a:moveTo>
                  <a:pt x="0" y="0"/>
                </a:moveTo>
                <a:lnTo>
                  <a:pt x="1376362" y="0"/>
                </a:lnTo>
                <a:lnTo>
                  <a:pt x="1376362" y="604837"/>
                </a:lnTo>
                <a:lnTo>
                  <a:pt x="0" y="6048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14388" y="9279731"/>
            <a:ext cx="987962" cy="285750"/>
            <a:chOff x="0" y="0"/>
            <a:chExt cx="1317282" cy="38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17278" cy="381000"/>
            </a:xfrm>
            <a:custGeom>
              <a:avLst/>
              <a:gdLst/>
              <a:ahLst/>
              <a:cxnLst/>
              <a:rect r="r" b="b" t="t" l="l"/>
              <a:pathLst>
                <a:path h="381000" w="1317278">
                  <a:moveTo>
                    <a:pt x="0" y="0"/>
                  </a:moveTo>
                  <a:lnTo>
                    <a:pt x="1317278" y="0"/>
                  </a:lnTo>
                  <a:lnTo>
                    <a:pt x="1317278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368" r="0" b="-1736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17282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Regresión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171443" y="9113044"/>
            <a:ext cx="1619250" cy="604838"/>
          </a:xfrm>
          <a:custGeom>
            <a:avLst/>
            <a:gdLst/>
            <a:ahLst/>
            <a:cxnLst/>
            <a:rect r="r" b="b" t="t" l="l"/>
            <a:pathLst>
              <a:path h="604838" w="1619250">
                <a:moveTo>
                  <a:pt x="0" y="0"/>
                </a:moveTo>
                <a:lnTo>
                  <a:pt x="1619250" y="0"/>
                </a:lnTo>
                <a:lnTo>
                  <a:pt x="1619250" y="604837"/>
                </a:lnTo>
                <a:lnTo>
                  <a:pt x="0" y="6048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2314575" y="9113044"/>
            <a:ext cx="1337558" cy="620506"/>
            <a:chOff x="0" y="0"/>
            <a:chExt cx="1783410" cy="8273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83412" cy="827341"/>
            </a:xfrm>
            <a:custGeom>
              <a:avLst/>
              <a:gdLst/>
              <a:ahLst/>
              <a:cxnLst/>
              <a:rect r="r" b="b" t="t" l="l"/>
              <a:pathLst>
                <a:path h="827341" w="1783412">
                  <a:moveTo>
                    <a:pt x="0" y="0"/>
                  </a:moveTo>
                  <a:lnTo>
                    <a:pt x="1783412" y="0"/>
                  </a:lnTo>
                  <a:lnTo>
                    <a:pt x="1783412" y="827341"/>
                  </a:lnTo>
                  <a:lnTo>
                    <a:pt x="0" y="8273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68" r="7636" b="3817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783410" cy="865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Clasificación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4021226" y="9113044"/>
            <a:ext cx="2062162" cy="604838"/>
          </a:xfrm>
          <a:custGeom>
            <a:avLst/>
            <a:gdLst/>
            <a:ahLst/>
            <a:cxnLst/>
            <a:rect r="r" b="b" t="t" l="l"/>
            <a:pathLst>
              <a:path h="604838" w="2062162">
                <a:moveTo>
                  <a:pt x="0" y="0"/>
                </a:moveTo>
                <a:lnTo>
                  <a:pt x="2062163" y="0"/>
                </a:lnTo>
                <a:lnTo>
                  <a:pt x="2062163" y="604837"/>
                </a:lnTo>
                <a:lnTo>
                  <a:pt x="0" y="6048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4257418" y="9097375"/>
            <a:ext cx="1671638" cy="620506"/>
            <a:chOff x="0" y="0"/>
            <a:chExt cx="2228850" cy="82734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28850" cy="827341"/>
            </a:xfrm>
            <a:custGeom>
              <a:avLst/>
              <a:gdLst/>
              <a:ahLst/>
              <a:cxnLst/>
              <a:rect r="r" b="b" t="t" l="l"/>
              <a:pathLst>
                <a:path h="827341" w="2228850">
                  <a:moveTo>
                    <a:pt x="0" y="0"/>
                  </a:moveTo>
                  <a:lnTo>
                    <a:pt x="2228850" y="0"/>
                  </a:lnTo>
                  <a:lnTo>
                    <a:pt x="2228850" y="827341"/>
                  </a:lnTo>
                  <a:lnTo>
                    <a:pt x="0" y="82734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466" r="0" b="2448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28850" cy="865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Machine Learning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14375"/>
            <a:ext cx="571500" cy="571500"/>
            <a:chOff x="0" y="0"/>
            <a:chExt cx="762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32234" y="871538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4450" y="571500"/>
            <a:ext cx="2700338" cy="285750"/>
            <a:chOff x="0" y="0"/>
            <a:chExt cx="3600450" cy="38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00450" cy="381000"/>
            </a:xfrm>
            <a:custGeom>
              <a:avLst/>
              <a:gdLst/>
              <a:ahLst/>
              <a:cxnLst/>
              <a:rect r="r" b="b" t="t" l="l"/>
              <a:pathLst>
                <a:path h="38100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4133" r="0" b="-13413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6004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Propósito del Estudio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4450" y="857250"/>
            <a:ext cx="2857500" cy="571500"/>
            <a:chOff x="0" y="0"/>
            <a:chExt cx="38100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38100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Objetivos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483769" y="1825228"/>
            <a:ext cx="5491162" cy="6662738"/>
          </a:xfrm>
          <a:custGeom>
            <a:avLst/>
            <a:gdLst/>
            <a:ahLst/>
            <a:cxnLst/>
            <a:rect r="r" b="b" t="t" l="l"/>
            <a:pathLst>
              <a:path h="6662738" w="5491162">
                <a:moveTo>
                  <a:pt x="0" y="0"/>
                </a:moveTo>
                <a:lnTo>
                  <a:pt x="5491162" y="0"/>
                </a:lnTo>
                <a:lnTo>
                  <a:pt x="5491162" y="6662738"/>
                </a:lnTo>
                <a:lnTo>
                  <a:pt x="0" y="6662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843338" y="2184797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228600" y="0"/>
                  </a:moveTo>
                  <a:lnTo>
                    <a:pt x="685800" y="0"/>
                  </a:lnTo>
                  <a:cubicBezTo>
                    <a:pt x="811911" y="0"/>
                    <a:pt x="914400" y="102489"/>
                    <a:pt x="914400" y="228600"/>
                  </a:cubicBezTo>
                  <a:lnTo>
                    <a:pt x="914400" y="685800"/>
                  </a:lnTo>
                  <a:cubicBezTo>
                    <a:pt x="914400" y="811911"/>
                    <a:pt x="811911" y="914400"/>
                    <a:pt x="6858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079081" y="2356247"/>
            <a:ext cx="214312" cy="342900"/>
          </a:xfrm>
          <a:custGeom>
            <a:avLst/>
            <a:gdLst/>
            <a:ahLst/>
            <a:cxnLst/>
            <a:rect r="r" b="b" t="t" l="l"/>
            <a:pathLst>
              <a:path h="342900" w="214312">
                <a:moveTo>
                  <a:pt x="0" y="0"/>
                </a:moveTo>
                <a:lnTo>
                  <a:pt x="214313" y="0"/>
                </a:lnTo>
                <a:lnTo>
                  <a:pt x="214313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700588" y="2299097"/>
            <a:ext cx="1271588" cy="457200"/>
            <a:chOff x="0" y="0"/>
            <a:chExt cx="169545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95450" cy="609600"/>
            </a:xfrm>
            <a:custGeom>
              <a:avLst/>
              <a:gdLst/>
              <a:ahLst/>
              <a:cxnLst/>
              <a:rect r="r" b="b" t="t" l="l"/>
              <a:pathLst>
                <a:path h="609600" w="1695450">
                  <a:moveTo>
                    <a:pt x="304800" y="0"/>
                  </a:moveTo>
                  <a:lnTo>
                    <a:pt x="1390650" y="0"/>
                  </a:lnTo>
                  <a:cubicBezTo>
                    <a:pt x="1558925" y="0"/>
                    <a:pt x="1695450" y="136525"/>
                    <a:pt x="1695450" y="304800"/>
                  </a:cubicBezTo>
                  <a:cubicBezTo>
                    <a:pt x="1695450" y="473075"/>
                    <a:pt x="1558925" y="609600"/>
                    <a:pt x="139065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872038" y="2387655"/>
            <a:ext cx="1154906" cy="282917"/>
            <a:chOff x="0" y="0"/>
            <a:chExt cx="1360881" cy="3333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60884" cy="333376"/>
            </a:xfrm>
            <a:custGeom>
              <a:avLst/>
              <a:gdLst/>
              <a:ahLst/>
              <a:cxnLst/>
              <a:rect r="r" b="b" t="t" l="l"/>
              <a:pathLst>
                <a:path h="333376" w="1360884">
                  <a:moveTo>
                    <a:pt x="0" y="0"/>
                  </a:moveTo>
                  <a:lnTo>
                    <a:pt x="1360884" y="0"/>
                  </a:lnTo>
                  <a:lnTo>
                    <a:pt x="1360884" y="333376"/>
                  </a:lnTo>
                  <a:lnTo>
                    <a:pt x="0" y="333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540" r="0" b="-2954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360881" cy="342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REGRESIÓN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43338" y="3099197"/>
            <a:ext cx="4914900" cy="400050"/>
            <a:chOff x="0" y="0"/>
            <a:chExt cx="6553200" cy="533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53200" cy="533400"/>
            </a:xfrm>
            <a:custGeom>
              <a:avLst/>
              <a:gdLst/>
              <a:ahLst/>
              <a:cxnLst/>
              <a:rect r="r" b="b" t="t" l="l"/>
              <a:pathLst>
                <a:path h="5334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5532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Predecir el Costo del Producto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843338" y="3670697"/>
            <a:ext cx="4886325" cy="3700462"/>
            <a:chOff x="0" y="0"/>
            <a:chExt cx="6515100" cy="49339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15100" cy="4933950"/>
            </a:xfrm>
            <a:custGeom>
              <a:avLst/>
              <a:gdLst/>
              <a:ahLst/>
              <a:cxnLst/>
              <a:rect r="r" b="b" t="t" l="l"/>
              <a:pathLst>
                <a:path h="4933950" w="6515100">
                  <a:moveTo>
                    <a:pt x="0" y="0"/>
                  </a:moveTo>
                  <a:lnTo>
                    <a:pt x="6515100" y="0"/>
                  </a:lnTo>
                  <a:lnTo>
                    <a:pt x="6515100" y="4933950"/>
                  </a:lnTo>
                  <a:lnTo>
                    <a:pt x="0" y="49339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7165" t="0" r="-47165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6515100" cy="501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Desarrollar modelos de regresión para estimar el costo del producto basándose en características logísticas y del cliente.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843338" y="7606903"/>
            <a:ext cx="4772025" cy="14288"/>
            <a:chOff x="0" y="0"/>
            <a:chExt cx="6362700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62700" cy="19050"/>
            </a:xfrm>
            <a:custGeom>
              <a:avLst/>
              <a:gdLst/>
              <a:ahLst/>
              <a:cxnLst/>
              <a:rect r="r" b="b" t="t" l="l"/>
              <a:pathLst>
                <a:path h="19050" w="6362700">
                  <a:moveTo>
                    <a:pt x="0" y="0"/>
                  </a:moveTo>
                  <a:lnTo>
                    <a:pt x="6362700" y="0"/>
                  </a:lnTo>
                  <a:lnTo>
                    <a:pt x="6362700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3871913" y="7885509"/>
            <a:ext cx="200025" cy="200025"/>
          </a:xfrm>
          <a:custGeom>
            <a:avLst/>
            <a:gdLst/>
            <a:ahLst/>
            <a:cxnLst/>
            <a:rect r="r" b="b" t="t" l="l"/>
            <a:pathLst>
              <a:path h="200025" w="200025">
                <a:moveTo>
                  <a:pt x="0" y="0"/>
                </a:moveTo>
                <a:lnTo>
                  <a:pt x="200025" y="0"/>
                </a:lnTo>
                <a:lnTo>
                  <a:pt x="200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4229100" y="7762875"/>
            <a:ext cx="2357438" cy="645319"/>
            <a:chOff x="0" y="0"/>
            <a:chExt cx="3143250" cy="8604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43250" cy="860425"/>
            </a:xfrm>
            <a:custGeom>
              <a:avLst/>
              <a:gdLst/>
              <a:ahLst/>
              <a:cxnLst/>
              <a:rect r="r" b="b" t="t" l="l"/>
              <a:pathLst>
                <a:path h="860425" w="3143250">
                  <a:moveTo>
                    <a:pt x="0" y="0"/>
                  </a:moveTo>
                  <a:lnTo>
                    <a:pt x="3143250" y="0"/>
                  </a:lnTo>
                  <a:lnTo>
                    <a:pt x="3143250" y="860425"/>
                  </a:lnTo>
                  <a:lnTo>
                    <a:pt x="0" y="8604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041" r="0" b="667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143250" cy="898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Target numérico continuo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9313069" y="1825228"/>
            <a:ext cx="5491162" cy="6662738"/>
          </a:xfrm>
          <a:custGeom>
            <a:avLst/>
            <a:gdLst/>
            <a:ahLst/>
            <a:cxnLst/>
            <a:rect r="r" b="b" t="t" l="l"/>
            <a:pathLst>
              <a:path h="6662738" w="5491162">
                <a:moveTo>
                  <a:pt x="0" y="0"/>
                </a:moveTo>
                <a:lnTo>
                  <a:pt x="5491162" y="0"/>
                </a:lnTo>
                <a:lnTo>
                  <a:pt x="5491162" y="6662738"/>
                </a:lnTo>
                <a:lnTo>
                  <a:pt x="0" y="6662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9672638" y="2184797"/>
            <a:ext cx="685800" cy="685800"/>
            <a:chOff x="0" y="0"/>
            <a:chExt cx="91440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228600" y="0"/>
                  </a:moveTo>
                  <a:lnTo>
                    <a:pt x="685800" y="0"/>
                  </a:lnTo>
                  <a:cubicBezTo>
                    <a:pt x="811911" y="0"/>
                    <a:pt x="914400" y="102489"/>
                    <a:pt x="914400" y="228600"/>
                  </a:cubicBezTo>
                  <a:lnTo>
                    <a:pt x="914400" y="685800"/>
                  </a:lnTo>
                  <a:cubicBezTo>
                    <a:pt x="914400" y="811911"/>
                    <a:pt x="811911" y="914400"/>
                    <a:pt x="6858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844088" y="2356247"/>
            <a:ext cx="342900" cy="342900"/>
            <a:chOff x="0" y="0"/>
            <a:chExt cx="457200" cy="457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  <a:moveTo>
                    <a:pt x="207137" y="107188"/>
                  </a:moveTo>
                  <a:lnTo>
                    <a:pt x="207137" y="228600"/>
                  </a:lnTo>
                  <a:cubicBezTo>
                    <a:pt x="207137" y="235712"/>
                    <a:pt x="210693" y="242443"/>
                    <a:pt x="216662" y="246507"/>
                  </a:cubicBezTo>
                  <a:lnTo>
                    <a:pt x="302387" y="303657"/>
                  </a:lnTo>
                  <a:cubicBezTo>
                    <a:pt x="312166" y="310261"/>
                    <a:pt x="325501" y="307594"/>
                    <a:pt x="332105" y="297688"/>
                  </a:cubicBezTo>
                  <a:cubicBezTo>
                    <a:pt x="338709" y="287782"/>
                    <a:pt x="336042" y="274574"/>
                    <a:pt x="326136" y="267970"/>
                  </a:cubicBezTo>
                  <a:lnTo>
                    <a:pt x="249936" y="217297"/>
                  </a:lnTo>
                  <a:lnTo>
                    <a:pt x="249936" y="107188"/>
                  </a:lnTo>
                  <a:cubicBezTo>
                    <a:pt x="249936" y="95250"/>
                    <a:pt x="240411" y="85725"/>
                    <a:pt x="228473" y="85725"/>
                  </a:cubicBezTo>
                  <a:cubicBezTo>
                    <a:pt x="216535" y="85725"/>
                    <a:pt x="207010" y="95250"/>
                    <a:pt x="207010" y="107188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529888" y="2299097"/>
            <a:ext cx="1852713" cy="524662"/>
            <a:chOff x="0" y="0"/>
            <a:chExt cx="215265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52650" cy="609600"/>
            </a:xfrm>
            <a:custGeom>
              <a:avLst/>
              <a:gdLst/>
              <a:ahLst/>
              <a:cxnLst/>
              <a:rect r="r" b="b" t="t" l="l"/>
              <a:pathLst>
                <a:path h="609600" w="2152650">
                  <a:moveTo>
                    <a:pt x="304800" y="0"/>
                  </a:moveTo>
                  <a:lnTo>
                    <a:pt x="1847850" y="0"/>
                  </a:lnTo>
                  <a:cubicBezTo>
                    <a:pt x="2016125" y="0"/>
                    <a:pt x="2152650" y="136525"/>
                    <a:pt x="2152650" y="304800"/>
                  </a:cubicBezTo>
                  <a:cubicBezTo>
                    <a:pt x="2152650" y="473075"/>
                    <a:pt x="2016125" y="609600"/>
                    <a:pt x="184785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701338" y="2240478"/>
            <a:ext cx="1677244" cy="620594"/>
            <a:chOff x="0" y="0"/>
            <a:chExt cx="1804391" cy="66763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04392" cy="667640"/>
            </a:xfrm>
            <a:custGeom>
              <a:avLst/>
              <a:gdLst/>
              <a:ahLst/>
              <a:cxnLst/>
              <a:rect r="r" b="b" t="t" l="l"/>
              <a:pathLst>
                <a:path h="667640" w="1804392">
                  <a:moveTo>
                    <a:pt x="0" y="0"/>
                  </a:moveTo>
                  <a:lnTo>
                    <a:pt x="1804392" y="0"/>
                  </a:lnTo>
                  <a:lnTo>
                    <a:pt x="1804392" y="667640"/>
                  </a:lnTo>
                  <a:lnTo>
                    <a:pt x="0" y="667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694" r="0" b="2237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804391" cy="677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CLASIFICACIÓN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72638" y="3099197"/>
            <a:ext cx="4914900" cy="400050"/>
            <a:chOff x="0" y="0"/>
            <a:chExt cx="6553200" cy="533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53200" cy="533400"/>
            </a:xfrm>
            <a:custGeom>
              <a:avLst/>
              <a:gdLst/>
              <a:ahLst/>
              <a:cxnLst/>
              <a:rect r="r" b="b" t="t" l="l"/>
              <a:pathLst>
                <a:path h="5334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65532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Predecir Entregas a Tiempo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672638" y="3670697"/>
            <a:ext cx="4886325" cy="3700462"/>
            <a:chOff x="0" y="0"/>
            <a:chExt cx="6515100" cy="49339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15100" cy="4933950"/>
            </a:xfrm>
            <a:custGeom>
              <a:avLst/>
              <a:gdLst/>
              <a:ahLst/>
              <a:cxnLst/>
              <a:rect r="r" b="b" t="t" l="l"/>
              <a:pathLst>
                <a:path h="4933950" w="6515100">
                  <a:moveTo>
                    <a:pt x="0" y="0"/>
                  </a:moveTo>
                  <a:lnTo>
                    <a:pt x="6515100" y="0"/>
                  </a:lnTo>
                  <a:lnTo>
                    <a:pt x="6515100" y="4933950"/>
                  </a:lnTo>
                  <a:lnTo>
                    <a:pt x="0" y="49339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7165" t="0" r="-47165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85725"/>
              <a:ext cx="6515100" cy="501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Construir modelos de clasificación binaria para determinar si un envío llegará a tiempo o experimentará retrasos.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72638" y="7606903"/>
            <a:ext cx="4772025" cy="14288"/>
            <a:chOff x="0" y="0"/>
            <a:chExt cx="6362700" cy="190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362700" cy="19050"/>
            </a:xfrm>
            <a:custGeom>
              <a:avLst/>
              <a:gdLst/>
              <a:ahLst/>
              <a:cxnLst/>
              <a:rect r="r" b="b" t="t" l="l"/>
              <a:pathLst>
                <a:path h="19050" w="6362700">
                  <a:moveTo>
                    <a:pt x="0" y="0"/>
                  </a:moveTo>
                  <a:lnTo>
                    <a:pt x="6362700" y="0"/>
                  </a:lnTo>
                  <a:lnTo>
                    <a:pt x="6362700" y="19050"/>
                  </a:lnTo>
                  <a:lnTo>
                    <a:pt x="0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701212" y="7885509"/>
            <a:ext cx="200025" cy="200025"/>
            <a:chOff x="0" y="0"/>
            <a:chExt cx="266700" cy="2667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034588" y="7762875"/>
            <a:ext cx="1914525" cy="645319"/>
            <a:chOff x="0" y="0"/>
            <a:chExt cx="2552700" cy="86042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52700" cy="860425"/>
            </a:xfrm>
            <a:custGeom>
              <a:avLst/>
              <a:gdLst/>
              <a:ahLst/>
              <a:cxnLst/>
              <a:rect r="r" b="b" t="t" l="l"/>
              <a:pathLst>
                <a:path h="860425" w="2552700">
                  <a:moveTo>
                    <a:pt x="0" y="0"/>
                  </a:moveTo>
                  <a:lnTo>
                    <a:pt x="2552700" y="0"/>
                  </a:lnTo>
                  <a:lnTo>
                    <a:pt x="2552700" y="860425"/>
                  </a:lnTo>
                  <a:lnTo>
                    <a:pt x="0" y="8604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667" r="0" b="2005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552700" cy="898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Target binario: Sí/No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569119" y="8884444"/>
            <a:ext cx="17149762" cy="833438"/>
          </a:xfrm>
          <a:custGeom>
            <a:avLst/>
            <a:gdLst/>
            <a:ahLst/>
            <a:cxnLst/>
            <a:rect r="r" b="b" t="t" l="l"/>
            <a:pathLst>
              <a:path h="833438" w="17149762">
                <a:moveTo>
                  <a:pt x="0" y="0"/>
                </a:moveTo>
                <a:lnTo>
                  <a:pt x="17149762" y="0"/>
                </a:lnTo>
                <a:lnTo>
                  <a:pt x="17149762" y="833437"/>
                </a:lnTo>
                <a:lnTo>
                  <a:pt x="0" y="8334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850106" y="9158288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378744" y="8934450"/>
            <a:ext cx="12515850" cy="733425"/>
            <a:chOff x="0" y="0"/>
            <a:chExt cx="16687800" cy="9779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687800" cy="977900"/>
            </a:xfrm>
            <a:custGeom>
              <a:avLst/>
              <a:gdLst/>
              <a:ahLst/>
              <a:cxnLst/>
              <a:rect r="r" b="b" t="t" l="l"/>
              <a:pathLst>
                <a:path h="977900" w="16687800">
                  <a:moveTo>
                    <a:pt x="0" y="0"/>
                  </a:moveTo>
                  <a:lnTo>
                    <a:pt x="16687800" y="0"/>
                  </a:lnTo>
                  <a:lnTo>
                    <a:pt x="16687800" y="977900"/>
                  </a:lnTo>
                  <a:lnTo>
                    <a:pt x="0" y="977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9134" r="0" b="-25588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16687800" cy="104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Enfoque dual:</a:t>
              </a:r>
              <a:r>
                <a:rPr lang="en-US" sz="1800">
                  <a:solidFill>
                    <a:srgbClr val="EFEFEF"/>
                  </a:solidFill>
                  <a:latin typeface="Literata"/>
                  <a:ea typeface="Literata"/>
                  <a:cs typeface="Literata"/>
                  <a:sym typeface="Literata"/>
                </a:rPr>
                <a:t> Este estudio aborda simultáneamente problemas de regresión y clasificación sobre el mismo dataset logístico.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14375"/>
            <a:ext cx="571500" cy="571500"/>
            <a:chOff x="0" y="0"/>
            <a:chExt cx="762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48313" y="871538"/>
            <a:ext cx="225028" cy="257175"/>
          </a:xfrm>
          <a:custGeom>
            <a:avLst/>
            <a:gdLst/>
            <a:ahLst/>
            <a:cxnLst/>
            <a:rect r="r" b="b" t="t" l="l"/>
            <a:pathLst>
              <a:path h="257175" w="225028">
                <a:moveTo>
                  <a:pt x="0" y="0"/>
                </a:moveTo>
                <a:lnTo>
                  <a:pt x="225028" y="0"/>
                </a:lnTo>
                <a:lnTo>
                  <a:pt x="225028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4450" y="571500"/>
            <a:ext cx="4100512" cy="285750"/>
            <a:chOff x="0" y="0"/>
            <a:chExt cx="5467350" cy="38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67350" cy="381000"/>
            </a:xfrm>
            <a:custGeom>
              <a:avLst/>
              <a:gdLst/>
              <a:ahLst/>
              <a:cxnLst/>
              <a:rect r="r" b="b" t="t" l="l"/>
              <a:pathLst>
                <a:path h="381000" w="5467350">
                  <a:moveTo>
                    <a:pt x="0" y="0"/>
                  </a:moveTo>
                  <a:lnTo>
                    <a:pt x="5467350" y="0"/>
                  </a:lnTo>
                  <a:lnTo>
                    <a:pt x="5467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9610" r="0" b="-22961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467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Conjunto de Datos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4450" y="711184"/>
            <a:ext cx="4505249" cy="863632"/>
            <a:chOff x="0" y="0"/>
            <a:chExt cx="6006998" cy="11515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06998" cy="1151509"/>
            </a:xfrm>
            <a:custGeom>
              <a:avLst/>
              <a:gdLst/>
              <a:ahLst/>
              <a:cxnLst/>
              <a:rect r="r" b="b" t="t" l="l"/>
              <a:pathLst>
                <a:path h="1151509" w="6006998">
                  <a:moveTo>
                    <a:pt x="0" y="0"/>
                  </a:moveTo>
                  <a:lnTo>
                    <a:pt x="6006998" y="0"/>
                  </a:lnTo>
                  <a:lnTo>
                    <a:pt x="6006998" y="1151509"/>
                  </a:lnTo>
                  <a:lnTo>
                    <a:pt x="0" y="11515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973" r="5495" b="-2914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6006998" cy="1103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Dataset Overview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69119" y="1826419"/>
            <a:ext cx="6691312" cy="2690812"/>
          </a:xfrm>
          <a:custGeom>
            <a:avLst/>
            <a:gdLst/>
            <a:ahLst/>
            <a:cxnLst/>
            <a:rect r="r" b="b" t="t" l="l"/>
            <a:pathLst>
              <a:path h="2690812" w="6691312">
                <a:moveTo>
                  <a:pt x="0" y="0"/>
                </a:moveTo>
                <a:lnTo>
                  <a:pt x="6691312" y="0"/>
                </a:lnTo>
                <a:lnTo>
                  <a:pt x="6691312" y="2690812"/>
                </a:lnTo>
                <a:lnTo>
                  <a:pt x="0" y="2690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71538" y="2128838"/>
            <a:ext cx="800100" cy="800100"/>
            <a:chOff x="0" y="0"/>
            <a:chExt cx="1066800" cy="1066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21569" y="2357438"/>
            <a:ext cx="300038" cy="342900"/>
            <a:chOff x="0" y="0"/>
            <a:chExt cx="400050" cy="45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28575"/>
              <a:ext cx="400050" cy="400050"/>
            </a:xfrm>
            <a:custGeom>
              <a:avLst/>
              <a:gdLst/>
              <a:ahLst/>
              <a:cxnLst/>
              <a:rect r="r" b="b" t="t" l="l"/>
              <a:pathLst>
                <a:path h="400050" w="400050">
                  <a:moveTo>
                    <a:pt x="228600" y="114300"/>
                  </a:moveTo>
                  <a:lnTo>
                    <a:pt x="228600" y="200025"/>
                  </a:lnTo>
                  <a:lnTo>
                    <a:pt x="342900" y="200025"/>
                  </a:lnTo>
                  <a:lnTo>
                    <a:pt x="342900" y="114300"/>
                  </a:lnTo>
                  <a:lnTo>
                    <a:pt x="228600" y="114300"/>
                  </a:lnTo>
                  <a:close/>
                  <a:moveTo>
                    <a:pt x="171450" y="114300"/>
                  </a:moveTo>
                  <a:lnTo>
                    <a:pt x="57150" y="114300"/>
                  </a:lnTo>
                  <a:lnTo>
                    <a:pt x="57150" y="200025"/>
                  </a:lnTo>
                  <a:lnTo>
                    <a:pt x="171450" y="200025"/>
                  </a:lnTo>
                  <a:lnTo>
                    <a:pt x="171450" y="114300"/>
                  </a:lnTo>
                  <a:close/>
                  <a:moveTo>
                    <a:pt x="0" y="257175"/>
                  </a:moveTo>
                  <a:lnTo>
                    <a:pt x="0" y="57150"/>
                  </a:lnTo>
                  <a:cubicBezTo>
                    <a:pt x="0" y="25654"/>
                    <a:pt x="25654" y="0"/>
                    <a:pt x="57150" y="0"/>
                  </a:cubicBezTo>
                  <a:lnTo>
                    <a:pt x="342900" y="0"/>
                  </a:lnTo>
                  <a:cubicBezTo>
                    <a:pt x="374396" y="0"/>
                    <a:pt x="400050" y="25654"/>
                    <a:pt x="400050" y="57150"/>
                  </a:cubicBezTo>
                  <a:lnTo>
                    <a:pt x="400050" y="342900"/>
                  </a:lnTo>
                  <a:cubicBezTo>
                    <a:pt x="400050" y="374396"/>
                    <a:pt x="374396" y="400050"/>
                    <a:pt x="342900" y="400050"/>
                  </a:cubicBezTo>
                  <a:lnTo>
                    <a:pt x="57150" y="400050"/>
                  </a:lnTo>
                  <a:cubicBezTo>
                    <a:pt x="25654" y="400050"/>
                    <a:pt x="0" y="374396"/>
                    <a:pt x="0" y="342900"/>
                  </a:cubicBezTo>
                  <a:lnTo>
                    <a:pt x="0" y="257175"/>
                  </a:lnTo>
                  <a:close/>
                  <a:moveTo>
                    <a:pt x="342900" y="257175"/>
                  </a:moveTo>
                  <a:lnTo>
                    <a:pt x="228600" y="257175"/>
                  </a:lnTo>
                  <a:lnTo>
                    <a:pt x="228600" y="342900"/>
                  </a:lnTo>
                  <a:lnTo>
                    <a:pt x="342900" y="342900"/>
                  </a:lnTo>
                  <a:lnTo>
                    <a:pt x="342900" y="257175"/>
                  </a:lnTo>
                  <a:close/>
                  <a:moveTo>
                    <a:pt x="171450" y="342900"/>
                  </a:moveTo>
                  <a:lnTo>
                    <a:pt x="171450" y="257175"/>
                  </a:lnTo>
                  <a:lnTo>
                    <a:pt x="57150" y="257175"/>
                  </a:lnTo>
                  <a:lnTo>
                    <a:pt x="57150" y="342900"/>
                  </a:lnTo>
                  <a:lnTo>
                    <a:pt x="171450" y="34290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843088" y="2128838"/>
            <a:ext cx="1700212" cy="722233"/>
            <a:chOff x="0" y="0"/>
            <a:chExt cx="2266950" cy="9629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6950" cy="962977"/>
            </a:xfrm>
            <a:custGeom>
              <a:avLst/>
              <a:gdLst/>
              <a:ahLst/>
              <a:cxnLst/>
              <a:rect r="r" b="b" t="t" l="l"/>
              <a:pathLst>
                <a:path h="962977" w="2266950">
                  <a:moveTo>
                    <a:pt x="0" y="0"/>
                  </a:moveTo>
                  <a:lnTo>
                    <a:pt x="2266950" y="0"/>
                  </a:lnTo>
                  <a:lnTo>
                    <a:pt x="2266950" y="962977"/>
                  </a:lnTo>
                  <a:lnTo>
                    <a:pt x="0" y="9629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261" r="0" b="1852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266950" cy="9629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50"/>
                </a:lnSpc>
              </a:pPr>
              <a:r>
                <a:rPr lang="en-US" sz="33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10,999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43088" y="2643188"/>
            <a:ext cx="2869564" cy="642938"/>
            <a:chOff x="0" y="0"/>
            <a:chExt cx="3826086" cy="8572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26086" cy="857250"/>
            </a:xfrm>
            <a:custGeom>
              <a:avLst/>
              <a:gdLst/>
              <a:ahLst/>
              <a:cxnLst/>
              <a:rect r="r" b="b" t="t" l="l"/>
              <a:pathLst>
                <a:path h="857250" w="3826086">
                  <a:moveTo>
                    <a:pt x="0" y="0"/>
                  </a:moveTo>
                  <a:lnTo>
                    <a:pt x="3826086" y="0"/>
                  </a:lnTo>
                  <a:lnTo>
                    <a:pt x="3826086" y="857250"/>
                  </a:lnTo>
                  <a:lnTo>
                    <a:pt x="0" y="857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840" r="44733" b="2971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826086" cy="895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Registros totales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869156" y="3155156"/>
            <a:ext cx="2962275" cy="1062038"/>
          </a:xfrm>
          <a:custGeom>
            <a:avLst/>
            <a:gdLst/>
            <a:ahLst/>
            <a:cxnLst/>
            <a:rect r="r" b="b" t="t" l="l"/>
            <a:pathLst>
              <a:path h="1062038" w="2962275">
                <a:moveTo>
                  <a:pt x="0" y="0"/>
                </a:moveTo>
                <a:lnTo>
                  <a:pt x="2962275" y="0"/>
                </a:lnTo>
                <a:lnTo>
                  <a:pt x="2962275" y="1062038"/>
                </a:lnTo>
                <a:lnTo>
                  <a:pt x="0" y="10620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71550" y="3343275"/>
            <a:ext cx="2757488" cy="572834"/>
            <a:chOff x="0" y="0"/>
            <a:chExt cx="3676650" cy="76377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76650" cy="763778"/>
            </a:xfrm>
            <a:custGeom>
              <a:avLst/>
              <a:gdLst/>
              <a:ahLst/>
              <a:cxnLst/>
              <a:rect r="r" b="b" t="t" l="l"/>
              <a:pathLst>
                <a:path h="763778" w="3676650">
                  <a:moveTo>
                    <a:pt x="0" y="0"/>
                  </a:moveTo>
                  <a:lnTo>
                    <a:pt x="3676650" y="0"/>
                  </a:lnTo>
                  <a:lnTo>
                    <a:pt x="3676650" y="763778"/>
                  </a:lnTo>
                  <a:lnTo>
                    <a:pt x="0" y="7637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889" r="0" b="-3370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676650" cy="792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12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4412" y="3800475"/>
            <a:ext cx="2671762" cy="228600"/>
            <a:chOff x="0" y="0"/>
            <a:chExt cx="3562350" cy="304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62350" cy="304800"/>
            </a:xfrm>
            <a:custGeom>
              <a:avLst/>
              <a:gdLst/>
              <a:ahLst/>
              <a:cxnLst/>
              <a:rect r="r" b="b" t="t" l="l"/>
              <a:pathLst>
                <a:path h="304800" w="3562350">
                  <a:moveTo>
                    <a:pt x="0" y="0"/>
                  </a:moveTo>
                  <a:lnTo>
                    <a:pt x="3562350" y="0"/>
                  </a:lnTo>
                  <a:lnTo>
                    <a:pt x="35623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7731" r="0" b="-17773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56235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Variables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3998119" y="3155156"/>
            <a:ext cx="2962275" cy="1062038"/>
          </a:xfrm>
          <a:custGeom>
            <a:avLst/>
            <a:gdLst/>
            <a:ahLst/>
            <a:cxnLst/>
            <a:rect r="r" b="b" t="t" l="l"/>
            <a:pathLst>
              <a:path h="1062038" w="2962275">
                <a:moveTo>
                  <a:pt x="0" y="0"/>
                </a:moveTo>
                <a:lnTo>
                  <a:pt x="2962275" y="0"/>
                </a:lnTo>
                <a:lnTo>
                  <a:pt x="2962275" y="1062038"/>
                </a:lnTo>
                <a:lnTo>
                  <a:pt x="0" y="10620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4100512" y="3343275"/>
            <a:ext cx="2757488" cy="457200"/>
            <a:chOff x="0" y="0"/>
            <a:chExt cx="367665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76650" cy="609600"/>
            </a:xfrm>
            <a:custGeom>
              <a:avLst/>
              <a:gdLst/>
              <a:ahLst/>
              <a:cxnLst/>
              <a:rect r="r" b="b" t="t" l="l"/>
              <a:pathLst>
                <a:path h="609600" w="3676650">
                  <a:moveTo>
                    <a:pt x="0" y="0"/>
                  </a:moveTo>
                  <a:lnTo>
                    <a:pt x="3676650" y="0"/>
                  </a:lnTo>
                  <a:lnTo>
                    <a:pt x="36766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7519" r="0" b="-6751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367665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143375" y="3800475"/>
            <a:ext cx="2671762" cy="228600"/>
            <a:chOff x="0" y="0"/>
            <a:chExt cx="3562350" cy="304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62350" cy="304800"/>
            </a:xfrm>
            <a:custGeom>
              <a:avLst/>
              <a:gdLst/>
              <a:ahLst/>
              <a:cxnLst/>
              <a:rect r="r" b="b" t="t" l="l"/>
              <a:pathLst>
                <a:path h="304800" w="3562350">
                  <a:moveTo>
                    <a:pt x="0" y="0"/>
                  </a:moveTo>
                  <a:lnTo>
                    <a:pt x="3562350" y="0"/>
                  </a:lnTo>
                  <a:lnTo>
                    <a:pt x="35623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7731" r="0" b="-17773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56235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Targets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569119" y="4741069"/>
            <a:ext cx="6691312" cy="4976812"/>
          </a:xfrm>
          <a:custGeom>
            <a:avLst/>
            <a:gdLst/>
            <a:ahLst/>
            <a:cxnLst/>
            <a:rect r="r" b="b" t="t" l="l"/>
            <a:pathLst>
              <a:path h="4976812" w="6691312">
                <a:moveTo>
                  <a:pt x="0" y="0"/>
                </a:moveTo>
                <a:lnTo>
                  <a:pt x="6691312" y="0"/>
                </a:lnTo>
                <a:lnTo>
                  <a:pt x="6691312" y="4976812"/>
                </a:lnTo>
                <a:lnTo>
                  <a:pt x="0" y="4976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91188" y="5114925"/>
            <a:ext cx="289322" cy="257175"/>
          </a:xfrm>
          <a:custGeom>
            <a:avLst/>
            <a:gdLst/>
            <a:ahLst/>
            <a:cxnLst/>
            <a:rect r="r" b="b" t="t" l="l"/>
            <a:pathLst>
              <a:path h="257175" w="289322">
                <a:moveTo>
                  <a:pt x="0" y="0"/>
                </a:moveTo>
                <a:lnTo>
                  <a:pt x="289321" y="0"/>
                </a:lnTo>
                <a:lnTo>
                  <a:pt x="289321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200150" y="5043488"/>
            <a:ext cx="5886450" cy="400050"/>
            <a:chOff x="0" y="0"/>
            <a:chExt cx="7848600" cy="533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848600" cy="533400"/>
            </a:xfrm>
            <a:custGeom>
              <a:avLst/>
              <a:gdLst/>
              <a:ahLst/>
              <a:cxnLst/>
              <a:rect r="r" b="b" t="t" l="l"/>
              <a:pathLst>
                <a:path h="533400" w="7848600">
                  <a:moveTo>
                    <a:pt x="0" y="0"/>
                  </a:moveTo>
                  <a:lnTo>
                    <a:pt x="7848600" y="0"/>
                  </a:lnTo>
                  <a:lnTo>
                    <a:pt x="7848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78486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Variables Target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869156" y="5669756"/>
            <a:ext cx="6091238" cy="1233488"/>
          </a:xfrm>
          <a:custGeom>
            <a:avLst/>
            <a:gdLst/>
            <a:ahLst/>
            <a:cxnLst/>
            <a:rect r="r" b="b" t="t" l="l"/>
            <a:pathLst>
              <a:path h="1233488" w="6091238">
                <a:moveTo>
                  <a:pt x="0" y="0"/>
                </a:moveTo>
                <a:lnTo>
                  <a:pt x="6091238" y="0"/>
                </a:lnTo>
                <a:lnTo>
                  <a:pt x="6091238" y="1233488"/>
                </a:lnTo>
                <a:lnTo>
                  <a:pt x="0" y="12334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114425" y="5608844"/>
            <a:ext cx="2800350" cy="620506"/>
            <a:chOff x="0" y="0"/>
            <a:chExt cx="3733800" cy="8273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733800" cy="827341"/>
            </a:xfrm>
            <a:custGeom>
              <a:avLst/>
              <a:gdLst/>
              <a:ahLst/>
              <a:cxnLst/>
              <a:rect r="r" b="b" t="t" l="l"/>
              <a:pathLst>
                <a:path h="827341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827341"/>
                  </a:lnTo>
                  <a:lnTo>
                    <a:pt x="0" y="8273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888" r="29591" b="1506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733800" cy="865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Cost_of_the_Product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590984" y="5915025"/>
            <a:ext cx="1128712" cy="342900"/>
            <a:chOff x="0" y="0"/>
            <a:chExt cx="1504950" cy="457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04950" cy="457200"/>
            </a:xfrm>
            <a:custGeom>
              <a:avLst/>
              <a:gdLst/>
              <a:ahLst/>
              <a:cxnLst/>
              <a:rect r="r" b="b" t="t" l="l"/>
              <a:pathLst>
                <a:path h="457200" w="1504950">
                  <a:moveTo>
                    <a:pt x="76200" y="0"/>
                  </a:moveTo>
                  <a:lnTo>
                    <a:pt x="1428750" y="0"/>
                  </a:lnTo>
                  <a:cubicBezTo>
                    <a:pt x="1470787" y="0"/>
                    <a:pt x="1504950" y="34163"/>
                    <a:pt x="1504950" y="76200"/>
                  </a:cubicBezTo>
                  <a:lnTo>
                    <a:pt x="1504950" y="381000"/>
                  </a:lnTo>
                  <a:cubicBezTo>
                    <a:pt x="1504950" y="423037"/>
                    <a:pt x="1470787" y="457200"/>
                    <a:pt x="142875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590984" y="5915025"/>
            <a:ext cx="1214438" cy="342900"/>
            <a:chOff x="0" y="0"/>
            <a:chExt cx="1619250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19250" cy="457200"/>
            </a:xfrm>
            <a:custGeom>
              <a:avLst/>
              <a:gdLst/>
              <a:ahLst/>
              <a:cxnLst/>
              <a:rect r="r" b="b" t="t" l="l"/>
              <a:pathLst>
                <a:path h="457200" w="1619250">
                  <a:moveTo>
                    <a:pt x="0" y="0"/>
                  </a:moveTo>
                  <a:lnTo>
                    <a:pt x="1619250" y="0"/>
                  </a:lnTo>
                  <a:lnTo>
                    <a:pt x="16192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009" r="0" b="-1900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61925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NUMÉRICO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14425" y="6372225"/>
            <a:ext cx="5700712" cy="285750"/>
            <a:chOff x="0" y="0"/>
            <a:chExt cx="7600950" cy="381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00950" cy="381000"/>
            </a:xfrm>
            <a:custGeom>
              <a:avLst/>
              <a:gdLst/>
              <a:ahLst/>
              <a:cxnLst/>
              <a:rect r="r" b="b" t="t" l="l"/>
              <a:pathLst>
                <a:path h="381000" w="7600950">
                  <a:moveTo>
                    <a:pt x="0" y="0"/>
                  </a:moveTo>
                  <a:lnTo>
                    <a:pt x="7600950" y="0"/>
                  </a:lnTo>
                  <a:lnTo>
                    <a:pt x="76009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8726" r="0" b="-33872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6009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Costo del producto en unidades monetarias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869156" y="7127081"/>
            <a:ext cx="6091238" cy="1233488"/>
          </a:xfrm>
          <a:custGeom>
            <a:avLst/>
            <a:gdLst/>
            <a:ahLst/>
            <a:cxnLst/>
            <a:rect r="r" b="b" t="t" l="l"/>
            <a:pathLst>
              <a:path h="1233488" w="6091238">
                <a:moveTo>
                  <a:pt x="0" y="0"/>
                </a:moveTo>
                <a:lnTo>
                  <a:pt x="6091238" y="0"/>
                </a:lnTo>
                <a:lnTo>
                  <a:pt x="6091238" y="1233488"/>
                </a:lnTo>
                <a:lnTo>
                  <a:pt x="0" y="12334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114425" y="7046119"/>
            <a:ext cx="2571750" cy="640556"/>
            <a:chOff x="0" y="0"/>
            <a:chExt cx="3429000" cy="8540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29000" cy="854075"/>
            </a:xfrm>
            <a:custGeom>
              <a:avLst/>
              <a:gdLst/>
              <a:ahLst/>
              <a:cxnLst/>
              <a:rect r="r" b="b" t="t" l="l"/>
              <a:pathLst>
                <a:path h="854075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854075"/>
                  </a:lnTo>
                  <a:lnTo>
                    <a:pt x="0" y="8540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844" r="20555" b="1554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429000" cy="892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Reached.on.Time_Y.N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819699" y="7372350"/>
            <a:ext cx="900112" cy="342900"/>
            <a:chOff x="0" y="0"/>
            <a:chExt cx="1200150" cy="457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00150" cy="457200"/>
            </a:xfrm>
            <a:custGeom>
              <a:avLst/>
              <a:gdLst/>
              <a:ahLst/>
              <a:cxnLst/>
              <a:rect r="r" b="b" t="t" l="l"/>
              <a:pathLst>
                <a:path h="457200" w="1200150">
                  <a:moveTo>
                    <a:pt x="76200" y="0"/>
                  </a:moveTo>
                  <a:lnTo>
                    <a:pt x="1123950" y="0"/>
                  </a:lnTo>
                  <a:cubicBezTo>
                    <a:pt x="1165987" y="0"/>
                    <a:pt x="1200150" y="34163"/>
                    <a:pt x="1200150" y="76200"/>
                  </a:cubicBezTo>
                  <a:lnTo>
                    <a:pt x="1200150" y="381000"/>
                  </a:lnTo>
                  <a:cubicBezTo>
                    <a:pt x="1200150" y="423037"/>
                    <a:pt x="1165987" y="457200"/>
                    <a:pt x="112395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819699" y="7372350"/>
            <a:ext cx="985838" cy="342900"/>
            <a:chOff x="0" y="0"/>
            <a:chExt cx="1314450" cy="457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14450" cy="457200"/>
            </a:xfrm>
            <a:custGeom>
              <a:avLst/>
              <a:gdLst/>
              <a:ahLst/>
              <a:cxnLst/>
              <a:rect r="r" b="b" t="t" l="l"/>
              <a:pathLst>
                <a:path h="457200" w="1314450">
                  <a:moveTo>
                    <a:pt x="0" y="0"/>
                  </a:moveTo>
                  <a:lnTo>
                    <a:pt x="1314450" y="0"/>
                  </a:lnTo>
                  <a:lnTo>
                    <a:pt x="131445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019" r="0" b="-601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31445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BINARIO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14425" y="7608094"/>
            <a:ext cx="1943100" cy="620506"/>
            <a:chOff x="0" y="0"/>
            <a:chExt cx="2590800" cy="82734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90800" cy="827341"/>
            </a:xfrm>
            <a:custGeom>
              <a:avLst/>
              <a:gdLst/>
              <a:ahLst/>
              <a:cxnLst/>
              <a:rect r="r" b="b" t="t" l="l"/>
              <a:pathLst>
                <a:path h="827341" w="2590800">
                  <a:moveTo>
                    <a:pt x="0" y="0"/>
                  </a:moveTo>
                  <a:lnTo>
                    <a:pt x="2590800" y="0"/>
                  </a:lnTo>
                  <a:lnTo>
                    <a:pt x="2590800" y="827341"/>
                  </a:lnTo>
                  <a:lnTo>
                    <a:pt x="0" y="8273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991" r="0" b="1595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590800" cy="865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0</a:t>
              </a: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= No llegó a tiempo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3169444" y="7608094"/>
            <a:ext cx="1657350" cy="620506"/>
            <a:chOff x="0" y="0"/>
            <a:chExt cx="2209800" cy="82734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09800" cy="827341"/>
            </a:xfrm>
            <a:custGeom>
              <a:avLst/>
              <a:gdLst/>
              <a:ahLst/>
              <a:cxnLst/>
              <a:rect r="r" b="b" t="t" l="l"/>
              <a:pathLst>
                <a:path h="827341" w="2209800">
                  <a:moveTo>
                    <a:pt x="0" y="0"/>
                  </a:moveTo>
                  <a:lnTo>
                    <a:pt x="2209800" y="0"/>
                  </a:lnTo>
                  <a:lnTo>
                    <a:pt x="2209800" y="827341"/>
                  </a:lnTo>
                  <a:lnTo>
                    <a:pt x="0" y="8273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018" r="0" b="2493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209800" cy="865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1</a:t>
              </a: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= Llegó a tiempo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7541419" y="1826419"/>
            <a:ext cx="10177462" cy="7891462"/>
          </a:xfrm>
          <a:custGeom>
            <a:avLst/>
            <a:gdLst/>
            <a:ahLst/>
            <a:cxnLst/>
            <a:rect r="r" b="b" t="t" l="l"/>
            <a:pathLst>
              <a:path h="7891462" w="10177462">
                <a:moveTo>
                  <a:pt x="0" y="0"/>
                </a:moveTo>
                <a:lnTo>
                  <a:pt x="10177462" y="0"/>
                </a:lnTo>
                <a:lnTo>
                  <a:pt x="10177462" y="7891462"/>
                </a:lnTo>
                <a:lnTo>
                  <a:pt x="0" y="78914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7879556" y="2200275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8172450" y="2128838"/>
            <a:ext cx="9372600" cy="400050"/>
            <a:chOff x="0" y="0"/>
            <a:chExt cx="12496800" cy="533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496800" cy="533400"/>
            </a:xfrm>
            <a:custGeom>
              <a:avLst/>
              <a:gdLst/>
              <a:ahLst/>
              <a:cxnLst/>
              <a:rect r="r" b="b" t="t" l="l"/>
              <a:pathLst>
                <a:path h="5334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6506" r="0" b="-40650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66675"/>
              <a:ext cx="124968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Variables Predictoras</a:t>
              </a: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7841456" y="2755106"/>
            <a:ext cx="4705350" cy="947738"/>
          </a:xfrm>
          <a:custGeom>
            <a:avLst/>
            <a:gdLst/>
            <a:ahLst/>
            <a:cxnLst/>
            <a:rect r="r" b="b" t="t" l="l"/>
            <a:pathLst>
              <a:path h="947738" w="4705350">
                <a:moveTo>
                  <a:pt x="0" y="0"/>
                </a:moveTo>
                <a:lnTo>
                  <a:pt x="4705350" y="0"/>
                </a:lnTo>
                <a:lnTo>
                  <a:pt x="4705350" y="947738"/>
                </a:lnTo>
                <a:lnTo>
                  <a:pt x="0" y="9477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8029575" y="2943225"/>
            <a:ext cx="4429125" cy="285750"/>
            <a:chOff x="0" y="0"/>
            <a:chExt cx="5905500" cy="381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905500" cy="381000"/>
            </a:xfrm>
            <a:custGeom>
              <a:avLst/>
              <a:gdLst/>
              <a:ahLst/>
              <a:cxnLst/>
              <a:rect r="r" b="b" t="t" l="l"/>
              <a:pathLst>
                <a:path h="3810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5905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ID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029575" y="3286125"/>
            <a:ext cx="4414838" cy="228600"/>
            <a:chOff x="0" y="0"/>
            <a:chExt cx="5886450" cy="304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886450" cy="304800"/>
            </a:xfrm>
            <a:custGeom>
              <a:avLst/>
              <a:gdLst/>
              <a:ahLst/>
              <a:cxnLst/>
              <a:rect r="r" b="b" t="t" l="l"/>
              <a:pathLst>
                <a:path h="3048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6304" r="0" b="-32630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588645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Identificador único</a:t>
              </a: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12713494" y="2755106"/>
            <a:ext cx="4705350" cy="947738"/>
          </a:xfrm>
          <a:custGeom>
            <a:avLst/>
            <a:gdLst/>
            <a:ahLst/>
            <a:cxnLst/>
            <a:rect r="r" b="b" t="t" l="l"/>
            <a:pathLst>
              <a:path h="947738" w="4705350">
                <a:moveTo>
                  <a:pt x="0" y="0"/>
                </a:moveTo>
                <a:lnTo>
                  <a:pt x="4705350" y="0"/>
                </a:lnTo>
                <a:lnTo>
                  <a:pt x="4705350" y="947738"/>
                </a:lnTo>
                <a:lnTo>
                  <a:pt x="0" y="9477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12901612" y="2943225"/>
            <a:ext cx="4429125" cy="285750"/>
            <a:chOff x="0" y="0"/>
            <a:chExt cx="5905500" cy="3810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905500" cy="381000"/>
            </a:xfrm>
            <a:custGeom>
              <a:avLst/>
              <a:gdLst/>
              <a:ahLst/>
              <a:cxnLst/>
              <a:rect r="r" b="b" t="t" l="l"/>
              <a:pathLst>
                <a:path h="3810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5905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Gender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901612" y="3286125"/>
            <a:ext cx="4414838" cy="228600"/>
            <a:chOff x="0" y="0"/>
            <a:chExt cx="5886450" cy="304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886450" cy="304800"/>
            </a:xfrm>
            <a:custGeom>
              <a:avLst/>
              <a:gdLst/>
              <a:ahLst/>
              <a:cxnLst/>
              <a:rect r="r" b="b" t="t" l="l"/>
              <a:pathLst>
                <a:path h="3048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6304" r="0" b="-32630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588645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Género del cliente</a:t>
              </a: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7841456" y="3869531"/>
            <a:ext cx="4705350" cy="947738"/>
          </a:xfrm>
          <a:custGeom>
            <a:avLst/>
            <a:gdLst/>
            <a:ahLst/>
            <a:cxnLst/>
            <a:rect r="r" b="b" t="t" l="l"/>
            <a:pathLst>
              <a:path h="947738" w="4705350">
                <a:moveTo>
                  <a:pt x="0" y="0"/>
                </a:moveTo>
                <a:lnTo>
                  <a:pt x="4705350" y="0"/>
                </a:lnTo>
                <a:lnTo>
                  <a:pt x="4705350" y="947738"/>
                </a:lnTo>
                <a:lnTo>
                  <a:pt x="0" y="9477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8029575" y="4057650"/>
            <a:ext cx="4429125" cy="285750"/>
            <a:chOff x="0" y="0"/>
            <a:chExt cx="5905500" cy="3810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905500" cy="381000"/>
            </a:xfrm>
            <a:custGeom>
              <a:avLst/>
              <a:gdLst/>
              <a:ahLst/>
              <a:cxnLst/>
              <a:rect r="r" b="b" t="t" l="l"/>
              <a:pathLst>
                <a:path h="3810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5905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Warehouse_block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8029575" y="4400550"/>
            <a:ext cx="4414838" cy="228600"/>
            <a:chOff x="0" y="0"/>
            <a:chExt cx="5886450" cy="3048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886450" cy="304800"/>
            </a:xfrm>
            <a:custGeom>
              <a:avLst/>
              <a:gdLst/>
              <a:ahLst/>
              <a:cxnLst/>
              <a:rect r="r" b="b" t="t" l="l"/>
              <a:pathLst>
                <a:path h="3048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6304" r="0" b="-32630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588645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Bloque de almacén</a:t>
              </a:r>
            </a:p>
          </p:txBody>
        </p:sp>
      </p:grpSp>
      <p:sp>
        <p:nvSpPr>
          <p:cNvPr name="Freeform 94" id="94"/>
          <p:cNvSpPr/>
          <p:nvPr/>
        </p:nvSpPr>
        <p:spPr>
          <a:xfrm flipH="false" flipV="false" rot="0">
            <a:off x="12713494" y="3869531"/>
            <a:ext cx="4705350" cy="947738"/>
          </a:xfrm>
          <a:custGeom>
            <a:avLst/>
            <a:gdLst/>
            <a:ahLst/>
            <a:cxnLst/>
            <a:rect r="r" b="b" t="t" l="l"/>
            <a:pathLst>
              <a:path h="947738" w="4705350">
                <a:moveTo>
                  <a:pt x="0" y="0"/>
                </a:moveTo>
                <a:lnTo>
                  <a:pt x="4705350" y="0"/>
                </a:lnTo>
                <a:lnTo>
                  <a:pt x="4705350" y="947738"/>
                </a:lnTo>
                <a:lnTo>
                  <a:pt x="0" y="9477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12901612" y="4057650"/>
            <a:ext cx="4429125" cy="285750"/>
            <a:chOff x="0" y="0"/>
            <a:chExt cx="5905500" cy="3810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905500" cy="381000"/>
            </a:xfrm>
            <a:custGeom>
              <a:avLst/>
              <a:gdLst/>
              <a:ahLst/>
              <a:cxnLst/>
              <a:rect r="r" b="b" t="t" l="l"/>
              <a:pathLst>
                <a:path h="3810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5905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Mode_of_Shipment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901612" y="4400550"/>
            <a:ext cx="4414838" cy="228600"/>
            <a:chOff x="0" y="0"/>
            <a:chExt cx="5886450" cy="3048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886450" cy="304800"/>
            </a:xfrm>
            <a:custGeom>
              <a:avLst/>
              <a:gdLst/>
              <a:ahLst/>
              <a:cxnLst/>
              <a:rect r="r" b="b" t="t" l="l"/>
              <a:pathLst>
                <a:path h="3048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6304" r="0" b="-32630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588645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Modo de envío</a:t>
              </a:r>
            </a:p>
          </p:txBody>
        </p:sp>
      </p:grpSp>
      <p:sp>
        <p:nvSpPr>
          <p:cNvPr name="Freeform 101" id="101"/>
          <p:cNvSpPr/>
          <p:nvPr/>
        </p:nvSpPr>
        <p:spPr>
          <a:xfrm flipH="false" flipV="false" rot="0">
            <a:off x="7841456" y="4983956"/>
            <a:ext cx="4705350" cy="947738"/>
          </a:xfrm>
          <a:custGeom>
            <a:avLst/>
            <a:gdLst/>
            <a:ahLst/>
            <a:cxnLst/>
            <a:rect r="r" b="b" t="t" l="l"/>
            <a:pathLst>
              <a:path h="947738" w="4705350">
                <a:moveTo>
                  <a:pt x="0" y="0"/>
                </a:moveTo>
                <a:lnTo>
                  <a:pt x="4705350" y="0"/>
                </a:lnTo>
                <a:lnTo>
                  <a:pt x="4705350" y="947738"/>
                </a:lnTo>
                <a:lnTo>
                  <a:pt x="0" y="9477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2" id="102"/>
          <p:cNvGrpSpPr/>
          <p:nvPr/>
        </p:nvGrpSpPr>
        <p:grpSpPr>
          <a:xfrm rot="0">
            <a:off x="8029575" y="5172075"/>
            <a:ext cx="4429125" cy="285750"/>
            <a:chOff x="0" y="0"/>
            <a:chExt cx="5905500" cy="3810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905500" cy="381000"/>
            </a:xfrm>
            <a:custGeom>
              <a:avLst/>
              <a:gdLst/>
              <a:ahLst/>
              <a:cxnLst/>
              <a:rect r="r" b="b" t="t" l="l"/>
              <a:pathLst>
                <a:path h="3810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5905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Customer_care_calls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8029575" y="5514975"/>
            <a:ext cx="4414838" cy="228600"/>
            <a:chOff x="0" y="0"/>
            <a:chExt cx="5886450" cy="3048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886450" cy="304800"/>
            </a:xfrm>
            <a:custGeom>
              <a:avLst/>
              <a:gdLst/>
              <a:ahLst/>
              <a:cxnLst/>
              <a:rect r="r" b="b" t="t" l="l"/>
              <a:pathLst>
                <a:path h="3048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6304" r="0" b="-32630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588645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Llamadas a atención al cliente</a:t>
              </a:r>
            </a:p>
          </p:txBody>
        </p:sp>
      </p:grpSp>
      <p:sp>
        <p:nvSpPr>
          <p:cNvPr name="Freeform 108" id="108"/>
          <p:cNvSpPr/>
          <p:nvPr/>
        </p:nvSpPr>
        <p:spPr>
          <a:xfrm flipH="false" flipV="false" rot="0">
            <a:off x="12713494" y="4983956"/>
            <a:ext cx="4705350" cy="947738"/>
          </a:xfrm>
          <a:custGeom>
            <a:avLst/>
            <a:gdLst/>
            <a:ahLst/>
            <a:cxnLst/>
            <a:rect r="r" b="b" t="t" l="l"/>
            <a:pathLst>
              <a:path h="947738" w="4705350">
                <a:moveTo>
                  <a:pt x="0" y="0"/>
                </a:moveTo>
                <a:lnTo>
                  <a:pt x="4705350" y="0"/>
                </a:lnTo>
                <a:lnTo>
                  <a:pt x="4705350" y="947738"/>
                </a:lnTo>
                <a:lnTo>
                  <a:pt x="0" y="9477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12901612" y="5172075"/>
            <a:ext cx="4429125" cy="285750"/>
            <a:chOff x="0" y="0"/>
            <a:chExt cx="5905500" cy="3810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905500" cy="381000"/>
            </a:xfrm>
            <a:custGeom>
              <a:avLst/>
              <a:gdLst/>
              <a:ahLst/>
              <a:cxnLst/>
              <a:rect r="r" b="b" t="t" l="l"/>
              <a:pathLst>
                <a:path h="3810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5905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Customer_rating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2901612" y="5514975"/>
            <a:ext cx="4414838" cy="228600"/>
            <a:chOff x="0" y="0"/>
            <a:chExt cx="5886450" cy="3048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886450" cy="304800"/>
            </a:xfrm>
            <a:custGeom>
              <a:avLst/>
              <a:gdLst/>
              <a:ahLst/>
              <a:cxnLst/>
              <a:rect r="r" b="b" t="t" l="l"/>
              <a:pathLst>
                <a:path h="3048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6304" r="0" b="-326304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588645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Calificación del cliente</a:t>
              </a:r>
            </a:p>
          </p:txBody>
        </p:sp>
      </p:grpSp>
      <p:sp>
        <p:nvSpPr>
          <p:cNvPr name="Freeform 115" id="115"/>
          <p:cNvSpPr/>
          <p:nvPr/>
        </p:nvSpPr>
        <p:spPr>
          <a:xfrm flipH="false" flipV="false" rot="0">
            <a:off x="7841456" y="6098381"/>
            <a:ext cx="4705350" cy="947738"/>
          </a:xfrm>
          <a:custGeom>
            <a:avLst/>
            <a:gdLst/>
            <a:ahLst/>
            <a:cxnLst/>
            <a:rect r="r" b="b" t="t" l="l"/>
            <a:pathLst>
              <a:path h="947738" w="4705350">
                <a:moveTo>
                  <a:pt x="0" y="0"/>
                </a:moveTo>
                <a:lnTo>
                  <a:pt x="4705350" y="0"/>
                </a:lnTo>
                <a:lnTo>
                  <a:pt x="4705350" y="947738"/>
                </a:lnTo>
                <a:lnTo>
                  <a:pt x="0" y="9477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6" id="116"/>
          <p:cNvGrpSpPr/>
          <p:nvPr/>
        </p:nvGrpSpPr>
        <p:grpSpPr>
          <a:xfrm rot="0">
            <a:off x="8029575" y="6286500"/>
            <a:ext cx="4429125" cy="285750"/>
            <a:chOff x="0" y="0"/>
            <a:chExt cx="5905500" cy="3810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905500" cy="381000"/>
            </a:xfrm>
            <a:custGeom>
              <a:avLst/>
              <a:gdLst/>
              <a:ahLst/>
              <a:cxnLst/>
              <a:rect r="r" b="b" t="t" l="l"/>
              <a:pathLst>
                <a:path h="3810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5905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Product_importance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8029575" y="6629400"/>
            <a:ext cx="4414838" cy="228600"/>
            <a:chOff x="0" y="0"/>
            <a:chExt cx="5886450" cy="3048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886450" cy="304800"/>
            </a:xfrm>
            <a:custGeom>
              <a:avLst/>
              <a:gdLst/>
              <a:ahLst/>
              <a:cxnLst/>
              <a:rect r="r" b="b" t="t" l="l"/>
              <a:pathLst>
                <a:path h="3048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6304" r="0" b="-32630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588645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Importancia del producto</a:t>
              </a:r>
            </a:p>
          </p:txBody>
        </p:sp>
      </p:grpSp>
      <p:sp>
        <p:nvSpPr>
          <p:cNvPr name="Freeform 122" id="122"/>
          <p:cNvSpPr/>
          <p:nvPr/>
        </p:nvSpPr>
        <p:spPr>
          <a:xfrm flipH="false" flipV="false" rot="0">
            <a:off x="12713494" y="6098381"/>
            <a:ext cx="4705350" cy="947738"/>
          </a:xfrm>
          <a:custGeom>
            <a:avLst/>
            <a:gdLst/>
            <a:ahLst/>
            <a:cxnLst/>
            <a:rect r="r" b="b" t="t" l="l"/>
            <a:pathLst>
              <a:path h="947738" w="4705350">
                <a:moveTo>
                  <a:pt x="0" y="0"/>
                </a:moveTo>
                <a:lnTo>
                  <a:pt x="4705350" y="0"/>
                </a:lnTo>
                <a:lnTo>
                  <a:pt x="4705350" y="947738"/>
                </a:lnTo>
                <a:lnTo>
                  <a:pt x="0" y="9477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3" id="123"/>
          <p:cNvGrpSpPr/>
          <p:nvPr/>
        </p:nvGrpSpPr>
        <p:grpSpPr>
          <a:xfrm rot="0">
            <a:off x="12901612" y="6286500"/>
            <a:ext cx="4429125" cy="285750"/>
            <a:chOff x="0" y="0"/>
            <a:chExt cx="5905500" cy="3810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905500" cy="381000"/>
            </a:xfrm>
            <a:custGeom>
              <a:avLst/>
              <a:gdLst/>
              <a:ahLst/>
              <a:cxnLst/>
              <a:rect r="r" b="b" t="t" l="l"/>
              <a:pathLst>
                <a:path h="3810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5905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Prior_purchases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2901612" y="6629400"/>
            <a:ext cx="4414838" cy="228600"/>
            <a:chOff x="0" y="0"/>
            <a:chExt cx="5886450" cy="3048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886450" cy="304800"/>
            </a:xfrm>
            <a:custGeom>
              <a:avLst/>
              <a:gdLst/>
              <a:ahLst/>
              <a:cxnLst/>
              <a:rect r="r" b="b" t="t" l="l"/>
              <a:pathLst>
                <a:path h="3048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6304" r="0" b="-326304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9525"/>
              <a:ext cx="588645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Compras previas</a:t>
              </a:r>
            </a:p>
          </p:txBody>
        </p:sp>
      </p:grpSp>
      <p:sp>
        <p:nvSpPr>
          <p:cNvPr name="Freeform 129" id="129"/>
          <p:cNvSpPr/>
          <p:nvPr/>
        </p:nvSpPr>
        <p:spPr>
          <a:xfrm flipH="false" flipV="false" rot="0">
            <a:off x="7841456" y="7212806"/>
            <a:ext cx="4705350" cy="947738"/>
          </a:xfrm>
          <a:custGeom>
            <a:avLst/>
            <a:gdLst/>
            <a:ahLst/>
            <a:cxnLst/>
            <a:rect r="r" b="b" t="t" l="l"/>
            <a:pathLst>
              <a:path h="947738" w="4705350">
                <a:moveTo>
                  <a:pt x="0" y="0"/>
                </a:moveTo>
                <a:lnTo>
                  <a:pt x="4705350" y="0"/>
                </a:lnTo>
                <a:lnTo>
                  <a:pt x="4705350" y="947738"/>
                </a:lnTo>
                <a:lnTo>
                  <a:pt x="0" y="9477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0" id="130"/>
          <p:cNvGrpSpPr/>
          <p:nvPr/>
        </p:nvGrpSpPr>
        <p:grpSpPr>
          <a:xfrm rot="0">
            <a:off x="8029575" y="7400925"/>
            <a:ext cx="4429125" cy="285750"/>
            <a:chOff x="0" y="0"/>
            <a:chExt cx="5905500" cy="3810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905500" cy="381000"/>
            </a:xfrm>
            <a:custGeom>
              <a:avLst/>
              <a:gdLst/>
              <a:ahLst/>
              <a:cxnLst/>
              <a:rect r="r" b="b" t="t" l="l"/>
              <a:pathLst>
                <a:path h="3810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5905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Discount_offered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8029575" y="7743825"/>
            <a:ext cx="4414838" cy="228600"/>
            <a:chOff x="0" y="0"/>
            <a:chExt cx="5886450" cy="3048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5886450" cy="304800"/>
            </a:xfrm>
            <a:custGeom>
              <a:avLst/>
              <a:gdLst/>
              <a:ahLst/>
              <a:cxnLst/>
              <a:rect r="r" b="b" t="t" l="l"/>
              <a:pathLst>
                <a:path h="3048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6304" r="0" b="-326304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9525"/>
              <a:ext cx="588645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Descuento ofrecido</a:t>
              </a:r>
            </a:p>
          </p:txBody>
        </p:sp>
      </p:grpSp>
      <p:sp>
        <p:nvSpPr>
          <p:cNvPr name="Freeform 136" id="136"/>
          <p:cNvSpPr/>
          <p:nvPr/>
        </p:nvSpPr>
        <p:spPr>
          <a:xfrm flipH="false" flipV="false" rot="0">
            <a:off x="12713494" y="7212806"/>
            <a:ext cx="4705350" cy="947738"/>
          </a:xfrm>
          <a:custGeom>
            <a:avLst/>
            <a:gdLst/>
            <a:ahLst/>
            <a:cxnLst/>
            <a:rect r="r" b="b" t="t" l="l"/>
            <a:pathLst>
              <a:path h="947738" w="4705350">
                <a:moveTo>
                  <a:pt x="0" y="0"/>
                </a:moveTo>
                <a:lnTo>
                  <a:pt x="4705350" y="0"/>
                </a:lnTo>
                <a:lnTo>
                  <a:pt x="4705350" y="947738"/>
                </a:lnTo>
                <a:lnTo>
                  <a:pt x="0" y="94773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7" id="137"/>
          <p:cNvGrpSpPr/>
          <p:nvPr/>
        </p:nvGrpSpPr>
        <p:grpSpPr>
          <a:xfrm rot="0">
            <a:off x="12901612" y="7400925"/>
            <a:ext cx="4429125" cy="285750"/>
            <a:chOff x="0" y="0"/>
            <a:chExt cx="5905500" cy="3810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5905500" cy="381000"/>
            </a:xfrm>
            <a:custGeom>
              <a:avLst/>
              <a:gdLst/>
              <a:ahLst/>
              <a:cxnLst/>
              <a:rect r="r" b="b" t="t" l="l"/>
              <a:pathLst>
                <a:path h="3810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5905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Weight_in_gms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2901612" y="7743825"/>
            <a:ext cx="4414838" cy="228600"/>
            <a:chOff x="0" y="0"/>
            <a:chExt cx="5886450" cy="3048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886450" cy="304800"/>
            </a:xfrm>
            <a:custGeom>
              <a:avLst/>
              <a:gdLst/>
              <a:ahLst/>
              <a:cxnLst/>
              <a:rect r="r" b="b" t="t" l="l"/>
              <a:pathLst>
                <a:path h="304800" w="5886450">
                  <a:moveTo>
                    <a:pt x="0" y="0"/>
                  </a:moveTo>
                  <a:lnTo>
                    <a:pt x="5886450" y="0"/>
                  </a:lnTo>
                  <a:lnTo>
                    <a:pt x="588645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6304" r="0" b="-326304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9525"/>
              <a:ext cx="588645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Peso en gramos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2270" y="702840"/>
            <a:ext cx="562270" cy="562270"/>
            <a:chOff x="0" y="0"/>
            <a:chExt cx="749694" cy="7496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9808" cy="749808"/>
            </a:xfrm>
            <a:custGeom>
              <a:avLst/>
              <a:gdLst/>
              <a:ahLst/>
              <a:cxnLst/>
              <a:rect r="r" b="b" t="t" l="l"/>
              <a:pathLst>
                <a:path h="749808" w="749808">
                  <a:moveTo>
                    <a:pt x="149987" y="0"/>
                  </a:moveTo>
                  <a:lnTo>
                    <a:pt x="599821" y="0"/>
                  </a:lnTo>
                  <a:cubicBezTo>
                    <a:pt x="682625" y="0"/>
                    <a:pt x="749808" y="67183"/>
                    <a:pt x="749808" y="149987"/>
                  </a:cubicBezTo>
                  <a:lnTo>
                    <a:pt x="749808" y="599821"/>
                  </a:lnTo>
                  <a:cubicBezTo>
                    <a:pt x="749808" y="682625"/>
                    <a:pt x="682625" y="749808"/>
                    <a:pt x="599821" y="749808"/>
                  </a:cubicBezTo>
                  <a:lnTo>
                    <a:pt x="149987" y="749808"/>
                  </a:lnTo>
                  <a:cubicBezTo>
                    <a:pt x="67183" y="749681"/>
                    <a:pt x="0" y="682625"/>
                    <a:pt x="0" y="599821"/>
                  </a:cubicBezTo>
                  <a:lnTo>
                    <a:pt x="0" y="149987"/>
                  </a:lnTo>
                  <a:cubicBezTo>
                    <a:pt x="0" y="67183"/>
                    <a:pt x="67183" y="0"/>
                    <a:pt x="149987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88791" y="857469"/>
            <a:ext cx="316278" cy="253022"/>
          </a:xfrm>
          <a:custGeom>
            <a:avLst/>
            <a:gdLst/>
            <a:ahLst/>
            <a:cxnLst/>
            <a:rect r="r" b="b" t="t" l="l"/>
            <a:pathLst>
              <a:path h="253022" w="316278">
                <a:moveTo>
                  <a:pt x="0" y="0"/>
                </a:moveTo>
                <a:lnTo>
                  <a:pt x="316277" y="0"/>
                </a:lnTo>
                <a:lnTo>
                  <a:pt x="316277" y="253022"/>
                </a:lnTo>
                <a:lnTo>
                  <a:pt x="0" y="2530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93228" y="562270"/>
            <a:ext cx="4863684" cy="281140"/>
            <a:chOff x="0" y="0"/>
            <a:chExt cx="6484912" cy="3748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84906" cy="374850"/>
            </a:xfrm>
            <a:custGeom>
              <a:avLst/>
              <a:gdLst/>
              <a:ahLst/>
              <a:cxnLst/>
              <a:rect r="r" b="b" t="t" l="l"/>
              <a:pathLst>
                <a:path h="374850" w="6484906">
                  <a:moveTo>
                    <a:pt x="0" y="0"/>
                  </a:moveTo>
                  <a:lnTo>
                    <a:pt x="6484906" y="0"/>
                  </a:lnTo>
                  <a:lnTo>
                    <a:pt x="6484906" y="374850"/>
                  </a:lnTo>
                  <a:lnTo>
                    <a:pt x="0" y="3748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7091" r="0" b="-28709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484912" cy="412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b="true" sz="1549" spc="78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Ingeniería de Características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93228" y="843410"/>
            <a:ext cx="5018303" cy="562270"/>
            <a:chOff x="0" y="0"/>
            <a:chExt cx="6691071" cy="7496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91074" cy="749700"/>
            </a:xfrm>
            <a:custGeom>
              <a:avLst/>
              <a:gdLst/>
              <a:ahLst/>
              <a:cxnLst/>
              <a:rect r="r" b="b" t="t" l="l"/>
              <a:pathLst>
                <a:path h="749700" w="6691074">
                  <a:moveTo>
                    <a:pt x="0" y="0"/>
                  </a:moveTo>
                  <a:lnTo>
                    <a:pt x="6691074" y="0"/>
                  </a:lnTo>
                  <a:lnTo>
                    <a:pt x="6691074" y="749700"/>
                  </a:lnTo>
                  <a:lnTo>
                    <a:pt x="0" y="7497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3904" r="0" b="-12390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6691071" cy="7115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02"/>
                </a:lnSpc>
              </a:pPr>
              <a:r>
                <a:rPr lang="en-US" sz="3984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Preparación de Datos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2270" y="1518142"/>
            <a:ext cx="17275902" cy="337366"/>
            <a:chOff x="0" y="0"/>
            <a:chExt cx="23034536" cy="4498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34540" cy="449820"/>
            </a:xfrm>
            <a:custGeom>
              <a:avLst/>
              <a:gdLst/>
              <a:ahLst/>
              <a:cxnLst/>
              <a:rect r="r" b="b" t="t" l="l"/>
              <a:pathLst>
                <a:path h="449820" w="23034540">
                  <a:moveTo>
                    <a:pt x="0" y="0"/>
                  </a:moveTo>
                  <a:lnTo>
                    <a:pt x="23034540" y="0"/>
                  </a:lnTo>
                  <a:lnTo>
                    <a:pt x="23034540" y="449820"/>
                  </a:lnTo>
                  <a:lnTo>
                    <a:pt x="0" y="4498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7796" r="0" b="-94779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3034536" cy="516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3"/>
                </a:lnSpc>
              </a:pPr>
              <a:r>
                <a:rPr lang="en-US" sz="1771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Transformación y limpieza de variables para optimizar el rendimiento de los modelos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59775" y="2134152"/>
            <a:ext cx="8453180" cy="5177923"/>
          </a:xfrm>
          <a:custGeom>
            <a:avLst/>
            <a:gdLst/>
            <a:ahLst/>
            <a:cxnLst/>
            <a:rect r="r" b="b" t="t" l="l"/>
            <a:pathLst>
              <a:path h="5177923" w="8453180">
                <a:moveTo>
                  <a:pt x="0" y="0"/>
                </a:moveTo>
                <a:lnTo>
                  <a:pt x="8453180" y="0"/>
                </a:lnTo>
                <a:lnTo>
                  <a:pt x="8453180" y="5177924"/>
                </a:lnTo>
                <a:lnTo>
                  <a:pt x="0" y="5177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08428" y="2502122"/>
            <a:ext cx="221399" cy="253022"/>
          </a:xfrm>
          <a:custGeom>
            <a:avLst/>
            <a:gdLst/>
            <a:ahLst/>
            <a:cxnLst/>
            <a:rect r="r" b="b" t="t" l="l"/>
            <a:pathLst>
              <a:path h="253022" w="221399">
                <a:moveTo>
                  <a:pt x="0" y="0"/>
                </a:moveTo>
                <a:lnTo>
                  <a:pt x="221399" y="0"/>
                </a:lnTo>
                <a:lnTo>
                  <a:pt x="221399" y="253022"/>
                </a:lnTo>
                <a:lnTo>
                  <a:pt x="0" y="2530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80776" y="2431837"/>
            <a:ext cx="7660996" cy="393592"/>
            <a:chOff x="0" y="0"/>
            <a:chExt cx="10214661" cy="5247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14666" cy="524790"/>
            </a:xfrm>
            <a:custGeom>
              <a:avLst/>
              <a:gdLst/>
              <a:ahLst/>
              <a:cxnLst/>
              <a:rect r="r" b="b" t="t" l="l"/>
              <a:pathLst>
                <a:path h="524790" w="10214666">
                  <a:moveTo>
                    <a:pt x="0" y="0"/>
                  </a:moveTo>
                  <a:lnTo>
                    <a:pt x="10214666" y="0"/>
                  </a:lnTo>
                  <a:lnTo>
                    <a:pt x="10214666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9262" r="0" b="-32926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214661" cy="591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7"/>
                </a:lnSpc>
              </a:pPr>
              <a:r>
                <a:rPr lang="en-US" sz="1992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Variables Eliminadas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54974" y="3047848"/>
            <a:ext cx="7862792" cy="1213885"/>
          </a:xfrm>
          <a:custGeom>
            <a:avLst/>
            <a:gdLst/>
            <a:ahLst/>
            <a:cxnLst/>
            <a:rect r="r" b="b" t="t" l="l"/>
            <a:pathLst>
              <a:path h="1213885" w="7862792">
                <a:moveTo>
                  <a:pt x="0" y="0"/>
                </a:moveTo>
                <a:lnTo>
                  <a:pt x="7862792" y="0"/>
                </a:lnTo>
                <a:lnTo>
                  <a:pt x="7862792" y="1213885"/>
                </a:lnTo>
                <a:lnTo>
                  <a:pt x="0" y="1213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96432" y="3289306"/>
            <a:ext cx="323307" cy="337366"/>
            <a:chOff x="0" y="0"/>
            <a:chExt cx="431076" cy="4498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1078" cy="449820"/>
            </a:xfrm>
            <a:custGeom>
              <a:avLst/>
              <a:gdLst/>
              <a:ahLst/>
              <a:cxnLst/>
              <a:rect r="r" b="b" t="t" l="l"/>
              <a:pathLst>
                <a:path h="449820" w="431078">
                  <a:moveTo>
                    <a:pt x="0" y="0"/>
                  </a:moveTo>
                  <a:lnTo>
                    <a:pt x="431078" y="0"/>
                  </a:lnTo>
                  <a:lnTo>
                    <a:pt x="431078" y="449820"/>
                  </a:lnTo>
                  <a:lnTo>
                    <a:pt x="0" y="4498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3882" t="0" r="-8388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431076" cy="516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3"/>
                </a:lnSpc>
              </a:pPr>
              <a:r>
                <a:rPr lang="en-US" sz="1771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82275" y="3289306"/>
            <a:ext cx="1082383" cy="337366"/>
            <a:chOff x="0" y="0"/>
            <a:chExt cx="1443177" cy="4498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3101" cy="449834"/>
            </a:xfrm>
            <a:custGeom>
              <a:avLst/>
              <a:gdLst/>
              <a:ahLst/>
              <a:cxnLst/>
              <a:rect r="r" b="b" t="t" l="l"/>
              <a:pathLst>
                <a:path h="449834" w="1443101">
                  <a:moveTo>
                    <a:pt x="74930" y="0"/>
                  </a:moveTo>
                  <a:lnTo>
                    <a:pt x="1368171" y="0"/>
                  </a:lnTo>
                  <a:cubicBezTo>
                    <a:pt x="1409573" y="0"/>
                    <a:pt x="1443101" y="33528"/>
                    <a:pt x="1443101" y="74930"/>
                  </a:cubicBezTo>
                  <a:lnTo>
                    <a:pt x="1443101" y="374904"/>
                  </a:lnTo>
                  <a:cubicBezTo>
                    <a:pt x="1443101" y="416306"/>
                    <a:pt x="1409573" y="449834"/>
                    <a:pt x="1368171" y="449834"/>
                  </a:cubicBezTo>
                  <a:lnTo>
                    <a:pt x="74930" y="449834"/>
                  </a:lnTo>
                  <a:cubicBezTo>
                    <a:pt x="33528" y="449834"/>
                    <a:pt x="0" y="416179"/>
                    <a:pt x="0" y="374904"/>
                  </a:cubicBezTo>
                  <a:lnTo>
                    <a:pt x="0" y="74930"/>
                  </a:lnTo>
                  <a:cubicBezTo>
                    <a:pt x="0" y="33528"/>
                    <a:pt x="33528" y="0"/>
                    <a:pt x="74930" y="0"/>
                  </a:cubicBezTo>
                  <a:close/>
                </a:path>
              </a:pathLst>
            </a:custGeom>
            <a:solidFill>
              <a:srgbClr val="FF6467">
                <a:alpha val="3922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436549" y="3287469"/>
            <a:ext cx="1166717" cy="337365"/>
            <a:chOff x="0" y="0"/>
            <a:chExt cx="1555623" cy="4498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55628" cy="449819"/>
            </a:xfrm>
            <a:custGeom>
              <a:avLst/>
              <a:gdLst/>
              <a:ahLst/>
              <a:cxnLst/>
              <a:rect r="r" b="b" t="t" l="l"/>
              <a:pathLst>
                <a:path h="449819" w="1555628">
                  <a:moveTo>
                    <a:pt x="0" y="0"/>
                  </a:moveTo>
                  <a:lnTo>
                    <a:pt x="1555628" y="0"/>
                  </a:lnTo>
                  <a:lnTo>
                    <a:pt x="1555628" y="449819"/>
                  </a:lnTo>
                  <a:lnTo>
                    <a:pt x="0" y="4498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385" r="0" b="-1738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555623" cy="459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2"/>
                </a:lnSpc>
              </a:pPr>
              <a:r>
                <a:rPr lang="en-US" sz="1327" b="true">
                  <a:solidFill>
                    <a:srgbClr val="FF646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REMOVIDA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6432" y="3739134"/>
            <a:ext cx="7478258" cy="281140"/>
            <a:chOff x="0" y="0"/>
            <a:chExt cx="9971011" cy="3748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71014" cy="374850"/>
            </a:xfrm>
            <a:custGeom>
              <a:avLst/>
              <a:gdLst/>
              <a:ahLst/>
              <a:cxnLst/>
              <a:rect r="r" b="b" t="t" l="l"/>
              <a:pathLst>
                <a:path h="374850" w="9971014">
                  <a:moveTo>
                    <a:pt x="0" y="0"/>
                  </a:moveTo>
                  <a:lnTo>
                    <a:pt x="9971014" y="0"/>
                  </a:lnTo>
                  <a:lnTo>
                    <a:pt x="9971014" y="374850"/>
                  </a:lnTo>
                  <a:lnTo>
                    <a:pt x="0" y="3748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8301" r="0" b="-46830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971011" cy="412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Identificador único sin valor predictivo para el modelo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54974" y="4425420"/>
            <a:ext cx="7862792" cy="1213885"/>
          </a:xfrm>
          <a:custGeom>
            <a:avLst/>
            <a:gdLst/>
            <a:ahLst/>
            <a:cxnLst/>
            <a:rect r="r" b="b" t="t" l="l"/>
            <a:pathLst>
              <a:path h="1213885" w="7862792">
                <a:moveTo>
                  <a:pt x="0" y="0"/>
                </a:moveTo>
                <a:lnTo>
                  <a:pt x="7862792" y="0"/>
                </a:lnTo>
                <a:lnTo>
                  <a:pt x="7862792" y="1213885"/>
                </a:lnTo>
                <a:lnTo>
                  <a:pt x="0" y="1213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096432" y="4666888"/>
            <a:ext cx="843410" cy="337366"/>
            <a:chOff x="0" y="0"/>
            <a:chExt cx="1124547" cy="44982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24550" cy="449820"/>
            </a:xfrm>
            <a:custGeom>
              <a:avLst/>
              <a:gdLst/>
              <a:ahLst/>
              <a:cxnLst/>
              <a:rect r="r" b="b" t="t" l="l"/>
              <a:pathLst>
                <a:path h="449820" w="1124550">
                  <a:moveTo>
                    <a:pt x="0" y="0"/>
                  </a:moveTo>
                  <a:lnTo>
                    <a:pt x="1124550" y="0"/>
                  </a:lnTo>
                  <a:lnTo>
                    <a:pt x="1124550" y="449820"/>
                  </a:lnTo>
                  <a:lnTo>
                    <a:pt x="0" y="4498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1124547" cy="516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3"/>
                </a:lnSpc>
              </a:pPr>
              <a:r>
                <a:rPr lang="en-US" sz="1771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Gender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382275" y="4666888"/>
            <a:ext cx="1082383" cy="337366"/>
            <a:chOff x="0" y="0"/>
            <a:chExt cx="1443177" cy="44982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43101" cy="449834"/>
            </a:xfrm>
            <a:custGeom>
              <a:avLst/>
              <a:gdLst/>
              <a:ahLst/>
              <a:cxnLst/>
              <a:rect r="r" b="b" t="t" l="l"/>
              <a:pathLst>
                <a:path h="449834" w="1443101">
                  <a:moveTo>
                    <a:pt x="74930" y="0"/>
                  </a:moveTo>
                  <a:lnTo>
                    <a:pt x="1368171" y="0"/>
                  </a:lnTo>
                  <a:cubicBezTo>
                    <a:pt x="1409573" y="0"/>
                    <a:pt x="1443101" y="33528"/>
                    <a:pt x="1443101" y="74930"/>
                  </a:cubicBezTo>
                  <a:lnTo>
                    <a:pt x="1443101" y="374904"/>
                  </a:lnTo>
                  <a:cubicBezTo>
                    <a:pt x="1443101" y="416306"/>
                    <a:pt x="1409573" y="449834"/>
                    <a:pt x="1368171" y="449834"/>
                  </a:cubicBezTo>
                  <a:lnTo>
                    <a:pt x="74930" y="449834"/>
                  </a:lnTo>
                  <a:cubicBezTo>
                    <a:pt x="33528" y="449834"/>
                    <a:pt x="0" y="416179"/>
                    <a:pt x="0" y="374904"/>
                  </a:cubicBezTo>
                  <a:lnTo>
                    <a:pt x="0" y="74930"/>
                  </a:lnTo>
                  <a:cubicBezTo>
                    <a:pt x="0" y="33528"/>
                    <a:pt x="33528" y="0"/>
                    <a:pt x="74930" y="0"/>
                  </a:cubicBezTo>
                  <a:close/>
                </a:path>
              </a:pathLst>
            </a:custGeom>
            <a:solidFill>
              <a:srgbClr val="FF6467">
                <a:alpha val="3922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436549" y="4666888"/>
            <a:ext cx="1166717" cy="337366"/>
            <a:chOff x="0" y="0"/>
            <a:chExt cx="1555623" cy="44982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55628" cy="449820"/>
            </a:xfrm>
            <a:custGeom>
              <a:avLst/>
              <a:gdLst/>
              <a:ahLst/>
              <a:cxnLst/>
              <a:rect r="r" b="b" t="t" l="l"/>
              <a:pathLst>
                <a:path h="449820" w="1555628">
                  <a:moveTo>
                    <a:pt x="0" y="0"/>
                  </a:moveTo>
                  <a:lnTo>
                    <a:pt x="1555628" y="0"/>
                  </a:lnTo>
                  <a:lnTo>
                    <a:pt x="1555628" y="449820"/>
                  </a:lnTo>
                  <a:lnTo>
                    <a:pt x="0" y="4498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385" r="0" b="-1738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555623" cy="459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2"/>
                </a:lnSpc>
              </a:pPr>
              <a:r>
                <a:rPr lang="en-US" sz="1327" b="true">
                  <a:solidFill>
                    <a:srgbClr val="FF646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REMOVIDA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96432" y="5116706"/>
            <a:ext cx="7478258" cy="281140"/>
            <a:chOff x="0" y="0"/>
            <a:chExt cx="9971011" cy="37485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971014" cy="374850"/>
            </a:xfrm>
            <a:custGeom>
              <a:avLst/>
              <a:gdLst/>
              <a:ahLst/>
              <a:cxnLst/>
              <a:rect r="r" b="b" t="t" l="l"/>
              <a:pathLst>
                <a:path h="374850" w="9971014">
                  <a:moveTo>
                    <a:pt x="0" y="0"/>
                  </a:moveTo>
                  <a:lnTo>
                    <a:pt x="9971014" y="0"/>
                  </a:lnTo>
                  <a:lnTo>
                    <a:pt x="9971014" y="374850"/>
                  </a:lnTo>
                  <a:lnTo>
                    <a:pt x="0" y="3748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8301" r="0" b="-46830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971011" cy="412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Bajo valor predictivo identificado en análisis preliminar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854974" y="5802992"/>
            <a:ext cx="7862792" cy="1213885"/>
          </a:xfrm>
          <a:custGeom>
            <a:avLst/>
            <a:gdLst/>
            <a:ahLst/>
            <a:cxnLst/>
            <a:rect r="r" b="b" t="t" l="l"/>
            <a:pathLst>
              <a:path h="1213885" w="7862792">
                <a:moveTo>
                  <a:pt x="0" y="0"/>
                </a:moveTo>
                <a:lnTo>
                  <a:pt x="7862792" y="0"/>
                </a:lnTo>
                <a:lnTo>
                  <a:pt x="7862792" y="1213885"/>
                </a:lnTo>
                <a:lnTo>
                  <a:pt x="0" y="1213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096432" y="5911160"/>
            <a:ext cx="2434727" cy="713923"/>
            <a:chOff x="0" y="0"/>
            <a:chExt cx="3246302" cy="95189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46305" cy="951894"/>
            </a:xfrm>
            <a:custGeom>
              <a:avLst/>
              <a:gdLst/>
              <a:ahLst/>
              <a:cxnLst/>
              <a:rect r="r" b="b" t="t" l="l"/>
              <a:pathLst>
                <a:path h="951894" w="3246305">
                  <a:moveTo>
                    <a:pt x="0" y="0"/>
                  </a:moveTo>
                  <a:lnTo>
                    <a:pt x="3246305" y="0"/>
                  </a:lnTo>
                  <a:lnTo>
                    <a:pt x="3246305" y="951894"/>
                  </a:lnTo>
                  <a:lnTo>
                    <a:pt x="0" y="95189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630" r="24367" b="2611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3246302" cy="10185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3"/>
                </a:lnSpc>
              </a:pPr>
              <a:r>
                <a:rPr lang="en-US" sz="1771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Discount_offered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382275" y="6044460"/>
            <a:ext cx="1082383" cy="337366"/>
            <a:chOff x="0" y="0"/>
            <a:chExt cx="1443177" cy="44982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43101" cy="449834"/>
            </a:xfrm>
            <a:custGeom>
              <a:avLst/>
              <a:gdLst/>
              <a:ahLst/>
              <a:cxnLst/>
              <a:rect r="r" b="b" t="t" l="l"/>
              <a:pathLst>
                <a:path h="449834" w="1443101">
                  <a:moveTo>
                    <a:pt x="74930" y="0"/>
                  </a:moveTo>
                  <a:lnTo>
                    <a:pt x="1368171" y="0"/>
                  </a:lnTo>
                  <a:cubicBezTo>
                    <a:pt x="1409573" y="0"/>
                    <a:pt x="1443101" y="33528"/>
                    <a:pt x="1443101" y="74930"/>
                  </a:cubicBezTo>
                  <a:lnTo>
                    <a:pt x="1443101" y="374904"/>
                  </a:lnTo>
                  <a:cubicBezTo>
                    <a:pt x="1443101" y="416306"/>
                    <a:pt x="1409573" y="449834"/>
                    <a:pt x="1368171" y="449834"/>
                  </a:cubicBezTo>
                  <a:lnTo>
                    <a:pt x="74930" y="449834"/>
                  </a:lnTo>
                  <a:cubicBezTo>
                    <a:pt x="33528" y="449834"/>
                    <a:pt x="0" y="416179"/>
                    <a:pt x="0" y="374904"/>
                  </a:cubicBezTo>
                  <a:lnTo>
                    <a:pt x="0" y="74930"/>
                  </a:lnTo>
                  <a:cubicBezTo>
                    <a:pt x="0" y="33528"/>
                    <a:pt x="33528" y="0"/>
                    <a:pt x="74930" y="0"/>
                  </a:cubicBezTo>
                  <a:close/>
                </a:path>
              </a:pathLst>
            </a:custGeom>
            <a:solidFill>
              <a:srgbClr val="FF6467">
                <a:alpha val="3922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417499" y="6044460"/>
            <a:ext cx="1166717" cy="337365"/>
            <a:chOff x="0" y="0"/>
            <a:chExt cx="1555623" cy="4498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55628" cy="449819"/>
            </a:xfrm>
            <a:custGeom>
              <a:avLst/>
              <a:gdLst/>
              <a:ahLst/>
              <a:cxnLst/>
              <a:rect r="r" b="b" t="t" l="l"/>
              <a:pathLst>
                <a:path h="449819" w="1555628">
                  <a:moveTo>
                    <a:pt x="0" y="0"/>
                  </a:moveTo>
                  <a:lnTo>
                    <a:pt x="1555628" y="0"/>
                  </a:lnTo>
                  <a:lnTo>
                    <a:pt x="1555628" y="449819"/>
                  </a:lnTo>
                  <a:lnTo>
                    <a:pt x="0" y="4498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385" r="0" b="-1738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555623" cy="459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2"/>
                </a:lnSpc>
              </a:pPr>
              <a:r>
                <a:rPr lang="en-US" sz="1327" b="true">
                  <a:solidFill>
                    <a:srgbClr val="FF646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REMOVIDA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96432" y="6494278"/>
            <a:ext cx="7478258" cy="281140"/>
            <a:chOff x="0" y="0"/>
            <a:chExt cx="9971011" cy="37485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971014" cy="374850"/>
            </a:xfrm>
            <a:custGeom>
              <a:avLst/>
              <a:gdLst/>
              <a:ahLst/>
              <a:cxnLst/>
              <a:rect r="r" b="b" t="t" l="l"/>
              <a:pathLst>
                <a:path h="374850" w="9971014">
                  <a:moveTo>
                    <a:pt x="0" y="0"/>
                  </a:moveTo>
                  <a:lnTo>
                    <a:pt x="9971014" y="0"/>
                  </a:lnTo>
                  <a:lnTo>
                    <a:pt x="9971014" y="374850"/>
                  </a:lnTo>
                  <a:lnTo>
                    <a:pt x="0" y="3748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8301" r="0" b="-46830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971011" cy="412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Bajo valor predictivo después de análisis de correlación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559775" y="7531989"/>
            <a:ext cx="8453180" cy="2760145"/>
          </a:xfrm>
          <a:custGeom>
            <a:avLst/>
            <a:gdLst/>
            <a:ahLst/>
            <a:cxnLst/>
            <a:rect r="r" b="b" t="t" l="l"/>
            <a:pathLst>
              <a:path h="2760145" w="8453180">
                <a:moveTo>
                  <a:pt x="0" y="0"/>
                </a:moveTo>
                <a:lnTo>
                  <a:pt x="8453180" y="0"/>
                </a:lnTo>
                <a:lnTo>
                  <a:pt x="8453180" y="2760145"/>
                </a:lnTo>
                <a:lnTo>
                  <a:pt x="0" y="27601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892616" y="7899968"/>
            <a:ext cx="253022" cy="253022"/>
          </a:xfrm>
          <a:custGeom>
            <a:avLst/>
            <a:gdLst/>
            <a:ahLst/>
            <a:cxnLst/>
            <a:rect r="r" b="b" t="t" l="l"/>
            <a:pathLst>
              <a:path h="253022" w="253022">
                <a:moveTo>
                  <a:pt x="0" y="0"/>
                </a:moveTo>
                <a:lnTo>
                  <a:pt x="253022" y="0"/>
                </a:lnTo>
                <a:lnTo>
                  <a:pt x="253022" y="253022"/>
                </a:lnTo>
                <a:lnTo>
                  <a:pt x="0" y="2530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180776" y="7829683"/>
            <a:ext cx="7660996" cy="393592"/>
            <a:chOff x="0" y="0"/>
            <a:chExt cx="10214661" cy="52478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14666" cy="524790"/>
            </a:xfrm>
            <a:custGeom>
              <a:avLst/>
              <a:gdLst/>
              <a:ahLst/>
              <a:cxnLst/>
              <a:rect r="r" b="b" t="t" l="l"/>
              <a:pathLst>
                <a:path h="524790" w="10214666">
                  <a:moveTo>
                    <a:pt x="0" y="0"/>
                  </a:moveTo>
                  <a:lnTo>
                    <a:pt x="10214666" y="0"/>
                  </a:lnTo>
                  <a:lnTo>
                    <a:pt x="10214666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9262" r="0" b="-32926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66675"/>
              <a:ext cx="10214661" cy="591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7"/>
                </a:lnSpc>
              </a:pPr>
              <a:r>
                <a:rPr lang="en-US" sz="1992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Variable Creada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854974" y="8389458"/>
            <a:ext cx="7862792" cy="1607477"/>
          </a:xfrm>
          <a:custGeom>
            <a:avLst/>
            <a:gdLst/>
            <a:ahLst/>
            <a:cxnLst/>
            <a:rect r="r" b="b" t="t" l="l"/>
            <a:pathLst>
              <a:path h="1607477" w="7862792">
                <a:moveTo>
                  <a:pt x="0" y="0"/>
                </a:moveTo>
                <a:lnTo>
                  <a:pt x="7862792" y="0"/>
                </a:lnTo>
                <a:lnTo>
                  <a:pt x="7862792" y="1607477"/>
                </a:lnTo>
                <a:lnTo>
                  <a:pt x="0" y="160747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1096432" y="8442350"/>
            <a:ext cx="2167646" cy="730958"/>
            <a:chOff x="0" y="0"/>
            <a:chExt cx="2890194" cy="97461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890197" cy="974608"/>
            </a:xfrm>
            <a:custGeom>
              <a:avLst/>
              <a:gdLst/>
              <a:ahLst/>
              <a:cxnLst/>
              <a:rect r="r" b="b" t="t" l="l"/>
              <a:pathLst>
                <a:path h="974608" w="2890197">
                  <a:moveTo>
                    <a:pt x="0" y="0"/>
                  </a:moveTo>
                  <a:lnTo>
                    <a:pt x="2890197" y="0"/>
                  </a:lnTo>
                  <a:lnTo>
                    <a:pt x="2890197" y="974608"/>
                  </a:lnTo>
                  <a:lnTo>
                    <a:pt x="0" y="97460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890" r="27369" b="3495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2890194" cy="1041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3"/>
                </a:lnSpc>
              </a:pPr>
              <a:r>
                <a:rPr lang="en-US" sz="1771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High_Discount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679007" y="8630926"/>
            <a:ext cx="787184" cy="337366"/>
            <a:chOff x="0" y="0"/>
            <a:chExt cx="1049579" cy="44982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9528" cy="449834"/>
            </a:xfrm>
            <a:custGeom>
              <a:avLst/>
              <a:gdLst/>
              <a:ahLst/>
              <a:cxnLst/>
              <a:rect r="r" b="b" t="t" l="l"/>
              <a:pathLst>
                <a:path h="449834" w="1049528">
                  <a:moveTo>
                    <a:pt x="74930" y="0"/>
                  </a:moveTo>
                  <a:lnTo>
                    <a:pt x="974598" y="0"/>
                  </a:lnTo>
                  <a:cubicBezTo>
                    <a:pt x="1016000" y="0"/>
                    <a:pt x="1049528" y="33528"/>
                    <a:pt x="1049528" y="74930"/>
                  </a:cubicBezTo>
                  <a:lnTo>
                    <a:pt x="1049528" y="374904"/>
                  </a:lnTo>
                  <a:cubicBezTo>
                    <a:pt x="1049528" y="416306"/>
                    <a:pt x="1016000" y="449834"/>
                    <a:pt x="974598" y="449834"/>
                  </a:cubicBezTo>
                  <a:lnTo>
                    <a:pt x="74930" y="449834"/>
                  </a:lnTo>
                  <a:cubicBezTo>
                    <a:pt x="33528" y="449834"/>
                    <a:pt x="0" y="416179"/>
                    <a:pt x="0" y="374904"/>
                  </a:cubicBezTo>
                  <a:lnTo>
                    <a:pt x="0" y="74930"/>
                  </a:lnTo>
                  <a:cubicBezTo>
                    <a:pt x="0" y="33528"/>
                    <a:pt x="33528" y="0"/>
                    <a:pt x="74930" y="0"/>
                  </a:cubicBezTo>
                  <a:close/>
                </a:path>
              </a:pathLst>
            </a:custGeom>
            <a:solidFill>
              <a:srgbClr val="05DF72">
                <a:alpha val="3922"/>
              </a:srgbClr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679007" y="8630926"/>
            <a:ext cx="871528" cy="337366"/>
            <a:chOff x="0" y="0"/>
            <a:chExt cx="1162037" cy="44982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62036" cy="449820"/>
            </a:xfrm>
            <a:custGeom>
              <a:avLst/>
              <a:gdLst/>
              <a:ahLst/>
              <a:cxnLst/>
              <a:rect r="r" b="b" t="t" l="l"/>
              <a:pathLst>
                <a:path h="449820" w="1162036">
                  <a:moveTo>
                    <a:pt x="0" y="0"/>
                  </a:moveTo>
                  <a:lnTo>
                    <a:pt x="1162036" y="0"/>
                  </a:lnTo>
                  <a:lnTo>
                    <a:pt x="1162036" y="449820"/>
                  </a:lnTo>
                  <a:lnTo>
                    <a:pt x="0" y="4498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6" r="0" b="-33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1162037" cy="459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2"/>
                </a:lnSpc>
              </a:pPr>
              <a:r>
                <a:rPr lang="en-US" sz="1327" b="true">
                  <a:solidFill>
                    <a:srgbClr val="05DF72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NUEVA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96432" y="9080744"/>
            <a:ext cx="7478258" cy="281140"/>
            <a:chOff x="0" y="0"/>
            <a:chExt cx="9971011" cy="374853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971014" cy="374850"/>
            </a:xfrm>
            <a:custGeom>
              <a:avLst/>
              <a:gdLst/>
              <a:ahLst/>
              <a:cxnLst/>
              <a:rect r="r" b="b" t="t" l="l"/>
              <a:pathLst>
                <a:path h="374850" w="9971014">
                  <a:moveTo>
                    <a:pt x="0" y="0"/>
                  </a:moveTo>
                  <a:lnTo>
                    <a:pt x="9971014" y="0"/>
                  </a:lnTo>
                  <a:lnTo>
                    <a:pt x="9971014" y="374850"/>
                  </a:lnTo>
                  <a:lnTo>
                    <a:pt x="0" y="3748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8301" r="0" b="-46830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9971011" cy="412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Variable binaria indicando si el descuento es mayor a 10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96432" y="9474337"/>
            <a:ext cx="1700879" cy="281140"/>
            <a:chOff x="0" y="0"/>
            <a:chExt cx="2267839" cy="37485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67844" cy="374850"/>
            </a:xfrm>
            <a:custGeom>
              <a:avLst/>
              <a:gdLst/>
              <a:ahLst/>
              <a:cxnLst/>
              <a:rect r="r" b="b" t="t" l="l"/>
              <a:pathLst>
                <a:path h="374850" w="2267844">
                  <a:moveTo>
                    <a:pt x="0" y="0"/>
                  </a:moveTo>
                  <a:lnTo>
                    <a:pt x="2267844" y="0"/>
                  </a:lnTo>
                  <a:lnTo>
                    <a:pt x="2267844" y="374850"/>
                  </a:lnTo>
                  <a:lnTo>
                    <a:pt x="0" y="3748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7883" r="0" b="-6788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267839" cy="412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1</a:t>
              </a:r>
              <a:r>
                <a:rPr lang="en-US" sz="1549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= Descuento &gt; 10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919765" y="9474337"/>
            <a:ext cx="1757115" cy="281140"/>
            <a:chOff x="0" y="0"/>
            <a:chExt cx="2342820" cy="37485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342814" cy="374850"/>
            </a:xfrm>
            <a:custGeom>
              <a:avLst/>
              <a:gdLst/>
              <a:ahLst/>
              <a:cxnLst/>
              <a:rect r="r" b="b" t="t" l="l"/>
              <a:pathLst>
                <a:path h="374850" w="2342814">
                  <a:moveTo>
                    <a:pt x="0" y="0"/>
                  </a:moveTo>
                  <a:lnTo>
                    <a:pt x="2342814" y="0"/>
                  </a:lnTo>
                  <a:lnTo>
                    <a:pt x="2342814" y="374850"/>
                  </a:lnTo>
                  <a:lnTo>
                    <a:pt x="0" y="3748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1781" r="0" b="-7178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2342820" cy="412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0</a:t>
              </a:r>
              <a:r>
                <a:rPr lang="en-US" sz="1549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= Descuento ≤ 10</a:t>
              </a: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9284379" y="2134152"/>
            <a:ext cx="8453180" cy="8157982"/>
          </a:xfrm>
          <a:custGeom>
            <a:avLst/>
            <a:gdLst/>
            <a:ahLst/>
            <a:cxnLst/>
            <a:rect r="r" b="b" t="t" l="l"/>
            <a:pathLst>
              <a:path h="8157982" w="8453180">
                <a:moveTo>
                  <a:pt x="0" y="0"/>
                </a:moveTo>
                <a:lnTo>
                  <a:pt x="8453181" y="0"/>
                </a:lnTo>
                <a:lnTo>
                  <a:pt x="8453181" y="8157982"/>
                </a:lnTo>
                <a:lnTo>
                  <a:pt x="0" y="81579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9601400" y="2502122"/>
            <a:ext cx="284655" cy="253022"/>
          </a:xfrm>
          <a:custGeom>
            <a:avLst/>
            <a:gdLst/>
            <a:ahLst/>
            <a:cxnLst/>
            <a:rect r="r" b="b" t="t" l="l"/>
            <a:pathLst>
              <a:path h="253022" w="284655">
                <a:moveTo>
                  <a:pt x="0" y="0"/>
                </a:moveTo>
                <a:lnTo>
                  <a:pt x="284655" y="0"/>
                </a:lnTo>
                <a:lnTo>
                  <a:pt x="284655" y="253022"/>
                </a:lnTo>
                <a:lnTo>
                  <a:pt x="0" y="25302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9905381" y="2431837"/>
            <a:ext cx="7660996" cy="393592"/>
            <a:chOff x="0" y="0"/>
            <a:chExt cx="10214661" cy="52478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14666" cy="524790"/>
            </a:xfrm>
            <a:custGeom>
              <a:avLst/>
              <a:gdLst/>
              <a:ahLst/>
              <a:cxnLst/>
              <a:rect r="r" b="b" t="t" l="l"/>
              <a:pathLst>
                <a:path h="524790" w="10214666">
                  <a:moveTo>
                    <a:pt x="0" y="0"/>
                  </a:moveTo>
                  <a:lnTo>
                    <a:pt x="10214666" y="0"/>
                  </a:lnTo>
                  <a:lnTo>
                    <a:pt x="10214666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9262" r="0" b="-32926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66675"/>
              <a:ext cx="10214661" cy="591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7"/>
                </a:lnSpc>
              </a:pPr>
              <a:r>
                <a:rPr lang="en-US" sz="1992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Técnicas de Codificación</a:t>
              </a: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9579569" y="3047848"/>
            <a:ext cx="7862792" cy="2647683"/>
          </a:xfrm>
          <a:custGeom>
            <a:avLst/>
            <a:gdLst/>
            <a:ahLst/>
            <a:cxnLst/>
            <a:rect r="r" b="b" t="t" l="l"/>
            <a:pathLst>
              <a:path h="2647683" w="7862792">
                <a:moveTo>
                  <a:pt x="0" y="0"/>
                </a:moveTo>
                <a:lnTo>
                  <a:pt x="7862792" y="0"/>
                </a:lnTo>
                <a:lnTo>
                  <a:pt x="7862792" y="2647683"/>
                </a:lnTo>
                <a:lnTo>
                  <a:pt x="0" y="264768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9877263" y="3345532"/>
            <a:ext cx="674732" cy="674732"/>
            <a:chOff x="0" y="0"/>
            <a:chExt cx="899643" cy="899643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99668" cy="899668"/>
            </a:xfrm>
            <a:custGeom>
              <a:avLst/>
              <a:gdLst/>
              <a:ahLst/>
              <a:cxnLst/>
              <a:rect r="r" b="b" t="t" l="l"/>
              <a:pathLst>
                <a:path h="899668" w="899668">
                  <a:moveTo>
                    <a:pt x="224917" y="0"/>
                  </a:moveTo>
                  <a:lnTo>
                    <a:pt x="674751" y="0"/>
                  </a:lnTo>
                  <a:cubicBezTo>
                    <a:pt x="798957" y="0"/>
                    <a:pt x="899668" y="100711"/>
                    <a:pt x="899668" y="224917"/>
                  </a:cubicBezTo>
                  <a:lnTo>
                    <a:pt x="899668" y="674751"/>
                  </a:lnTo>
                  <a:cubicBezTo>
                    <a:pt x="899668" y="798957"/>
                    <a:pt x="798957" y="899668"/>
                    <a:pt x="674751" y="899668"/>
                  </a:cubicBezTo>
                  <a:lnTo>
                    <a:pt x="224917" y="899668"/>
                  </a:lnTo>
                  <a:cubicBezTo>
                    <a:pt x="100711" y="899668"/>
                    <a:pt x="0" y="798957"/>
                    <a:pt x="0" y="674751"/>
                  </a:cubicBezTo>
                  <a:lnTo>
                    <a:pt x="0" y="224917"/>
                  </a:lnTo>
                  <a:cubicBezTo>
                    <a:pt x="0" y="100711"/>
                    <a:pt x="100711" y="0"/>
                    <a:pt x="224917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158403" y="3486102"/>
            <a:ext cx="253022" cy="393592"/>
            <a:chOff x="0" y="0"/>
            <a:chExt cx="337363" cy="52478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37366" cy="524790"/>
            </a:xfrm>
            <a:custGeom>
              <a:avLst/>
              <a:gdLst/>
              <a:ahLst/>
              <a:cxnLst/>
              <a:rect r="r" b="b" t="t" l="l"/>
              <a:pathLst>
                <a:path h="524790" w="337366">
                  <a:moveTo>
                    <a:pt x="0" y="0"/>
                  </a:moveTo>
                  <a:lnTo>
                    <a:pt x="337366" y="0"/>
                  </a:lnTo>
                  <a:lnTo>
                    <a:pt x="337366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49582" t="0" r="-149582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337363" cy="572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88"/>
                </a:lnSpc>
              </a:pPr>
              <a:r>
                <a:rPr lang="en-US" sz="2214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1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720673" y="3345532"/>
            <a:ext cx="3092510" cy="393592"/>
            <a:chOff x="0" y="0"/>
            <a:chExt cx="4123347" cy="52478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123352" cy="524790"/>
            </a:xfrm>
            <a:custGeom>
              <a:avLst/>
              <a:gdLst/>
              <a:ahLst/>
              <a:cxnLst/>
              <a:rect r="r" b="b" t="t" l="l"/>
              <a:pathLst>
                <a:path h="524790" w="4123352">
                  <a:moveTo>
                    <a:pt x="0" y="0"/>
                  </a:moveTo>
                  <a:lnTo>
                    <a:pt x="4123352" y="0"/>
                  </a:lnTo>
                  <a:lnTo>
                    <a:pt x="4123352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4123347" cy="591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7"/>
                </a:lnSpc>
              </a:pPr>
              <a:r>
                <a:rPr lang="en-US" sz="1992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Ordinal Encoding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720673" y="3654790"/>
            <a:ext cx="4041565" cy="600663"/>
            <a:chOff x="0" y="0"/>
            <a:chExt cx="5388754" cy="8008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388749" cy="800877"/>
            </a:xfrm>
            <a:custGeom>
              <a:avLst/>
              <a:gdLst/>
              <a:ahLst/>
              <a:cxnLst/>
              <a:rect r="r" b="b" t="t" l="l"/>
              <a:pathLst>
                <a:path h="800877" w="5388749">
                  <a:moveTo>
                    <a:pt x="0" y="0"/>
                  </a:moveTo>
                  <a:lnTo>
                    <a:pt x="5388749" y="0"/>
                  </a:lnTo>
                  <a:lnTo>
                    <a:pt x="5388749" y="800877"/>
                  </a:lnTo>
                  <a:lnTo>
                    <a:pt x="0" y="8008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6005" r="24177" b="-228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5388754" cy="838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Para variables con orden inherente</a:t>
              </a:r>
            </a:p>
          </p:txBody>
        </p:sp>
      </p:grpSp>
      <p:sp>
        <p:nvSpPr>
          <p:cNvPr name="Freeform 95" id="95"/>
          <p:cNvSpPr/>
          <p:nvPr/>
        </p:nvSpPr>
        <p:spPr>
          <a:xfrm flipH="false" flipV="false" rot="0">
            <a:off x="9874768" y="4242683"/>
            <a:ext cx="7272395" cy="1157659"/>
          </a:xfrm>
          <a:custGeom>
            <a:avLst/>
            <a:gdLst/>
            <a:ahLst/>
            <a:cxnLst/>
            <a:rect r="r" b="b" t="t" l="l"/>
            <a:pathLst>
              <a:path h="1157659" w="7272395">
                <a:moveTo>
                  <a:pt x="0" y="0"/>
                </a:moveTo>
                <a:lnTo>
                  <a:pt x="7272394" y="0"/>
                </a:lnTo>
                <a:lnTo>
                  <a:pt x="7272394" y="1157659"/>
                </a:lnTo>
                <a:lnTo>
                  <a:pt x="0" y="115765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0060000" y="4427915"/>
            <a:ext cx="7000323" cy="281140"/>
            <a:chOff x="0" y="0"/>
            <a:chExt cx="9333763" cy="37485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333768" cy="374850"/>
            </a:xfrm>
            <a:custGeom>
              <a:avLst/>
              <a:gdLst/>
              <a:ahLst/>
              <a:cxnLst/>
              <a:rect r="r" b="b" t="t" l="l"/>
              <a:pathLst>
                <a:path h="374850" w="9333768">
                  <a:moveTo>
                    <a:pt x="0" y="0"/>
                  </a:moveTo>
                  <a:lnTo>
                    <a:pt x="9333768" y="0"/>
                  </a:lnTo>
                  <a:lnTo>
                    <a:pt x="9333768" y="374850"/>
                  </a:lnTo>
                  <a:lnTo>
                    <a:pt x="0" y="3748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5176" r="0" b="-435177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9333763" cy="412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Product_importance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0060000" y="4821507"/>
            <a:ext cx="927754" cy="393592"/>
            <a:chOff x="0" y="0"/>
            <a:chExt cx="1237005" cy="524789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36980" cy="524764"/>
            </a:xfrm>
            <a:custGeom>
              <a:avLst/>
              <a:gdLst/>
              <a:ahLst/>
              <a:cxnLst/>
              <a:rect r="r" b="b" t="t" l="l"/>
              <a:pathLst>
                <a:path h="524764" w="1236980">
                  <a:moveTo>
                    <a:pt x="74930" y="0"/>
                  </a:moveTo>
                  <a:lnTo>
                    <a:pt x="1162050" y="0"/>
                  </a:lnTo>
                  <a:cubicBezTo>
                    <a:pt x="1203452" y="0"/>
                    <a:pt x="1236980" y="33528"/>
                    <a:pt x="1236980" y="74930"/>
                  </a:cubicBezTo>
                  <a:lnTo>
                    <a:pt x="1236980" y="449834"/>
                  </a:lnTo>
                  <a:cubicBezTo>
                    <a:pt x="1236980" y="491236"/>
                    <a:pt x="1203452" y="524764"/>
                    <a:pt x="1162050" y="524764"/>
                  </a:cubicBezTo>
                  <a:lnTo>
                    <a:pt x="74930" y="524764"/>
                  </a:lnTo>
                  <a:cubicBezTo>
                    <a:pt x="33528" y="524764"/>
                    <a:pt x="0" y="491109"/>
                    <a:pt x="0" y="449834"/>
                  </a:cubicBezTo>
                  <a:lnTo>
                    <a:pt x="0" y="74930"/>
                  </a:lnTo>
                  <a:cubicBezTo>
                    <a:pt x="0" y="33528"/>
                    <a:pt x="33528" y="0"/>
                    <a:pt x="74930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0060000" y="4821507"/>
            <a:ext cx="1026147" cy="393592"/>
            <a:chOff x="0" y="0"/>
            <a:chExt cx="1368196" cy="52478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368202" cy="524790"/>
            </a:xfrm>
            <a:custGeom>
              <a:avLst/>
              <a:gdLst/>
              <a:ahLst/>
              <a:cxnLst/>
              <a:rect r="r" b="b" t="t" l="l"/>
              <a:pathLst>
                <a:path h="524790" w="1368202">
                  <a:moveTo>
                    <a:pt x="0" y="0"/>
                  </a:moveTo>
                  <a:lnTo>
                    <a:pt x="1368202" y="0"/>
                  </a:lnTo>
                  <a:lnTo>
                    <a:pt x="1368202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00" r="0" b="-799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368196" cy="562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low → 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104274" y="4821507"/>
            <a:ext cx="1293228" cy="393592"/>
            <a:chOff x="0" y="0"/>
            <a:chExt cx="1724304" cy="52478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724279" cy="524764"/>
            </a:xfrm>
            <a:custGeom>
              <a:avLst/>
              <a:gdLst/>
              <a:ahLst/>
              <a:cxnLst/>
              <a:rect r="r" b="b" t="t" l="l"/>
              <a:pathLst>
                <a:path h="524764" w="1724279">
                  <a:moveTo>
                    <a:pt x="74930" y="0"/>
                  </a:moveTo>
                  <a:lnTo>
                    <a:pt x="1649349" y="0"/>
                  </a:lnTo>
                  <a:cubicBezTo>
                    <a:pt x="1690751" y="0"/>
                    <a:pt x="1724279" y="33528"/>
                    <a:pt x="1724279" y="74930"/>
                  </a:cubicBezTo>
                  <a:lnTo>
                    <a:pt x="1724279" y="449834"/>
                  </a:lnTo>
                  <a:cubicBezTo>
                    <a:pt x="1724279" y="491236"/>
                    <a:pt x="1690751" y="524764"/>
                    <a:pt x="1649349" y="524764"/>
                  </a:cubicBezTo>
                  <a:lnTo>
                    <a:pt x="74930" y="524764"/>
                  </a:lnTo>
                  <a:cubicBezTo>
                    <a:pt x="33528" y="524764"/>
                    <a:pt x="0" y="491109"/>
                    <a:pt x="0" y="449834"/>
                  </a:cubicBezTo>
                  <a:lnTo>
                    <a:pt x="0" y="74930"/>
                  </a:lnTo>
                  <a:cubicBezTo>
                    <a:pt x="0" y="33528"/>
                    <a:pt x="33528" y="0"/>
                    <a:pt x="74930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1104274" y="4821507"/>
            <a:ext cx="1391631" cy="393592"/>
            <a:chOff x="0" y="0"/>
            <a:chExt cx="1855508" cy="52478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855508" cy="524790"/>
            </a:xfrm>
            <a:custGeom>
              <a:avLst/>
              <a:gdLst/>
              <a:ahLst/>
              <a:cxnLst/>
              <a:rect r="r" b="b" t="t" l="l"/>
              <a:pathLst>
                <a:path h="524790" w="1855508">
                  <a:moveTo>
                    <a:pt x="0" y="0"/>
                  </a:moveTo>
                  <a:lnTo>
                    <a:pt x="1855508" y="0"/>
                  </a:lnTo>
                  <a:lnTo>
                    <a:pt x="1855508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893" r="0" b="-18893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1855508" cy="562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medium → 1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2503591" y="4821507"/>
            <a:ext cx="998039" cy="393592"/>
            <a:chOff x="0" y="0"/>
            <a:chExt cx="1330719" cy="524789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330706" cy="524764"/>
            </a:xfrm>
            <a:custGeom>
              <a:avLst/>
              <a:gdLst/>
              <a:ahLst/>
              <a:cxnLst/>
              <a:rect r="r" b="b" t="t" l="l"/>
              <a:pathLst>
                <a:path h="524764" w="1330706">
                  <a:moveTo>
                    <a:pt x="74930" y="0"/>
                  </a:moveTo>
                  <a:lnTo>
                    <a:pt x="1255776" y="0"/>
                  </a:lnTo>
                  <a:cubicBezTo>
                    <a:pt x="1297178" y="0"/>
                    <a:pt x="1330706" y="33528"/>
                    <a:pt x="1330706" y="74930"/>
                  </a:cubicBezTo>
                  <a:lnTo>
                    <a:pt x="1330706" y="449834"/>
                  </a:lnTo>
                  <a:cubicBezTo>
                    <a:pt x="1330706" y="491236"/>
                    <a:pt x="1297178" y="524764"/>
                    <a:pt x="1255776" y="524764"/>
                  </a:cubicBezTo>
                  <a:lnTo>
                    <a:pt x="74930" y="524764"/>
                  </a:lnTo>
                  <a:cubicBezTo>
                    <a:pt x="33528" y="524764"/>
                    <a:pt x="0" y="491109"/>
                    <a:pt x="0" y="449834"/>
                  </a:cubicBezTo>
                  <a:lnTo>
                    <a:pt x="0" y="74930"/>
                  </a:lnTo>
                  <a:cubicBezTo>
                    <a:pt x="0" y="33528"/>
                    <a:pt x="33528" y="0"/>
                    <a:pt x="74930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2503591" y="4821507"/>
            <a:ext cx="1096432" cy="393592"/>
            <a:chOff x="0" y="0"/>
            <a:chExt cx="1461910" cy="524789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461916" cy="524790"/>
            </a:xfrm>
            <a:custGeom>
              <a:avLst/>
              <a:gdLst/>
              <a:ahLst/>
              <a:cxnLst/>
              <a:rect r="r" b="b" t="t" l="l"/>
              <a:pathLst>
                <a:path h="524790" w="1461916">
                  <a:moveTo>
                    <a:pt x="0" y="0"/>
                  </a:moveTo>
                  <a:lnTo>
                    <a:pt x="1461916" y="0"/>
                  </a:lnTo>
                  <a:lnTo>
                    <a:pt x="1461916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79" r="0" b="-4279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1461910" cy="562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high → 2</a:t>
              </a:r>
            </a:p>
          </p:txBody>
        </p:sp>
      </p:grpSp>
      <p:sp>
        <p:nvSpPr>
          <p:cNvPr name="Freeform 114" id="114"/>
          <p:cNvSpPr/>
          <p:nvPr/>
        </p:nvSpPr>
        <p:spPr>
          <a:xfrm flipH="false" flipV="false" rot="0">
            <a:off x="9579569" y="5915454"/>
            <a:ext cx="7862792" cy="3462985"/>
          </a:xfrm>
          <a:custGeom>
            <a:avLst/>
            <a:gdLst/>
            <a:ahLst/>
            <a:cxnLst/>
            <a:rect r="r" b="b" t="t" l="l"/>
            <a:pathLst>
              <a:path h="3462985" w="7862792">
                <a:moveTo>
                  <a:pt x="0" y="0"/>
                </a:moveTo>
                <a:lnTo>
                  <a:pt x="7862792" y="0"/>
                </a:lnTo>
                <a:lnTo>
                  <a:pt x="7862792" y="3462985"/>
                </a:lnTo>
                <a:lnTo>
                  <a:pt x="0" y="346298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9877263" y="6213138"/>
            <a:ext cx="674732" cy="674732"/>
            <a:chOff x="0" y="0"/>
            <a:chExt cx="899643" cy="899643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899668" cy="899668"/>
            </a:xfrm>
            <a:custGeom>
              <a:avLst/>
              <a:gdLst/>
              <a:ahLst/>
              <a:cxnLst/>
              <a:rect r="r" b="b" t="t" l="l"/>
              <a:pathLst>
                <a:path h="899668" w="899668">
                  <a:moveTo>
                    <a:pt x="224917" y="0"/>
                  </a:moveTo>
                  <a:lnTo>
                    <a:pt x="674751" y="0"/>
                  </a:lnTo>
                  <a:cubicBezTo>
                    <a:pt x="798957" y="0"/>
                    <a:pt x="899668" y="100711"/>
                    <a:pt x="899668" y="224917"/>
                  </a:cubicBezTo>
                  <a:lnTo>
                    <a:pt x="899668" y="674751"/>
                  </a:lnTo>
                  <a:cubicBezTo>
                    <a:pt x="899668" y="798957"/>
                    <a:pt x="798957" y="899668"/>
                    <a:pt x="674751" y="899668"/>
                  </a:cubicBezTo>
                  <a:lnTo>
                    <a:pt x="224917" y="899668"/>
                  </a:lnTo>
                  <a:cubicBezTo>
                    <a:pt x="100711" y="899668"/>
                    <a:pt x="0" y="798957"/>
                    <a:pt x="0" y="674751"/>
                  </a:cubicBezTo>
                  <a:lnTo>
                    <a:pt x="0" y="224917"/>
                  </a:lnTo>
                  <a:cubicBezTo>
                    <a:pt x="0" y="100711"/>
                    <a:pt x="100711" y="0"/>
                    <a:pt x="224917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132924" y="6353708"/>
            <a:ext cx="309248" cy="393592"/>
            <a:chOff x="0" y="0"/>
            <a:chExt cx="412331" cy="52478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12336" cy="524790"/>
            </a:xfrm>
            <a:custGeom>
              <a:avLst/>
              <a:gdLst/>
              <a:ahLst/>
              <a:cxnLst/>
              <a:rect r="r" b="b" t="t" l="l"/>
              <a:pathLst>
                <a:path h="524790" w="412336">
                  <a:moveTo>
                    <a:pt x="0" y="0"/>
                  </a:moveTo>
                  <a:lnTo>
                    <a:pt x="412336" y="0"/>
                  </a:lnTo>
                  <a:lnTo>
                    <a:pt x="412336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13295" t="0" r="-113294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47625"/>
              <a:ext cx="412331" cy="5724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88"/>
                </a:lnSpc>
              </a:pPr>
              <a:r>
                <a:rPr lang="en-US" sz="2214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2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720673" y="6213138"/>
            <a:ext cx="3317424" cy="393592"/>
            <a:chOff x="0" y="0"/>
            <a:chExt cx="4423232" cy="524789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423232" cy="524790"/>
            </a:xfrm>
            <a:custGeom>
              <a:avLst/>
              <a:gdLst/>
              <a:ahLst/>
              <a:cxnLst/>
              <a:rect r="r" b="b" t="t" l="l"/>
              <a:pathLst>
                <a:path h="524790" w="4423232">
                  <a:moveTo>
                    <a:pt x="0" y="0"/>
                  </a:moveTo>
                  <a:lnTo>
                    <a:pt x="4423232" y="0"/>
                  </a:lnTo>
                  <a:lnTo>
                    <a:pt x="4423232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4231" r="0" b="-114231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66675"/>
              <a:ext cx="4423232" cy="5914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7"/>
                </a:lnSpc>
              </a:pPr>
              <a:r>
                <a:rPr lang="en-US" sz="1992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One-Hot Encoding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720673" y="6431480"/>
            <a:ext cx="4336267" cy="631641"/>
            <a:chOff x="0" y="0"/>
            <a:chExt cx="5781689" cy="84218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781693" cy="842181"/>
            </a:xfrm>
            <a:custGeom>
              <a:avLst/>
              <a:gdLst/>
              <a:ahLst/>
              <a:cxnLst/>
              <a:rect r="r" b="b" t="t" l="l"/>
              <a:pathLst>
                <a:path h="842181" w="5781693">
                  <a:moveTo>
                    <a:pt x="0" y="0"/>
                  </a:moveTo>
                  <a:lnTo>
                    <a:pt x="5781693" y="0"/>
                  </a:lnTo>
                  <a:lnTo>
                    <a:pt x="5781693" y="842181"/>
                  </a:lnTo>
                  <a:lnTo>
                    <a:pt x="0" y="84218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215" r="24144" b="-23725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5781689" cy="8802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Para variables categóricas nominales</a:t>
              </a:r>
            </a:p>
          </p:txBody>
        </p:sp>
      </p:grpSp>
      <p:sp>
        <p:nvSpPr>
          <p:cNvPr name="Freeform 126" id="126"/>
          <p:cNvSpPr/>
          <p:nvPr/>
        </p:nvSpPr>
        <p:spPr>
          <a:xfrm flipH="false" flipV="false" rot="0">
            <a:off x="9874768" y="7110289"/>
            <a:ext cx="7272395" cy="932745"/>
          </a:xfrm>
          <a:custGeom>
            <a:avLst/>
            <a:gdLst/>
            <a:ahLst/>
            <a:cxnLst/>
            <a:rect r="r" b="b" t="t" l="l"/>
            <a:pathLst>
              <a:path h="932745" w="7272395">
                <a:moveTo>
                  <a:pt x="0" y="0"/>
                </a:moveTo>
                <a:lnTo>
                  <a:pt x="7272394" y="0"/>
                </a:lnTo>
                <a:lnTo>
                  <a:pt x="7272394" y="932745"/>
                </a:lnTo>
                <a:lnTo>
                  <a:pt x="0" y="93274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7" id="127"/>
          <p:cNvGrpSpPr/>
          <p:nvPr/>
        </p:nvGrpSpPr>
        <p:grpSpPr>
          <a:xfrm rot="0">
            <a:off x="10060000" y="7295521"/>
            <a:ext cx="7000323" cy="281140"/>
            <a:chOff x="0" y="0"/>
            <a:chExt cx="9333763" cy="374853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333768" cy="374850"/>
            </a:xfrm>
            <a:custGeom>
              <a:avLst/>
              <a:gdLst/>
              <a:ahLst/>
              <a:cxnLst/>
              <a:rect r="r" b="b" t="t" l="l"/>
              <a:pathLst>
                <a:path h="374850" w="9333768">
                  <a:moveTo>
                    <a:pt x="0" y="0"/>
                  </a:moveTo>
                  <a:lnTo>
                    <a:pt x="9333768" y="0"/>
                  </a:lnTo>
                  <a:lnTo>
                    <a:pt x="9333768" y="374850"/>
                  </a:lnTo>
                  <a:lnTo>
                    <a:pt x="0" y="3748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5176" r="0" b="-435177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9333763" cy="412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Warehouse_block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0060000" y="7632887"/>
            <a:ext cx="6986273" cy="224914"/>
            <a:chOff x="0" y="0"/>
            <a:chExt cx="9315031" cy="299885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9315026" cy="299880"/>
            </a:xfrm>
            <a:custGeom>
              <a:avLst/>
              <a:gdLst/>
              <a:ahLst/>
              <a:cxnLst/>
              <a:rect r="r" b="b" t="t" l="l"/>
              <a:pathLst>
                <a:path h="299880" w="9315026">
                  <a:moveTo>
                    <a:pt x="0" y="0"/>
                  </a:moveTo>
                  <a:lnTo>
                    <a:pt x="9315026" y="0"/>
                  </a:lnTo>
                  <a:lnTo>
                    <a:pt x="9315026" y="299880"/>
                  </a:lnTo>
                  <a:lnTo>
                    <a:pt x="0" y="299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5253" r="0" b="-555255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9525"/>
              <a:ext cx="9315031" cy="309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2"/>
                </a:lnSpc>
              </a:pPr>
              <a:r>
                <a:rPr lang="en-US" sz="1327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A, B, C, D, F → 5 columnas binarias</a:t>
              </a:r>
            </a:p>
          </p:txBody>
        </p:sp>
      </p:grpSp>
      <p:sp>
        <p:nvSpPr>
          <p:cNvPr name="Freeform 133" id="133"/>
          <p:cNvSpPr/>
          <p:nvPr/>
        </p:nvSpPr>
        <p:spPr>
          <a:xfrm flipH="false" flipV="false" rot="0">
            <a:off x="9874768" y="8150495"/>
            <a:ext cx="7272395" cy="932745"/>
          </a:xfrm>
          <a:custGeom>
            <a:avLst/>
            <a:gdLst/>
            <a:ahLst/>
            <a:cxnLst/>
            <a:rect r="r" b="b" t="t" l="l"/>
            <a:pathLst>
              <a:path h="932745" w="7272395">
                <a:moveTo>
                  <a:pt x="0" y="0"/>
                </a:moveTo>
                <a:lnTo>
                  <a:pt x="7272394" y="0"/>
                </a:lnTo>
                <a:lnTo>
                  <a:pt x="7272394" y="932745"/>
                </a:lnTo>
                <a:lnTo>
                  <a:pt x="0" y="93274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4" id="134"/>
          <p:cNvGrpSpPr/>
          <p:nvPr/>
        </p:nvGrpSpPr>
        <p:grpSpPr>
          <a:xfrm rot="0">
            <a:off x="10060000" y="8335728"/>
            <a:ext cx="7000323" cy="281140"/>
            <a:chOff x="0" y="0"/>
            <a:chExt cx="9333763" cy="37485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333768" cy="374850"/>
            </a:xfrm>
            <a:custGeom>
              <a:avLst/>
              <a:gdLst/>
              <a:ahLst/>
              <a:cxnLst/>
              <a:rect r="r" b="b" t="t" l="l"/>
              <a:pathLst>
                <a:path h="374850" w="9333768">
                  <a:moveTo>
                    <a:pt x="0" y="0"/>
                  </a:moveTo>
                  <a:lnTo>
                    <a:pt x="9333768" y="0"/>
                  </a:lnTo>
                  <a:lnTo>
                    <a:pt x="9333768" y="374850"/>
                  </a:lnTo>
                  <a:lnTo>
                    <a:pt x="0" y="3748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5176" r="0" b="-435177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9333763" cy="4129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1"/>
                </a:lnSpc>
              </a:pPr>
              <a:r>
                <a:rPr lang="en-US" sz="1549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Mode_of_Shipment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060000" y="8673094"/>
            <a:ext cx="6986273" cy="224914"/>
            <a:chOff x="0" y="0"/>
            <a:chExt cx="9315031" cy="299885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9315026" cy="299880"/>
            </a:xfrm>
            <a:custGeom>
              <a:avLst/>
              <a:gdLst/>
              <a:ahLst/>
              <a:cxnLst/>
              <a:rect r="r" b="b" t="t" l="l"/>
              <a:pathLst>
                <a:path h="299880" w="9315026">
                  <a:moveTo>
                    <a:pt x="0" y="0"/>
                  </a:moveTo>
                  <a:lnTo>
                    <a:pt x="9315026" y="0"/>
                  </a:lnTo>
                  <a:lnTo>
                    <a:pt x="9315026" y="299880"/>
                  </a:lnTo>
                  <a:lnTo>
                    <a:pt x="0" y="299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5253" r="0" b="-555255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9525"/>
              <a:ext cx="9315031" cy="309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2"/>
                </a:lnSpc>
              </a:pPr>
              <a:r>
                <a:rPr lang="en-US" sz="1327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Flight, Road, Ship → 3 columnas binarias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14375"/>
            <a:ext cx="571500" cy="571500"/>
            <a:chOff x="0" y="0"/>
            <a:chExt cx="762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32234" y="871538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4450" y="571500"/>
            <a:ext cx="4929188" cy="285750"/>
            <a:chOff x="0" y="0"/>
            <a:chExt cx="6572250" cy="38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72250" cy="381000"/>
            </a:xfrm>
            <a:custGeom>
              <a:avLst/>
              <a:gdLst/>
              <a:ahLst/>
              <a:cxnLst/>
              <a:rect r="r" b="b" t="t" l="l"/>
              <a:pathLst>
                <a:path h="381000" w="6572250">
                  <a:moveTo>
                    <a:pt x="0" y="0"/>
                  </a:moveTo>
                  <a:lnTo>
                    <a:pt x="6572250" y="0"/>
                  </a:lnTo>
                  <a:lnTo>
                    <a:pt x="6572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6116" r="0" b="-28611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5722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Análisis Exploratorio (1/3)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4450" y="857250"/>
            <a:ext cx="5086350" cy="571500"/>
            <a:chOff x="0" y="0"/>
            <a:chExt cx="678180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81800" cy="762000"/>
            </a:xfrm>
            <a:custGeom>
              <a:avLst/>
              <a:gdLst/>
              <a:ahLst/>
              <a:cxnLst/>
              <a:rect r="r" b="b" t="t" l="l"/>
              <a:pathLst>
                <a:path h="76200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3416" r="0" b="-1234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67818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Matriz de Correlación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500" y="1543050"/>
            <a:ext cx="17259300" cy="342900"/>
            <a:chOff x="0" y="0"/>
            <a:chExt cx="230124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30124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Identificación de relaciones entre variables numéricas y targets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69119" y="2305050"/>
            <a:ext cx="16225143" cy="12261865"/>
          </a:xfrm>
          <a:custGeom>
            <a:avLst/>
            <a:gdLst/>
            <a:ahLst/>
            <a:cxnLst/>
            <a:rect r="r" b="b" t="t" l="l"/>
            <a:pathLst>
              <a:path h="12261865" w="16225143">
                <a:moveTo>
                  <a:pt x="0" y="0"/>
                </a:moveTo>
                <a:lnTo>
                  <a:pt x="16225143" y="0"/>
                </a:lnTo>
                <a:lnTo>
                  <a:pt x="16225143" y="12261865"/>
                </a:lnTo>
                <a:lnTo>
                  <a:pt x="0" y="12261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3325" y="2543175"/>
            <a:ext cx="225028" cy="257175"/>
          </a:xfrm>
          <a:custGeom>
            <a:avLst/>
            <a:gdLst/>
            <a:ahLst/>
            <a:cxnLst/>
            <a:rect r="r" b="b" t="t" l="l"/>
            <a:pathLst>
              <a:path h="257175" w="225028">
                <a:moveTo>
                  <a:pt x="0" y="0"/>
                </a:moveTo>
                <a:lnTo>
                  <a:pt x="225028" y="0"/>
                </a:lnTo>
                <a:lnTo>
                  <a:pt x="225028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00150" y="2471738"/>
            <a:ext cx="9372600" cy="400050"/>
            <a:chOff x="0" y="0"/>
            <a:chExt cx="124968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96800" cy="533400"/>
            </a:xfrm>
            <a:custGeom>
              <a:avLst/>
              <a:gdLst/>
              <a:ahLst/>
              <a:cxnLst/>
              <a:rect r="r" b="b" t="t" l="l"/>
              <a:pathLst>
                <a:path h="5334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6506" r="0" b="-40650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24968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Heatmap de Correlación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710393" y="2471738"/>
            <a:ext cx="11213090" cy="7698540"/>
            <a:chOff x="0" y="0"/>
            <a:chExt cx="12763500" cy="876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63500" cy="8763000"/>
            </a:xfrm>
            <a:custGeom>
              <a:avLst/>
              <a:gdLst/>
              <a:ahLst/>
              <a:cxnLst/>
              <a:rect r="r" b="b" t="t" l="l"/>
              <a:pathLst>
                <a:path h="8763000" w="12763500">
                  <a:moveTo>
                    <a:pt x="0" y="0"/>
                  </a:moveTo>
                  <a:lnTo>
                    <a:pt x="12763500" y="0"/>
                  </a:lnTo>
                  <a:lnTo>
                    <a:pt x="12763500" y="8763000"/>
                  </a:lnTo>
                  <a:lnTo>
                    <a:pt x="0" y="876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6362" r="0" b="-16362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1139488" y="195262"/>
            <a:ext cx="6691312" cy="1690688"/>
          </a:xfrm>
          <a:custGeom>
            <a:avLst/>
            <a:gdLst/>
            <a:ahLst/>
            <a:cxnLst/>
            <a:rect r="r" b="b" t="t" l="l"/>
            <a:pathLst>
              <a:path h="1690688" w="6691312">
                <a:moveTo>
                  <a:pt x="0" y="0"/>
                </a:moveTo>
                <a:lnTo>
                  <a:pt x="6691312" y="0"/>
                </a:lnTo>
                <a:lnTo>
                  <a:pt x="6691312" y="1690688"/>
                </a:lnTo>
                <a:lnTo>
                  <a:pt x="0" y="16906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320405" y="400050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720570" y="342900"/>
            <a:ext cx="5929312" cy="285750"/>
            <a:chOff x="0" y="0"/>
            <a:chExt cx="7905750" cy="38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90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4314" r="0" b="-35431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9057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Observación Clave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20570" y="685800"/>
            <a:ext cx="5929312" cy="857250"/>
            <a:chOff x="0" y="0"/>
            <a:chExt cx="7905750" cy="1143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905750" cy="1143000"/>
            </a:xfrm>
            <a:custGeom>
              <a:avLst/>
              <a:gdLst/>
              <a:ahLst/>
              <a:cxnLst/>
              <a:rect r="r" b="b" t="t" l="l"/>
              <a:pathLst>
                <a:path h="11430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771" r="0" b="-8477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90575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Las correlaciones con el target de costo son </a:t>
              </a: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muy débiles</a:t>
              </a: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, indicando que las variables disponibles tienen bajo poder explicativo.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14375"/>
            <a:ext cx="571500" cy="571500"/>
            <a:chOff x="0" y="0"/>
            <a:chExt cx="762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32234" y="871538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4450" y="571500"/>
            <a:ext cx="4972050" cy="285750"/>
            <a:chOff x="0" y="0"/>
            <a:chExt cx="6629400" cy="38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29400" cy="381000"/>
            </a:xfrm>
            <a:custGeom>
              <a:avLst/>
              <a:gdLst/>
              <a:ahLst/>
              <a:cxnLst/>
              <a:rect r="r" b="b" t="t" l="l"/>
              <a:pathLst>
                <a:path h="381000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039" r="0" b="-28903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294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Análisis Exploratorio (2/3)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4450" y="857250"/>
            <a:ext cx="5129212" cy="571500"/>
            <a:chOff x="0" y="0"/>
            <a:chExt cx="683895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38950" cy="762000"/>
            </a:xfrm>
            <a:custGeom>
              <a:avLst/>
              <a:gdLst/>
              <a:ahLst/>
              <a:cxnLst/>
              <a:rect r="r" b="b" t="t" l="l"/>
              <a:pathLst>
                <a:path h="762000" w="6838950">
                  <a:moveTo>
                    <a:pt x="0" y="0"/>
                  </a:moveTo>
                  <a:lnTo>
                    <a:pt x="6838950" y="0"/>
                  </a:lnTo>
                  <a:lnTo>
                    <a:pt x="68389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4878" r="0" b="-12487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683895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Detección de Outliers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500" y="1543050"/>
            <a:ext cx="17259300" cy="342900"/>
            <a:chOff x="0" y="0"/>
            <a:chExt cx="230124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30124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Análisis de valores atípicos y dispersión de datos numéricos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69119" y="2169319"/>
            <a:ext cx="8434388" cy="7548562"/>
          </a:xfrm>
          <a:custGeom>
            <a:avLst/>
            <a:gdLst/>
            <a:ahLst/>
            <a:cxnLst/>
            <a:rect r="r" b="b" t="t" l="l"/>
            <a:pathLst>
              <a:path h="7548562" w="8434388">
                <a:moveTo>
                  <a:pt x="0" y="0"/>
                </a:moveTo>
                <a:lnTo>
                  <a:pt x="8434387" y="0"/>
                </a:lnTo>
                <a:lnTo>
                  <a:pt x="8434387" y="7548562"/>
                </a:lnTo>
                <a:lnTo>
                  <a:pt x="0" y="7548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23325" y="2543175"/>
            <a:ext cx="225028" cy="257175"/>
            <a:chOff x="0" y="0"/>
            <a:chExt cx="300038" cy="342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0668"/>
              <a:ext cx="300228" cy="310643"/>
            </a:xfrm>
            <a:custGeom>
              <a:avLst/>
              <a:gdLst/>
              <a:ahLst/>
              <a:cxnLst/>
              <a:rect r="r" b="b" t="t" l="l"/>
              <a:pathLst>
                <a:path h="310643" w="300228">
                  <a:moveTo>
                    <a:pt x="247396" y="75057"/>
                  </a:moveTo>
                  <a:lnTo>
                    <a:pt x="224409" y="42926"/>
                  </a:lnTo>
                  <a:lnTo>
                    <a:pt x="75692" y="42926"/>
                  </a:lnTo>
                  <a:lnTo>
                    <a:pt x="52705" y="75057"/>
                  </a:lnTo>
                  <a:lnTo>
                    <a:pt x="247396" y="75057"/>
                  </a:lnTo>
                  <a:close/>
                  <a:moveTo>
                    <a:pt x="0" y="88773"/>
                  </a:moveTo>
                  <a:cubicBezTo>
                    <a:pt x="0" y="79883"/>
                    <a:pt x="2794" y="71120"/>
                    <a:pt x="8001" y="63881"/>
                  </a:cubicBezTo>
                  <a:lnTo>
                    <a:pt x="40767" y="18034"/>
                  </a:lnTo>
                  <a:cubicBezTo>
                    <a:pt x="48768" y="6731"/>
                    <a:pt x="61849" y="0"/>
                    <a:pt x="75565" y="0"/>
                  </a:cubicBezTo>
                  <a:lnTo>
                    <a:pt x="224409" y="0"/>
                  </a:lnTo>
                  <a:cubicBezTo>
                    <a:pt x="238252" y="0"/>
                    <a:pt x="251206" y="6731"/>
                    <a:pt x="259334" y="17907"/>
                  </a:cubicBezTo>
                  <a:lnTo>
                    <a:pt x="292100" y="63754"/>
                  </a:lnTo>
                  <a:cubicBezTo>
                    <a:pt x="297307" y="70993"/>
                    <a:pt x="300101" y="79756"/>
                    <a:pt x="300101" y="88646"/>
                  </a:cubicBezTo>
                  <a:lnTo>
                    <a:pt x="300228" y="267843"/>
                  </a:lnTo>
                  <a:cubicBezTo>
                    <a:pt x="300228" y="291465"/>
                    <a:pt x="281051" y="310642"/>
                    <a:pt x="257429" y="310642"/>
                  </a:cubicBezTo>
                  <a:lnTo>
                    <a:pt x="42799" y="310642"/>
                  </a:lnTo>
                  <a:cubicBezTo>
                    <a:pt x="19177" y="310769"/>
                    <a:pt x="0" y="291592"/>
                    <a:pt x="0" y="267970"/>
                  </a:cubicBezTo>
                  <a:lnTo>
                    <a:pt x="0" y="88773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0150" y="2471738"/>
            <a:ext cx="7629525" cy="400050"/>
            <a:chOff x="0" y="0"/>
            <a:chExt cx="10172700" cy="533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727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172700">
                  <a:moveTo>
                    <a:pt x="0" y="0"/>
                  </a:moveTo>
                  <a:lnTo>
                    <a:pt x="10172700" y="0"/>
                  </a:lnTo>
                  <a:lnTo>
                    <a:pt x="10172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1607" r="0" b="-3216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1727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Boxplots de Variables Numéricas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71538" y="3043238"/>
            <a:ext cx="7829550" cy="5715000"/>
            <a:chOff x="0" y="0"/>
            <a:chExt cx="10439400" cy="762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394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439400">
                  <a:moveTo>
                    <a:pt x="0" y="0"/>
                  </a:moveTo>
                  <a:lnTo>
                    <a:pt x="10439400" y="0"/>
                  </a:lnTo>
                  <a:lnTo>
                    <a:pt x="104394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744" r="0" b="-2745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9284494" y="2169319"/>
            <a:ext cx="8434388" cy="5605462"/>
          </a:xfrm>
          <a:custGeom>
            <a:avLst/>
            <a:gdLst/>
            <a:ahLst/>
            <a:cxnLst/>
            <a:rect r="r" b="b" t="t" l="l"/>
            <a:pathLst>
              <a:path h="5605462" w="8434388">
                <a:moveTo>
                  <a:pt x="0" y="0"/>
                </a:moveTo>
                <a:lnTo>
                  <a:pt x="8434387" y="0"/>
                </a:lnTo>
                <a:lnTo>
                  <a:pt x="8434387" y="5605462"/>
                </a:lnTo>
                <a:lnTo>
                  <a:pt x="0" y="56054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622631" y="2543175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915525" y="2471738"/>
            <a:ext cx="7629525" cy="400050"/>
            <a:chOff x="0" y="0"/>
            <a:chExt cx="10172700" cy="533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727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172700">
                  <a:moveTo>
                    <a:pt x="0" y="0"/>
                  </a:moveTo>
                  <a:lnTo>
                    <a:pt x="10172700" y="0"/>
                  </a:lnTo>
                  <a:lnTo>
                    <a:pt x="10172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1607" r="0" b="-32160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101727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Análisis de Outliers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9584531" y="3098006"/>
            <a:ext cx="7834312" cy="1576388"/>
          </a:xfrm>
          <a:custGeom>
            <a:avLst/>
            <a:gdLst/>
            <a:ahLst/>
            <a:cxnLst/>
            <a:rect r="r" b="b" t="t" l="l"/>
            <a:pathLst>
              <a:path h="1576388" w="7834312">
                <a:moveTo>
                  <a:pt x="0" y="0"/>
                </a:moveTo>
                <a:lnTo>
                  <a:pt x="7834313" y="0"/>
                </a:lnTo>
                <a:lnTo>
                  <a:pt x="7834313" y="1576388"/>
                </a:lnTo>
                <a:lnTo>
                  <a:pt x="0" y="15763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829800" y="3200400"/>
            <a:ext cx="2552782" cy="742950"/>
            <a:chOff x="0" y="0"/>
            <a:chExt cx="3403710" cy="990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03710" cy="990600"/>
            </a:xfrm>
            <a:custGeom>
              <a:avLst/>
              <a:gdLst/>
              <a:ahLst/>
              <a:cxnLst/>
              <a:rect r="r" b="b" t="t" l="l"/>
              <a:pathLst>
                <a:path h="990600" w="3403710">
                  <a:moveTo>
                    <a:pt x="0" y="0"/>
                  </a:moveTo>
                  <a:lnTo>
                    <a:pt x="3403710" y="0"/>
                  </a:lnTo>
                  <a:lnTo>
                    <a:pt x="340371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637" r="31718" b="3120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3403710" cy="1057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Prior_purchases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143199" y="3343275"/>
            <a:ext cx="1028700" cy="342900"/>
            <a:chOff x="0" y="0"/>
            <a:chExt cx="1371600" cy="457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71600" cy="457200"/>
            </a:xfrm>
            <a:custGeom>
              <a:avLst/>
              <a:gdLst/>
              <a:ahLst/>
              <a:cxnLst/>
              <a:rect r="r" b="b" t="t" l="l"/>
              <a:pathLst>
                <a:path h="457200" w="1371600">
                  <a:moveTo>
                    <a:pt x="76200" y="0"/>
                  </a:moveTo>
                  <a:lnTo>
                    <a:pt x="1295400" y="0"/>
                  </a:lnTo>
                  <a:cubicBezTo>
                    <a:pt x="1337437" y="0"/>
                    <a:pt x="1371600" y="34163"/>
                    <a:pt x="1371600" y="76200"/>
                  </a:cubicBezTo>
                  <a:lnTo>
                    <a:pt x="1371600" y="381000"/>
                  </a:lnTo>
                  <a:cubicBezTo>
                    <a:pt x="1371600" y="423037"/>
                    <a:pt x="1337437" y="457200"/>
                    <a:pt x="129540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DC700">
                <a:alpha val="3922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143199" y="3343275"/>
            <a:ext cx="1114425" cy="342900"/>
            <a:chOff x="0" y="0"/>
            <a:chExt cx="1485900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85900" cy="457200"/>
            </a:xfrm>
            <a:custGeom>
              <a:avLst/>
              <a:gdLst/>
              <a:ahLst/>
              <a:cxnLst/>
              <a:rect r="r" b="b" t="t" l="l"/>
              <a:pathLst>
                <a:path h="457200" w="1485900">
                  <a:moveTo>
                    <a:pt x="0" y="0"/>
                  </a:moveTo>
                  <a:lnTo>
                    <a:pt x="1485900" y="0"/>
                  </a:lnTo>
                  <a:lnTo>
                    <a:pt x="14859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4859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FDC700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OUTLIERS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829800" y="3800475"/>
            <a:ext cx="7443788" cy="285750"/>
            <a:chOff x="0" y="0"/>
            <a:chExt cx="9925050" cy="381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925050" cy="381000"/>
            </a:xfrm>
            <a:custGeom>
              <a:avLst/>
              <a:gdLst/>
              <a:ahLst/>
              <a:cxnLst/>
              <a:rect r="r" b="b" t="t" l="l"/>
              <a:pathLst>
                <a:path h="381000" w="9925050">
                  <a:moveTo>
                    <a:pt x="0" y="0"/>
                  </a:moveTo>
                  <a:lnTo>
                    <a:pt x="9925050" y="0"/>
                  </a:lnTo>
                  <a:lnTo>
                    <a:pt x="9925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57585" r="0" b="-45758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99250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Presenta valores atípicos significativos en el extremo superior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9851231" y="4229100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0158412" y="4180912"/>
            <a:ext cx="4343727" cy="248213"/>
            <a:chOff x="0" y="0"/>
            <a:chExt cx="5334000" cy="304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3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53340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Esperado:</a:t>
              </a: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Clientes con historial extenso de compras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9584531" y="4841081"/>
            <a:ext cx="7834312" cy="1233488"/>
          </a:xfrm>
          <a:custGeom>
            <a:avLst/>
            <a:gdLst/>
            <a:ahLst/>
            <a:cxnLst/>
            <a:rect r="r" b="b" t="t" l="l"/>
            <a:pathLst>
              <a:path h="1233488" w="7834312">
                <a:moveTo>
                  <a:pt x="0" y="0"/>
                </a:moveTo>
                <a:lnTo>
                  <a:pt x="7834313" y="0"/>
                </a:lnTo>
                <a:lnTo>
                  <a:pt x="7834313" y="1233488"/>
                </a:lnTo>
                <a:lnTo>
                  <a:pt x="0" y="123348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9829800" y="4943475"/>
            <a:ext cx="2328862" cy="742950"/>
            <a:chOff x="0" y="0"/>
            <a:chExt cx="3105150" cy="990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105150" cy="990600"/>
            </a:xfrm>
            <a:custGeom>
              <a:avLst/>
              <a:gdLst/>
              <a:ahLst/>
              <a:cxnLst/>
              <a:rect r="r" b="b" t="t" l="l"/>
              <a:pathLst>
                <a:path h="990600" w="3105150">
                  <a:moveTo>
                    <a:pt x="0" y="0"/>
                  </a:moveTo>
                  <a:lnTo>
                    <a:pt x="3105150" y="0"/>
                  </a:lnTo>
                  <a:lnTo>
                    <a:pt x="310515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139" r="27607" b="3270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3105150" cy="1057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Weight_in_gms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6226028" y="5086350"/>
            <a:ext cx="942975" cy="342900"/>
            <a:chOff x="0" y="0"/>
            <a:chExt cx="1257300" cy="457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573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57300">
                  <a:moveTo>
                    <a:pt x="76200" y="0"/>
                  </a:moveTo>
                  <a:lnTo>
                    <a:pt x="1181100" y="0"/>
                  </a:lnTo>
                  <a:cubicBezTo>
                    <a:pt x="1223137" y="0"/>
                    <a:pt x="1257300" y="34163"/>
                    <a:pt x="1257300" y="76200"/>
                  </a:cubicBezTo>
                  <a:lnTo>
                    <a:pt x="1257300" y="381000"/>
                  </a:lnTo>
                  <a:cubicBezTo>
                    <a:pt x="1257300" y="423037"/>
                    <a:pt x="1223137" y="457200"/>
                    <a:pt x="118110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5DF72">
                <a:alpha val="3922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6226028" y="5086350"/>
            <a:ext cx="1028700" cy="342900"/>
            <a:chOff x="0" y="0"/>
            <a:chExt cx="1371600" cy="457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71600" cy="457200"/>
            </a:xfrm>
            <a:custGeom>
              <a:avLst/>
              <a:gdLst/>
              <a:ahLst/>
              <a:cxnLst/>
              <a:rect r="r" b="b" t="t" l="l"/>
              <a:pathLst>
                <a:path h="4572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3716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05DF72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NORMAL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829800" y="5543550"/>
            <a:ext cx="7443788" cy="285750"/>
            <a:chOff x="0" y="0"/>
            <a:chExt cx="9925050" cy="381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925050" cy="381000"/>
            </a:xfrm>
            <a:custGeom>
              <a:avLst/>
              <a:gdLst/>
              <a:ahLst/>
              <a:cxnLst/>
              <a:rect r="r" b="b" t="t" l="l"/>
              <a:pathLst>
                <a:path h="381000" w="9925050">
                  <a:moveTo>
                    <a:pt x="0" y="0"/>
                  </a:moveTo>
                  <a:lnTo>
                    <a:pt x="9925050" y="0"/>
                  </a:lnTo>
                  <a:lnTo>
                    <a:pt x="9925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57585" r="0" b="-45758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9250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Distribución relativamente simétrica con pocos outliers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584531" y="6241256"/>
            <a:ext cx="7834312" cy="1233488"/>
          </a:xfrm>
          <a:custGeom>
            <a:avLst/>
            <a:gdLst/>
            <a:ahLst/>
            <a:cxnLst/>
            <a:rect r="r" b="b" t="t" l="l"/>
            <a:pathLst>
              <a:path h="1233488" w="7834312">
                <a:moveTo>
                  <a:pt x="0" y="0"/>
                </a:moveTo>
                <a:lnTo>
                  <a:pt x="7834313" y="0"/>
                </a:lnTo>
                <a:lnTo>
                  <a:pt x="7834313" y="1233488"/>
                </a:lnTo>
                <a:lnTo>
                  <a:pt x="0" y="123348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829800" y="6241256"/>
            <a:ext cx="2500476" cy="742950"/>
            <a:chOff x="0" y="0"/>
            <a:chExt cx="3333968" cy="990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333968" cy="990600"/>
            </a:xfrm>
            <a:custGeom>
              <a:avLst/>
              <a:gdLst/>
              <a:ahLst/>
              <a:cxnLst/>
              <a:rect r="r" b="b" t="t" l="l"/>
              <a:pathLst>
                <a:path h="990600" w="3333968">
                  <a:moveTo>
                    <a:pt x="0" y="0"/>
                  </a:moveTo>
                  <a:lnTo>
                    <a:pt x="3333968" y="0"/>
                  </a:lnTo>
                  <a:lnTo>
                    <a:pt x="3333968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010" r="25147" b="2783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3333968" cy="1057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Discount_offered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226028" y="6486525"/>
            <a:ext cx="942975" cy="342900"/>
            <a:chOff x="0" y="0"/>
            <a:chExt cx="1257300" cy="457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257300" cy="457200"/>
            </a:xfrm>
            <a:custGeom>
              <a:avLst/>
              <a:gdLst/>
              <a:ahLst/>
              <a:cxnLst/>
              <a:rect r="r" b="b" t="t" l="l"/>
              <a:pathLst>
                <a:path h="457200" w="1257300">
                  <a:moveTo>
                    <a:pt x="76200" y="0"/>
                  </a:moveTo>
                  <a:lnTo>
                    <a:pt x="1181100" y="0"/>
                  </a:lnTo>
                  <a:cubicBezTo>
                    <a:pt x="1223137" y="0"/>
                    <a:pt x="1257300" y="34163"/>
                    <a:pt x="1257300" y="76200"/>
                  </a:cubicBezTo>
                  <a:lnTo>
                    <a:pt x="1257300" y="381000"/>
                  </a:lnTo>
                  <a:cubicBezTo>
                    <a:pt x="1257300" y="423037"/>
                    <a:pt x="1223137" y="457200"/>
                    <a:pt x="1181100" y="457200"/>
                  </a:cubicBezTo>
                  <a:lnTo>
                    <a:pt x="76200" y="457200"/>
                  </a:lnTo>
                  <a:cubicBezTo>
                    <a:pt x="34163" y="457200"/>
                    <a:pt x="0" y="423037"/>
                    <a:pt x="0" y="381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05DF72">
                <a:alpha val="3922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6226028" y="6486525"/>
            <a:ext cx="1028700" cy="342900"/>
            <a:chOff x="0" y="0"/>
            <a:chExt cx="1371600" cy="457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71600" cy="457200"/>
            </a:xfrm>
            <a:custGeom>
              <a:avLst/>
              <a:gdLst/>
              <a:ahLst/>
              <a:cxnLst/>
              <a:rect r="r" b="b" t="t" l="l"/>
              <a:pathLst>
                <a:path h="457200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37160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05DF72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NORMAL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829800" y="6943725"/>
            <a:ext cx="7443788" cy="285750"/>
            <a:chOff x="0" y="0"/>
            <a:chExt cx="9925050" cy="381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925050" cy="381000"/>
            </a:xfrm>
            <a:custGeom>
              <a:avLst/>
              <a:gdLst/>
              <a:ahLst/>
              <a:cxnLst/>
              <a:rect r="r" b="b" t="t" l="l"/>
              <a:pathLst>
                <a:path h="381000" w="9925050">
                  <a:moveTo>
                    <a:pt x="0" y="0"/>
                  </a:moveTo>
                  <a:lnTo>
                    <a:pt x="9925050" y="0"/>
                  </a:lnTo>
                  <a:lnTo>
                    <a:pt x="9925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57585" r="0" b="-45758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99250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Rango de valores dentro de lo esperado para estrategias comerciales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9284494" y="7998619"/>
            <a:ext cx="8434388" cy="1404938"/>
          </a:xfrm>
          <a:custGeom>
            <a:avLst/>
            <a:gdLst/>
            <a:ahLst/>
            <a:cxnLst/>
            <a:rect r="r" b="b" t="t" l="l"/>
            <a:pathLst>
              <a:path h="1404938" w="8434388">
                <a:moveTo>
                  <a:pt x="0" y="0"/>
                </a:moveTo>
                <a:lnTo>
                  <a:pt x="8434387" y="0"/>
                </a:lnTo>
                <a:lnTo>
                  <a:pt x="8434387" y="1404937"/>
                </a:lnTo>
                <a:lnTo>
                  <a:pt x="0" y="140493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9540478" y="8301038"/>
            <a:ext cx="192881" cy="257175"/>
          </a:xfrm>
          <a:custGeom>
            <a:avLst/>
            <a:gdLst/>
            <a:ahLst/>
            <a:cxnLst/>
            <a:rect r="r" b="b" t="t" l="l"/>
            <a:pathLst>
              <a:path h="257175" w="192881">
                <a:moveTo>
                  <a:pt x="0" y="0"/>
                </a:moveTo>
                <a:lnTo>
                  <a:pt x="192881" y="0"/>
                </a:lnTo>
                <a:lnTo>
                  <a:pt x="192881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9915858" y="8243888"/>
            <a:ext cx="7658100" cy="285750"/>
            <a:chOff x="0" y="0"/>
            <a:chExt cx="10210800" cy="381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210800" cy="381000"/>
            </a:xfrm>
            <a:custGeom>
              <a:avLst/>
              <a:gdLst/>
              <a:ahLst/>
              <a:cxnLst/>
              <a:rect r="r" b="b" t="t" l="l"/>
              <a:pathLst>
                <a:path h="381000" w="10210800">
                  <a:moveTo>
                    <a:pt x="0" y="0"/>
                  </a:moveTo>
                  <a:lnTo>
                    <a:pt x="10210800" y="0"/>
                  </a:lnTo>
                  <a:lnTo>
                    <a:pt x="102108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199" r="0" b="-47219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02108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Decisión de Tratamiento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915858" y="8586788"/>
            <a:ext cx="7658100" cy="571500"/>
            <a:chOff x="0" y="0"/>
            <a:chExt cx="10210800" cy="762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10800" cy="762000"/>
            </a:xfrm>
            <a:custGeom>
              <a:avLst/>
              <a:gdLst/>
              <a:ahLst/>
              <a:cxnLst/>
              <a:rect r="r" b="b" t="t" l="l"/>
              <a:pathLst>
                <a:path h="762000" w="10210800">
                  <a:moveTo>
                    <a:pt x="0" y="0"/>
                  </a:moveTo>
                  <a:lnTo>
                    <a:pt x="10210800" y="0"/>
                  </a:lnTo>
                  <a:lnTo>
                    <a:pt x="102108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1099" r="0" b="-21109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21080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Los outliers en </a:t>
              </a: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Prior_purchases</a:t>
              </a: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se mantienen ya que representan clientes leales con historial real de compras, no errores de datos.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14375"/>
            <a:ext cx="571500" cy="571500"/>
            <a:chOff x="0" y="0"/>
            <a:chExt cx="762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16166" y="871538"/>
            <a:ext cx="289322" cy="257175"/>
          </a:xfrm>
          <a:custGeom>
            <a:avLst/>
            <a:gdLst/>
            <a:ahLst/>
            <a:cxnLst/>
            <a:rect r="r" b="b" t="t" l="l"/>
            <a:pathLst>
              <a:path h="257175" w="289322">
                <a:moveTo>
                  <a:pt x="0" y="0"/>
                </a:moveTo>
                <a:lnTo>
                  <a:pt x="289322" y="0"/>
                </a:lnTo>
                <a:lnTo>
                  <a:pt x="289322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4450" y="571500"/>
            <a:ext cx="5243512" cy="285750"/>
            <a:chOff x="0" y="0"/>
            <a:chExt cx="6991350" cy="38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91350" cy="381000"/>
            </a:xfrm>
            <a:custGeom>
              <a:avLst/>
              <a:gdLst/>
              <a:ahLst/>
              <a:cxnLst/>
              <a:rect r="r" b="b" t="t" l="l"/>
              <a:pathLst>
                <a:path h="381000" w="6991350">
                  <a:moveTo>
                    <a:pt x="0" y="0"/>
                  </a:moveTo>
                  <a:lnTo>
                    <a:pt x="6991350" y="0"/>
                  </a:lnTo>
                  <a:lnTo>
                    <a:pt x="6991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7550" r="0" b="-3075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991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Análisis Exploratorio (3/3)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4450" y="711184"/>
            <a:ext cx="6272668" cy="863632"/>
            <a:chOff x="0" y="0"/>
            <a:chExt cx="8363557" cy="11515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63557" cy="1151509"/>
            </a:xfrm>
            <a:custGeom>
              <a:avLst/>
              <a:gdLst/>
              <a:ahLst/>
              <a:cxnLst/>
              <a:rect r="r" b="b" t="t" l="l"/>
              <a:pathLst>
                <a:path h="1151509" w="8363557">
                  <a:moveTo>
                    <a:pt x="0" y="0"/>
                  </a:moveTo>
                  <a:lnTo>
                    <a:pt x="8363557" y="0"/>
                  </a:lnTo>
                  <a:lnTo>
                    <a:pt x="8363557" y="1151509"/>
                  </a:lnTo>
                  <a:lnTo>
                    <a:pt x="0" y="11515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761" r="13901" b="-549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8363557" cy="1103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Distribución del Target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500" y="1543050"/>
            <a:ext cx="17259300" cy="342900"/>
            <a:chOff x="0" y="0"/>
            <a:chExt cx="230124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30124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Análisis del desbalance de clases en entregas a tiempo vs retrasos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69119" y="2169319"/>
            <a:ext cx="8434388" cy="7548562"/>
          </a:xfrm>
          <a:custGeom>
            <a:avLst/>
            <a:gdLst/>
            <a:ahLst/>
            <a:cxnLst/>
            <a:rect r="r" b="b" t="t" l="l"/>
            <a:pathLst>
              <a:path h="7548562" w="8434388">
                <a:moveTo>
                  <a:pt x="0" y="0"/>
                </a:moveTo>
                <a:lnTo>
                  <a:pt x="8434387" y="0"/>
                </a:lnTo>
                <a:lnTo>
                  <a:pt x="8434387" y="7548562"/>
                </a:lnTo>
                <a:lnTo>
                  <a:pt x="0" y="7548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5109" y="2543175"/>
            <a:ext cx="321469" cy="257175"/>
          </a:xfrm>
          <a:custGeom>
            <a:avLst/>
            <a:gdLst/>
            <a:ahLst/>
            <a:cxnLst/>
            <a:rect r="r" b="b" t="t" l="l"/>
            <a:pathLst>
              <a:path h="257175" w="321469">
                <a:moveTo>
                  <a:pt x="0" y="0"/>
                </a:moveTo>
                <a:lnTo>
                  <a:pt x="321469" y="0"/>
                </a:lnTo>
                <a:lnTo>
                  <a:pt x="321469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00150" y="2471738"/>
            <a:ext cx="7629525" cy="400050"/>
            <a:chOff x="0" y="0"/>
            <a:chExt cx="101727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727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172700">
                  <a:moveTo>
                    <a:pt x="0" y="0"/>
                  </a:moveTo>
                  <a:lnTo>
                    <a:pt x="10172700" y="0"/>
                  </a:lnTo>
                  <a:lnTo>
                    <a:pt x="10172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1607" r="0" b="-32160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1727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Distribución de Clases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71538" y="3043238"/>
            <a:ext cx="7709349" cy="5715000"/>
            <a:chOff x="0" y="0"/>
            <a:chExt cx="10279132" cy="7620000"/>
          </a:xfrm>
        </p:grpSpPr>
        <p:sp>
          <p:nvSpPr>
            <p:cNvPr name="Freeform 20" id="20" descr="https://kimi-img.moonshot.cn/pub/slides/26-03-12-05:09:09-d6otjtcomnm65sv52ang.png"/>
            <p:cNvSpPr/>
            <p:nvPr/>
          </p:nvSpPr>
          <p:spPr>
            <a:xfrm flipH="false" flipV="false" rot="0">
              <a:off x="0" y="0"/>
              <a:ext cx="10279131" cy="7620000"/>
            </a:xfrm>
            <a:custGeom>
              <a:avLst/>
              <a:gdLst/>
              <a:ahLst/>
              <a:cxnLst/>
              <a:rect r="r" b="b" t="t" l="l"/>
              <a:pathLst>
                <a:path h="7620000" w="10279131">
                  <a:moveTo>
                    <a:pt x="0" y="0"/>
                  </a:moveTo>
                  <a:lnTo>
                    <a:pt x="10279131" y="0"/>
                  </a:lnTo>
                  <a:lnTo>
                    <a:pt x="10279131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9" t="0" r="-779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9284494" y="2169319"/>
            <a:ext cx="8434388" cy="4491038"/>
          </a:xfrm>
          <a:custGeom>
            <a:avLst/>
            <a:gdLst/>
            <a:ahLst/>
            <a:cxnLst/>
            <a:rect r="r" b="b" t="t" l="l"/>
            <a:pathLst>
              <a:path h="4491038" w="8434388">
                <a:moveTo>
                  <a:pt x="0" y="0"/>
                </a:moveTo>
                <a:lnTo>
                  <a:pt x="8434387" y="0"/>
                </a:lnTo>
                <a:lnTo>
                  <a:pt x="8434387" y="4491037"/>
                </a:lnTo>
                <a:lnTo>
                  <a:pt x="0" y="44910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638700" y="2543175"/>
            <a:ext cx="225028" cy="257175"/>
          </a:xfrm>
          <a:custGeom>
            <a:avLst/>
            <a:gdLst/>
            <a:ahLst/>
            <a:cxnLst/>
            <a:rect r="r" b="b" t="t" l="l"/>
            <a:pathLst>
              <a:path h="257175" w="225028">
                <a:moveTo>
                  <a:pt x="0" y="0"/>
                </a:moveTo>
                <a:lnTo>
                  <a:pt x="225028" y="0"/>
                </a:lnTo>
                <a:lnTo>
                  <a:pt x="225028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915525" y="2471738"/>
            <a:ext cx="7629525" cy="400050"/>
            <a:chOff x="0" y="0"/>
            <a:chExt cx="10172700" cy="533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727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172700">
                  <a:moveTo>
                    <a:pt x="0" y="0"/>
                  </a:moveTo>
                  <a:lnTo>
                    <a:pt x="10172700" y="0"/>
                  </a:lnTo>
                  <a:lnTo>
                    <a:pt x="10172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1607" r="0" b="-32160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01727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Proporciones del Dataset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9584531" y="3098006"/>
            <a:ext cx="7834312" cy="1519238"/>
          </a:xfrm>
          <a:custGeom>
            <a:avLst/>
            <a:gdLst/>
            <a:ahLst/>
            <a:cxnLst/>
            <a:rect r="r" b="b" t="t" l="l"/>
            <a:pathLst>
              <a:path h="1519238" w="7834312">
                <a:moveTo>
                  <a:pt x="0" y="0"/>
                </a:moveTo>
                <a:lnTo>
                  <a:pt x="7834313" y="0"/>
                </a:lnTo>
                <a:lnTo>
                  <a:pt x="7834313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829800" y="3400425"/>
            <a:ext cx="571500" cy="571500"/>
            <a:chOff x="0" y="0"/>
            <a:chExt cx="762000" cy="762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972675" y="3543300"/>
            <a:ext cx="285750" cy="285750"/>
            <a:chOff x="0" y="0"/>
            <a:chExt cx="381000" cy="38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572750" y="3114675"/>
            <a:ext cx="2513771" cy="742950"/>
            <a:chOff x="0" y="0"/>
            <a:chExt cx="3351695" cy="990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51695" cy="990600"/>
            </a:xfrm>
            <a:custGeom>
              <a:avLst/>
              <a:gdLst/>
              <a:ahLst/>
              <a:cxnLst/>
              <a:rect r="r" b="b" t="t" l="l"/>
              <a:pathLst>
                <a:path h="990600" w="3351695">
                  <a:moveTo>
                    <a:pt x="0" y="0"/>
                  </a:moveTo>
                  <a:lnTo>
                    <a:pt x="3351695" y="0"/>
                  </a:lnTo>
                  <a:lnTo>
                    <a:pt x="3351695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389" r="34069" b="3345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3351695" cy="1057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Llegó a Tiempo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572750" y="3743325"/>
            <a:ext cx="1628775" cy="228600"/>
            <a:chOff x="0" y="0"/>
            <a:chExt cx="2171700" cy="304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71700" cy="304800"/>
            </a:xfrm>
            <a:custGeom>
              <a:avLst/>
              <a:gdLst/>
              <a:ahLst/>
              <a:cxnLst/>
              <a:rect r="r" b="b" t="t" l="l"/>
              <a:pathLst>
                <a:path h="304800" w="2171700">
                  <a:moveTo>
                    <a:pt x="0" y="0"/>
                  </a:moveTo>
                  <a:lnTo>
                    <a:pt x="2171700" y="0"/>
                  </a:lnTo>
                  <a:lnTo>
                    <a:pt x="21717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1717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Clase 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826978" y="3343275"/>
            <a:ext cx="1343025" cy="457200"/>
            <a:chOff x="0" y="0"/>
            <a:chExt cx="179070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90700" cy="609600"/>
            </a:xfrm>
            <a:custGeom>
              <a:avLst/>
              <a:gdLst/>
              <a:ahLst/>
              <a:cxnLst/>
              <a:rect r="r" b="b" t="t" l="l"/>
              <a:pathLst>
                <a:path h="609600" w="1790700">
                  <a:moveTo>
                    <a:pt x="0" y="0"/>
                  </a:moveTo>
                  <a:lnTo>
                    <a:pt x="1790700" y="0"/>
                  </a:lnTo>
                  <a:lnTo>
                    <a:pt x="17907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37" r="0" b="-723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7907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564"/>
                </a:lnSpc>
              </a:pPr>
              <a:r>
                <a:rPr lang="en-US" sz="270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~60%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912703" y="3800475"/>
            <a:ext cx="1257300" cy="228600"/>
            <a:chOff x="0" y="0"/>
            <a:chExt cx="1676400" cy="304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76400" cy="304800"/>
            </a:xfrm>
            <a:custGeom>
              <a:avLst/>
              <a:gdLst/>
              <a:ahLst/>
              <a:cxnLst/>
              <a:rect r="r" b="b" t="t" l="l"/>
              <a:pathLst>
                <a:path h="30480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16764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6,000 registros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829800" y="4200525"/>
            <a:ext cx="7343775" cy="171450"/>
            <a:chOff x="0" y="0"/>
            <a:chExt cx="9791700" cy="228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91700" cy="228600"/>
            </a:xfrm>
            <a:custGeom>
              <a:avLst/>
              <a:gdLst/>
              <a:ahLst/>
              <a:cxnLst/>
              <a:rect r="r" b="b" t="t" l="l"/>
              <a:pathLst>
                <a:path h="228600" w="9791700">
                  <a:moveTo>
                    <a:pt x="114300" y="0"/>
                  </a:moveTo>
                  <a:lnTo>
                    <a:pt x="9677400" y="0"/>
                  </a:lnTo>
                  <a:cubicBezTo>
                    <a:pt x="9740519" y="0"/>
                    <a:pt x="9791700" y="51181"/>
                    <a:pt x="9791700" y="114300"/>
                  </a:cubicBezTo>
                  <a:cubicBezTo>
                    <a:pt x="9791700" y="177419"/>
                    <a:pt x="9740519" y="228600"/>
                    <a:pt x="967740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829800" y="4200525"/>
            <a:ext cx="4400550" cy="171450"/>
            <a:chOff x="0" y="0"/>
            <a:chExt cx="5867400" cy="228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67400" cy="228600"/>
            </a:xfrm>
            <a:custGeom>
              <a:avLst/>
              <a:gdLst/>
              <a:ahLst/>
              <a:cxnLst/>
              <a:rect r="r" b="b" t="t" l="l"/>
              <a:pathLst>
                <a:path h="228600" w="5867400">
                  <a:moveTo>
                    <a:pt x="114300" y="0"/>
                  </a:moveTo>
                  <a:lnTo>
                    <a:pt x="5753100" y="0"/>
                  </a:lnTo>
                  <a:cubicBezTo>
                    <a:pt x="5816219" y="0"/>
                    <a:pt x="5867400" y="51181"/>
                    <a:pt x="5867400" y="114300"/>
                  </a:cubicBezTo>
                  <a:cubicBezTo>
                    <a:pt x="5867400" y="177419"/>
                    <a:pt x="5816219" y="228600"/>
                    <a:pt x="575310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9584531" y="4841081"/>
            <a:ext cx="7834312" cy="1519238"/>
          </a:xfrm>
          <a:custGeom>
            <a:avLst/>
            <a:gdLst/>
            <a:ahLst/>
            <a:cxnLst/>
            <a:rect r="r" b="b" t="t" l="l"/>
            <a:pathLst>
              <a:path h="1519238" w="7834312">
                <a:moveTo>
                  <a:pt x="0" y="0"/>
                </a:moveTo>
                <a:lnTo>
                  <a:pt x="7834313" y="0"/>
                </a:lnTo>
                <a:lnTo>
                  <a:pt x="7834313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9829800" y="5143500"/>
            <a:ext cx="571500" cy="571500"/>
            <a:chOff x="0" y="0"/>
            <a:chExt cx="762000" cy="762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6467">
                <a:alpha val="3922"/>
              </a:srgbClr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9972675" y="528637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0572750" y="5143500"/>
            <a:ext cx="885825" cy="342900"/>
            <a:chOff x="0" y="0"/>
            <a:chExt cx="1181100" cy="457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81100" cy="457200"/>
            </a:xfrm>
            <a:custGeom>
              <a:avLst/>
              <a:gdLst/>
              <a:ahLst/>
              <a:cxnLst/>
              <a:rect r="r" b="b" t="t" l="l"/>
              <a:pathLst>
                <a:path h="45720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6" r="0" b="-33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11811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Retraso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572750" y="5486400"/>
            <a:ext cx="857250" cy="228600"/>
            <a:chOff x="0" y="0"/>
            <a:chExt cx="1143000" cy="304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43000" cy="304800"/>
            </a:xfrm>
            <a:custGeom>
              <a:avLst/>
              <a:gdLst/>
              <a:ahLst/>
              <a:cxnLst/>
              <a:rect r="r" b="b" t="t" l="l"/>
              <a:pathLst>
                <a:path h="3048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1430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Clase 0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828540" y="5086350"/>
            <a:ext cx="1343025" cy="457200"/>
            <a:chOff x="0" y="0"/>
            <a:chExt cx="1790700" cy="609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90700" cy="609600"/>
            </a:xfrm>
            <a:custGeom>
              <a:avLst/>
              <a:gdLst/>
              <a:ahLst/>
              <a:cxnLst/>
              <a:rect r="r" b="b" t="t" l="l"/>
              <a:pathLst>
                <a:path h="609600" w="1790700">
                  <a:moveTo>
                    <a:pt x="0" y="0"/>
                  </a:moveTo>
                  <a:lnTo>
                    <a:pt x="1790700" y="0"/>
                  </a:lnTo>
                  <a:lnTo>
                    <a:pt x="17907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37" r="0" b="-723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17907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564"/>
                </a:lnSpc>
              </a:pPr>
              <a:r>
                <a:rPr lang="en-US" sz="2700" b="true">
                  <a:solidFill>
                    <a:srgbClr val="FF646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~40%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914265" y="5543550"/>
            <a:ext cx="1257300" cy="228600"/>
            <a:chOff x="0" y="0"/>
            <a:chExt cx="1676400" cy="304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676400" cy="304800"/>
            </a:xfrm>
            <a:custGeom>
              <a:avLst/>
              <a:gdLst/>
              <a:ahLst/>
              <a:cxnLst/>
              <a:rect r="r" b="b" t="t" l="l"/>
              <a:pathLst>
                <a:path h="304800" w="1676400">
                  <a:moveTo>
                    <a:pt x="0" y="0"/>
                  </a:moveTo>
                  <a:lnTo>
                    <a:pt x="1676400" y="0"/>
                  </a:lnTo>
                  <a:lnTo>
                    <a:pt x="16764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16764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4,000 registros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829800" y="5943600"/>
            <a:ext cx="7343775" cy="171450"/>
            <a:chOff x="0" y="0"/>
            <a:chExt cx="9791700" cy="228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791700" cy="228600"/>
            </a:xfrm>
            <a:custGeom>
              <a:avLst/>
              <a:gdLst/>
              <a:ahLst/>
              <a:cxnLst/>
              <a:rect r="r" b="b" t="t" l="l"/>
              <a:pathLst>
                <a:path h="228600" w="9791700">
                  <a:moveTo>
                    <a:pt x="114300" y="0"/>
                  </a:moveTo>
                  <a:lnTo>
                    <a:pt x="9677400" y="0"/>
                  </a:lnTo>
                  <a:cubicBezTo>
                    <a:pt x="9740519" y="0"/>
                    <a:pt x="9791700" y="51181"/>
                    <a:pt x="9791700" y="114300"/>
                  </a:cubicBezTo>
                  <a:cubicBezTo>
                    <a:pt x="9791700" y="177419"/>
                    <a:pt x="9740519" y="228600"/>
                    <a:pt x="967740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829800" y="5943600"/>
            <a:ext cx="2943225" cy="171450"/>
            <a:chOff x="0" y="0"/>
            <a:chExt cx="3924300" cy="228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24300" cy="228600"/>
            </a:xfrm>
            <a:custGeom>
              <a:avLst/>
              <a:gdLst/>
              <a:ahLst/>
              <a:cxnLst/>
              <a:rect r="r" b="b" t="t" l="l"/>
              <a:pathLst>
                <a:path h="228600" w="3924300">
                  <a:moveTo>
                    <a:pt x="114300" y="0"/>
                  </a:moveTo>
                  <a:lnTo>
                    <a:pt x="3810000" y="0"/>
                  </a:lnTo>
                  <a:cubicBezTo>
                    <a:pt x="3873119" y="0"/>
                    <a:pt x="3924300" y="51181"/>
                    <a:pt x="3924300" y="114300"/>
                  </a:cubicBezTo>
                  <a:cubicBezTo>
                    <a:pt x="3924300" y="177419"/>
                    <a:pt x="3873119" y="228600"/>
                    <a:pt x="3810000" y="228600"/>
                  </a:cubicBezTo>
                  <a:lnTo>
                    <a:pt x="114300" y="228600"/>
                  </a:lnTo>
                  <a:cubicBezTo>
                    <a:pt x="51181" y="228600"/>
                    <a:pt x="0" y="177419"/>
                    <a:pt x="0" y="114300"/>
                  </a:cubicBezTo>
                  <a:cubicBezTo>
                    <a:pt x="0" y="51181"/>
                    <a:pt x="51181" y="0"/>
                    <a:pt x="114300" y="0"/>
                  </a:cubicBezTo>
                  <a:close/>
                </a:path>
              </a:pathLst>
            </a:custGeom>
            <a:solidFill>
              <a:srgbClr val="FF6467"/>
            </a:solidFill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9284494" y="6884194"/>
            <a:ext cx="8434388" cy="1404938"/>
          </a:xfrm>
          <a:custGeom>
            <a:avLst/>
            <a:gdLst/>
            <a:ahLst/>
            <a:cxnLst/>
            <a:rect r="r" b="b" t="t" l="l"/>
            <a:pathLst>
              <a:path h="1404938" w="8434388">
                <a:moveTo>
                  <a:pt x="0" y="0"/>
                </a:moveTo>
                <a:lnTo>
                  <a:pt x="8434387" y="0"/>
                </a:lnTo>
                <a:lnTo>
                  <a:pt x="8434387" y="1404937"/>
                </a:lnTo>
                <a:lnTo>
                  <a:pt x="0" y="140493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9501188" y="7186612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4" y="0"/>
                </a:lnTo>
                <a:lnTo>
                  <a:pt x="257174" y="257176"/>
                </a:lnTo>
                <a:lnTo>
                  <a:pt x="0" y="25717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9901352" y="7129462"/>
            <a:ext cx="7672388" cy="285750"/>
            <a:chOff x="0" y="0"/>
            <a:chExt cx="10229850" cy="381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229850" cy="381000"/>
            </a:xfrm>
            <a:custGeom>
              <a:avLst/>
              <a:gdLst/>
              <a:ahLst/>
              <a:cxnLst/>
              <a:rect r="r" b="b" t="t" l="l"/>
              <a:pathLst>
                <a:path h="381000" w="10229850">
                  <a:moveTo>
                    <a:pt x="0" y="0"/>
                  </a:moveTo>
                  <a:lnTo>
                    <a:pt x="10229850" y="0"/>
                  </a:lnTo>
                  <a:lnTo>
                    <a:pt x="10229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3173" r="0" b="-47317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0229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Impacto del Desbalance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901352" y="7472362"/>
            <a:ext cx="7672388" cy="571500"/>
            <a:chOff x="0" y="0"/>
            <a:chExt cx="10229850" cy="762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2298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229850">
                  <a:moveTo>
                    <a:pt x="0" y="0"/>
                  </a:moveTo>
                  <a:lnTo>
                    <a:pt x="10229850" y="0"/>
                  </a:lnTo>
                  <a:lnTo>
                    <a:pt x="102298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1586" r="0" b="-21158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22985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El dataset presenta un </a:t>
              </a: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desbalance moderado</a:t>
              </a: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(60/40) que puede afectar el entrenamiento de modelos de clasificación, favoreciendo la clase mayoritaria.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91919">
                    <a:alpha val="95000"/>
                  </a:srgbClr>
                </a:gs>
                <a:gs pos="50000">
                  <a:srgbClr val="191919">
                    <a:alpha val="90000"/>
                  </a:srgbClr>
                </a:gs>
                <a:gs pos="100000">
                  <a:srgbClr val="191919">
                    <a:alpha val="95000"/>
                  </a:srgbClr>
                </a:gs>
              </a:gsLst>
              <a:lin ang="3638535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3529012"/>
            <a:ext cx="1143000" cy="1143000"/>
            <a:chOff x="0" y="0"/>
            <a:chExt cx="1524000" cy="152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304800" y="0"/>
                  </a:moveTo>
                  <a:lnTo>
                    <a:pt x="1219200" y="0"/>
                  </a:lnTo>
                  <a:cubicBezTo>
                    <a:pt x="1387475" y="0"/>
                    <a:pt x="1524000" y="136525"/>
                    <a:pt x="1524000" y="304800"/>
                  </a:cubicBezTo>
                  <a:lnTo>
                    <a:pt x="1524000" y="1219200"/>
                  </a:lnTo>
                  <a:cubicBezTo>
                    <a:pt x="1524000" y="1387475"/>
                    <a:pt x="1387475" y="1524000"/>
                    <a:pt x="1219200" y="1524000"/>
                  </a:cubicBezTo>
                  <a:lnTo>
                    <a:pt x="304800" y="1524000"/>
                  </a:lnTo>
                  <a:cubicBezTo>
                    <a:pt x="136525" y="1524000"/>
                    <a:pt x="0" y="1387475"/>
                    <a:pt x="0" y="1219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85825" y="3843338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943100" y="3043238"/>
            <a:ext cx="4514850" cy="285750"/>
            <a:chOff x="0" y="0"/>
            <a:chExt cx="6019800" cy="38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19800" cy="381000"/>
            </a:xfrm>
            <a:custGeom>
              <a:avLst/>
              <a:gdLst/>
              <a:ahLst/>
              <a:cxnLst/>
              <a:rect r="r" b="b" t="t" l="l"/>
              <a:pathLst>
                <a:path h="381000" w="6019800">
                  <a:moveTo>
                    <a:pt x="0" y="0"/>
                  </a:moveTo>
                  <a:lnTo>
                    <a:pt x="6019800" y="0"/>
                  </a:lnTo>
                  <a:lnTo>
                    <a:pt x="60198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7863" r="0" b="-25786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0198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472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Sección 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43100" y="3443288"/>
            <a:ext cx="4843462" cy="2259806"/>
            <a:chOff x="0" y="0"/>
            <a:chExt cx="6457950" cy="30130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57950" cy="3013075"/>
            </a:xfrm>
            <a:custGeom>
              <a:avLst/>
              <a:gdLst/>
              <a:ahLst/>
              <a:cxnLst/>
              <a:rect r="r" b="b" t="t" l="l"/>
              <a:pathLst>
                <a:path h="3013075" w="6457950">
                  <a:moveTo>
                    <a:pt x="0" y="0"/>
                  </a:moveTo>
                  <a:lnTo>
                    <a:pt x="6457950" y="0"/>
                  </a:lnTo>
                  <a:lnTo>
                    <a:pt x="6457950" y="3013075"/>
                  </a:lnTo>
                  <a:lnTo>
                    <a:pt x="0" y="30130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27" r="0" b="2030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2400"/>
              <a:ext cx="6457950" cy="2860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7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Modelos de</a:t>
              </a:r>
            </a:p>
            <a:p>
              <a:pPr algn="l">
                <a:lnSpc>
                  <a:spcPts val="6480"/>
                </a:lnSpc>
              </a:pPr>
              <a:r>
                <a:rPr lang="en-US" sz="675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Regresión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43100" y="5614988"/>
            <a:ext cx="15944850" cy="457200"/>
            <a:chOff x="0" y="0"/>
            <a:chExt cx="21259800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2598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29540" r="0" b="-62954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12598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Predicción del Costo del Producto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940719" y="6527006"/>
            <a:ext cx="2519362" cy="719138"/>
          </a:xfrm>
          <a:custGeom>
            <a:avLst/>
            <a:gdLst/>
            <a:ahLst/>
            <a:cxnLst/>
            <a:rect r="r" b="b" t="t" l="l"/>
            <a:pathLst>
              <a:path h="719138" w="2519362">
                <a:moveTo>
                  <a:pt x="0" y="0"/>
                </a:moveTo>
                <a:lnTo>
                  <a:pt x="2519362" y="0"/>
                </a:lnTo>
                <a:lnTo>
                  <a:pt x="2519362" y="719138"/>
                </a:lnTo>
                <a:lnTo>
                  <a:pt x="0" y="719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069090" y="6512719"/>
            <a:ext cx="2144303" cy="733425"/>
            <a:chOff x="0" y="0"/>
            <a:chExt cx="2859071" cy="977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59065" cy="977900"/>
            </a:xfrm>
            <a:custGeom>
              <a:avLst/>
              <a:gdLst/>
              <a:ahLst/>
              <a:cxnLst/>
              <a:rect r="r" b="b" t="t" l="l"/>
              <a:pathLst>
                <a:path h="977900" w="2859065">
                  <a:moveTo>
                    <a:pt x="0" y="0"/>
                  </a:moveTo>
                  <a:lnTo>
                    <a:pt x="2859065" y="0"/>
                  </a:lnTo>
                  <a:lnTo>
                    <a:pt x="2859065" y="977900"/>
                  </a:lnTo>
                  <a:lnTo>
                    <a:pt x="0" y="977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360" r="10892" b="268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859071" cy="104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Linear Regression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680118" y="6527006"/>
            <a:ext cx="1304925" cy="719138"/>
          </a:xfrm>
          <a:custGeom>
            <a:avLst/>
            <a:gdLst/>
            <a:ahLst/>
            <a:cxnLst/>
            <a:rect r="r" b="b" t="t" l="l"/>
            <a:pathLst>
              <a:path h="719138" w="1304925">
                <a:moveTo>
                  <a:pt x="0" y="0"/>
                </a:moveTo>
                <a:lnTo>
                  <a:pt x="1304925" y="0"/>
                </a:lnTo>
                <a:lnTo>
                  <a:pt x="1304925" y="719138"/>
                </a:lnTo>
                <a:lnTo>
                  <a:pt x="0" y="7191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039697" y="6722269"/>
            <a:ext cx="695954" cy="328612"/>
            <a:chOff x="0" y="0"/>
            <a:chExt cx="927938" cy="4381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7944" cy="438150"/>
            </a:xfrm>
            <a:custGeom>
              <a:avLst/>
              <a:gdLst/>
              <a:ahLst/>
              <a:cxnLst/>
              <a:rect r="r" b="b" t="t" l="l"/>
              <a:pathLst>
                <a:path h="438150" w="927944">
                  <a:moveTo>
                    <a:pt x="0" y="0"/>
                  </a:moveTo>
                  <a:lnTo>
                    <a:pt x="927944" y="0"/>
                  </a:lnTo>
                  <a:lnTo>
                    <a:pt x="927944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581" t="0" r="-1058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27938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Ridge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6204756" y="6527006"/>
            <a:ext cx="1319212" cy="719138"/>
          </a:xfrm>
          <a:custGeom>
            <a:avLst/>
            <a:gdLst/>
            <a:ahLst/>
            <a:cxnLst/>
            <a:rect r="r" b="b" t="t" l="l"/>
            <a:pathLst>
              <a:path h="719138" w="1319212">
                <a:moveTo>
                  <a:pt x="0" y="0"/>
                </a:moveTo>
                <a:lnTo>
                  <a:pt x="1319213" y="0"/>
                </a:lnTo>
                <a:lnTo>
                  <a:pt x="1319213" y="719138"/>
                </a:lnTo>
                <a:lnTo>
                  <a:pt x="0" y="7191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564325" y="6722269"/>
            <a:ext cx="709127" cy="328612"/>
            <a:chOff x="0" y="0"/>
            <a:chExt cx="945502" cy="4381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45506" cy="438150"/>
            </a:xfrm>
            <a:custGeom>
              <a:avLst/>
              <a:gdLst/>
              <a:ahLst/>
              <a:cxnLst/>
              <a:rect r="r" b="b" t="t" l="l"/>
              <a:pathLst>
                <a:path h="438150" w="945506">
                  <a:moveTo>
                    <a:pt x="0" y="0"/>
                  </a:moveTo>
                  <a:lnTo>
                    <a:pt x="945506" y="0"/>
                  </a:lnTo>
                  <a:lnTo>
                    <a:pt x="945506" y="438150"/>
                  </a:lnTo>
                  <a:lnTo>
                    <a:pt x="0" y="4381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9456" t="0" r="-945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945502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Lasso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14375"/>
            <a:ext cx="571500" cy="571500"/>
            <a:chOff x="0" y="0"/>
            <a:chExt cx="762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32234" y="871538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4450" y="571500"/>
            <a:ext cx="4429125" cy="285750"/>
            <a:chOff x="0" y="0"/>
            <a:chExt cx="5905500" cy="38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05500" cy="381000"/>
            </a:xfrm>
            <a:custGeom>
              <a:avLst/>
              <a:gdLst/>
              <a:ahLst/>
              <a:cxnLst/>
              <a:rect r="r" b="b" t="t" l="l"/>
              <a:pathLst>
                <a:path h="3810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05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Regresión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4450" y="711184"/>
            <a:ext cx="5193568" cy="863632"/>
            <a:chOff x="0" y="0"/>
            <a:chExt cx="6924757" cy="11515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24757" cy="1151509"/>
            </a:xfrm>
            <a:custGeom>
              <a:avLst/>
              <a:gdLst/>
              <a:ahLst/>
              <a:cxnLst/>
              <a:rect r="r" b="b" t="t" l="l"/>
              <a:pathLst>
                <a:path h="1151509" w="6924757">
                  <a:moveTo>
                    <a:pt x="0" y="0"/>
                  </a:moveTo>
                  <a:lnTo>
                    <a:pt x="6924757" y="0"/>
                  </a:lnTo>
                  <a:lnTo>
                    <a:pt x="6924757" y="1151509"/>
                  </a:lnTo>
                  <a:lnTo>
                    <a:pt x="0" y="11515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387" r="11692" b="-3656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6924757" cy="1103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Modelos Aplicados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500" y="1543050"/>
            <a:ext cx="17259300" cy="342900"/>
            <a:chOff x="0" y="0"/>
            <a:chExt cx="230124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30124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Tres enfoques de regresión lineal para predecir el costo del producto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69119" y="2169319"/>
            <a:ext cx="5534025" cy="6434138"/>
          </a:xfrm>
          <a:custGeom>
            <a:avLst/>
            <a:gdLst/>
            <a:ahLst/>
            <a:cxnLst/>
            <a:rect r="r" b="b" t="t" l="l"/>
            <a:pathLst>
              <a:path h="6434138" w="5534025">
                <a:moveTo>
                  <a:pt x="0" y="0"/>
                </a:moveTo>
                <a:lnTo>
                  <a:pt x="5534025" y="0"/>
                </a:lnTo>
                <a:lnTo>
                  <a:pt x="5534025" y="6434137"/>
                </a:lnTo>
                <a:lnTo>
                  <a:pt x="0" y="6434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71538" y="2471738"/>
            <a:ext cx="800100" cy="800100"/>
            <a:chOff x="0" y="0"/>
            <a:chExt cx="1066800" cy="1066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2941" y="2643188"/>
            <a:ext cx="314325" cy="457200"/>
            <a:chOff x="0" y="0"/>
            <a:chExt cx="4191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100" cy="609600"/>
            </a:xfrm>
            <a:custGeom>
              <a:avLst/>
              <a:gdLst/>
              <a:ahLst/>
              <a:cxnLst/>
              <a:rect r="r" b="b" t="t" l="l"/>
              <a:pathLst>
                <a:path h="6096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6623" t="0" r="-13662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4191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43088" y="2643188"/>
            <a:ext cx="1143000" cy="457200"/>
            <a:chOff x="0" y="0"/>
            <a:chExt cx="152400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4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524000">
                  <a:moveTo>
                    <a:pt x="304800" y="0"/>
                  </a:moveTo>
                  <a:lnTo>
                    <a:pt x="1219200" y="0"/>
                  </a:lnTo>
                  <a:cubicBezTo>
                    <a:pt x="1387475" y="0"/>
                    <a:pt x="1524000" y="136525"/>
                    <a:pt x="1524000" y="304800"/>
                  </a:cubicBezTo>
                  <a:cubicBezTo>
                    <a:pt x="1524000" y="473075"/>
                    <a:pt x="1387475" y="609600"/>
                    <a:pt x="121920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960681" y="2618184"/>
            <a:ext cx="1129270" cy="507206"/>
            <a:chOff x="0" y="0"/>
            <a:chExt cx="1505693" cy="6762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05698" cy="676276"/>
            </a:xfrm>
            <a:custGeom>
              <a:avLst/>
              <a:gdLst/>
              <a:ahLst/>
              <a:cxnLst/>
              <a:rect r="r" b="b" t="t" l="l"/>
              <a:pathLst>
                <a:path h="676276" w="1505698">
                  <a:moveTo>
                    <a:pt x="0" y="0"/>
                  </a:moveTo>
                  <a:lnTo>
                    <a:pt x="1505698" y="0"/>
                  </a:lnTo>
                  <a:lnTo>
                    <a:pt x="1505698" y="676276"/>
                  </a:lnTo>
                  <a:lnTo>
                    <a:pt x="0" y="6762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163" r="22062" b="415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505693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BASELINE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1538" y="3500438"/>
            <a:ext cx="5072062" cy="400050"/>
            <a:chOff x="0" y="0"/>
            <a:chExt cx="6762750" cy="533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62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6762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Linear Regression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71538" y="4071938"/>
            <a:ext cx="5043488" cy="1543050"/>
            <a:chOff x="0" y="0"/>
            <a:chExt cx="6724650" cy="2057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24650" cy="2057400"/>
            </a:xfrm>
            <a:custGeom>
              <a:avLst/>
              <a:gdLst/>
              <a:ahLst/>
              <a:cxnLst/>
              <a:rect r="r" b="b" t="t" l="l"/>
              <a:pathLst>
                <a:path h="205740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2057400"/>
                  </a:lnTo>
                  <a:lnTo>
                    <a:pt x="0" y="2057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687" r="0" b="-1368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6724650" cy="2143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Modelo de regresión lineal estándar con estandarización de características mediante StandardScaler.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69156" y="5841206"/>
            <a:ext cx="4933950" cy="1576388"/>
          </a:xfrm>
          <a:custGeom>
            <a:avLst/>
            <a:gdLst/>
            <a:ahLst/>
            <a:cxnLst/>
            <a:rect r="r" b="b" t="t" l="l"/>
            <a:pathLst>
              <a:path h="1576388" w="4933950">
                <a:moveTo>
                  <a:pt x="0" y="0"/>
                </a:moveTo>
                <a:lnTo>
                  <a:pt x="4933950" y="0"/>
                </a:lnTo>
                <a:lnTo>
                  <a:pt x="4933950" y="1576388"/>
                </a:lnTo>
                <a:lnTo>
                  <a:pt x="0" y="15763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114425" y="6086475"/>
            <a:ext cx="4543425" cy="285750"/>
            <a:chOff x="0" y="0"/>
            <a:chExt cx="6057900" cy="381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57900" cy="381000"/>
            </a:xfrm>
            <a:custGeom>
              <a:avLst/>
              <a:gdLst/>
              <a:ahLst/>
              <a:cxnLst/>
              <a:rect r="r" b="b" t="t" l="l"/>
              <a:pathLst>
                <a:path h="381000" w="6057900">
                  <a:moveTo>
                    <a:pt x="0" y="0"/>
                  </a:moveTo>
                  <a:lnTo>
                    <a:pt x="6057900" y="0"/>
                  </a:lnTo>
                  <a:lnTo>
                    <a:pt x="60579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9812" r="0" b="-25981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0579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Pipeline: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35856" y="6543675"/>
            <a:ext cx="171450" cy="171450"/>
            <a:chOff x="0" y="0"/>
            <a:chExt cx="228600" cy="228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43038" y="6293644"/>
            <a:ext cx="1943100" cy="628650"/>
            <a:chOff x="0" y="0"/>
            <a:chExt cx="2590800" cy="838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90800" cy="838200"/>
            </a:xfrm>
            <a:custGeom>
              <a:avLst/>
              <a:gdLst/>
              <a:ahLst/>
              <a:cxnLst/>
              <a:rect r="r" b="b" t="t" l="l"/>
              <a:pathLst>
                <a:path h="838200" w="2590800">
                  <a:moveTo>
                    <a:pt x="0" y="0"/>
                  </a:moveTo>
                  <a:lnTo>
                    <a:pt x="2590800" y="0"/>
                  </a:lnTo>
                  <a:lnTo>
                    <a:pt x="25908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442" r="25000" b="3210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59080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StandardScaler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35856" y="6943725"/>
            <a:ext cx="171450" cy="171450"/>
            <a:chOff x="0" y="0"/>
            <a:chExt cx="228600" cy="228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43038" y="6715125"/>
            <a:ext cx="2164556" cy="620506"/>
            <a:chOff x="0" y="0"/>
            <a:chExt cx="2886075" cy="8273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886075" cy="827341"/>
            </a:xfrm>
            <a:custGeom>
              <a:avLst/>
              <a:gdLst/>
              <a:ahLst/>
              <a:cxnLst/>
              <a:rect r="r" b="b" t="t" l="l"/>
              <a:pathLst>
                <a:path h="827341" w="2886075">
                  <a:moveTo>
                    <a:pt x="0" y="0"/>
                  </a:moveTo>
                  <a:lnTo>
                    <a:pt x="2886075" y="0"/>
                  </a:lnTo>
                  <a:lnTo>
                    <a:pt x="2886075" y="827341"/>
                  </a:lnTo>
                  <a:lnTo>
                    <a:pt x="0" y="8273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120" r="24752" b="2582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886075" cy="865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LinearRegression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869156" y="7641431"/>
            <a:ext cx="4933950" cy="661988"/>
          </a:xfrm>
          <a:custGeom>
            <a:avLst/>
            <a:gdLst/>
            <a:ahLst/>
            <a:cxnLst/>
            <a:rect r="r" b="b" t="t" l="l"/>
            <a:pathLst>
              <a:path h="661988" w="4933950">
                <a:moveTo>
                  <a:pt x="0" y="0"/>
                </a:moveTo>
                <a:lnTo>
                  <a:pt x="4933950" y="0"/>
                </a:lnTo>
                <a:lnTo>
                  <a:pt x="4933950" y="661988"/>
                </a:lnTo>
                <a:lnTo>
                  <a:pt x="0" y="661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085850" y="7872412"/>
            <a:ext cx="200025" cy="200025"/>
          </a:xfrm>
          <a:custGeom>
            <a:avLst/>
            <a:gdLst/>
            <a:ahLst/>
            <a:cxnLst/>
            <a:rect r="r" b="b" t="t" l="l"/>
            <a:pathLst>
              <a:path h="200025" w="200025">
                <a:moveTo>
                  <a:pt x="0" y="0"/>
                </a:moveTo>
                <a:lnTo>
                  <a:pt x="200025" y="0"/>
                </a:lnTo>
                <a:lnTo>
                  <a:pt x="200025" y="200026"/>
                </a:lnTo>
                <a:lnTo>
                  <a:pt x="0" y="2000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400175" y="7829550"/>
            <a:ext cx="4314825" cy="285750"/>
            <a:chOff x="0" y="0"/>
            <a:chExt cx="5753100" cy="381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53100" cy="381000"/>
            </a:xfrm>
            <a:custGeom>
              <a:avLst/>
              <a:gdLst/>
              <a:ahLst/>
              <a:cxnLst/>
              <a:rect r="r" b="b" t="t" l="l"/>
              <a:pathLst>
                <a:path h="381000" w="5753100">
                  <a:moveTo>
                    <a:pt x="0" y="0"/>
                  </a:moveTo>
                  <a:lnTo>
                    <a:pt x="5753100" y="0"/>
                  </a:lnTo>
                  <a:lnTo>
                    <a:pt x="57531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4224" r="0" b="-24422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7531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Modelo base sin regularización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6379331" y="2169319"/>
            <a:ext cx="5534025" cy="6434138"/>
          </a:xfrm>
          <a:custGeom>
            <a:avLst/>
            <a:gdLst/>
            <a:ahLst/>
            <a:cxnLst/>
            <a:rect r="r" b="b" t="t" l="l"/>
            <a:pathLst>
              <a:path h="6434138" w="5534025">
                <a:moveTo>
                  <a:pt x="0" y="0"/>
                </a:moveTo>
                <a:lnTo>
                  <a:pt x="5534025" y="0"/>
                </a:lnTo>
                <a:lnTo>
                  <a:pt x="5534025" y="6434137"/>
                </a:lnTo>
                <a:lnTo>
                  <a:pt x="0" y="6434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6681749" y="2471738"/>
            <a:ext cx="800100" cy="800100"/>
            <a:chOff x="0" y="0"/>
            <a:chExt cx="1066800" cy="1066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982120" y="2643188"/>
            <a:ext cx="371475" cy="457200"/>
            <a:chOff x="0" y="0"/>
            <a:chExt cx="4953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5300" cy="609600"/>
            </a:xfrm>
            <a:custGeom>
              <a:avLst/>
              <a:gdLst/>
              <a:ahLst/>
              <a:cxnLst/>
              <a:rect r="r" b="b" t="t" l="l"/>
              <a:pathLst>
                <a:path h="6096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7912" t="0" r="-10791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4953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653299" y="2643188"/>
            <a:ext cx="542925" cy="457200"/>
            <a:chOff x="0" y="0"/>
            <a:chExt cx="72390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23900" cy="609600"/>
            </a:xfrm>
            <a:custGeom>
              <a:avLst/>
              <a:gdLst/>
              <a:ahLst/>
              <a:cxnLst/>
              <a:rect r="r" b="b" t="t" l="l"/>
              <a:pathLst>
                <a:path h="609600" w="723900">
                  <a:moveTo>
                    <a:pt x="304800" y="0"/>
                  </a:moveTo>
                  <a:lnTo>
                    <a:pt x="419100" y="0"/>
                  </a:lnTo>
                  <a:cubicBezTo>
                    <a:pt x="587375" y="0"/>
                    <a:pt x="723900" y="136525"/>
                    <a:pt x="723900" y="304800"/>
                  </a:cubicBezTo>
                  <a:cubicBezTo>
                    <a:pt x="723900" y="473075"/>
                    <a:pt x="587375" y="609600"/>
                    <a:pt x="41910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824749" y="2764631"/>
            <a:ext cx="280387" cy="250031"/>
            <a:chOff x="0" y="0"/>
            <a:chExt cx="373850" cy="33337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73856" cy="333376"/>
            </a:xfrm>
            <a:custGeom>
              <a:avLst/>
              <a:gdLst/>
              <a:ahLst/>
              <a:cxnLst/>
              <a:rect r="r" b="b" t="t" l="l"/>
              <a:pathLst>
                <a:path h="333376" w="373856">
                  <a:moveTo>
                    <a:pt x="0" y="0"/>
                  </a:moveTo>
                  <a:lnTo>
                    <a:pt x="373856" y="0"/>
                  </a:lnTo>
                  <a:lnTo>
                    <a:pt x="373856" y="333376"/>
                  </a:lnTo>
                  <a:lnTo>
                    <a:pt x="0" y="333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4411" t="0" r="-64410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373850" cy="342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L2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681749" y="3500438"/>
            <a:ext cx="5072062" cy="400050"/>
            <a:chOff x="0" y="0"/>
            <a:chExt cx="6762750" cy="533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762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6762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Ridge Regression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6681749" y="4071938"/>
            <a:ext cx="5043488" cy="1543050"/>
            <a:chOff x="0" y="0"/>
            <a:chExt cx="6724650" cy="2057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724650" cy="2057400"/>
            </a:xfrm>
            <a:custGeom>
              <a:avLst/>
              <a:gdLst/>
              <a:ahLst/>
              <a:cxnLst/>
              <a:rect r="r" b="b" t="t" l="l"/>
              <a:pathLst>
                <a:path h="205740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2057400"/>
                  </a:lnTo>
                  <a:lnTo>
                    <a:pt x="0" y="2057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687" r="0" b="-1368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85725"/>
              <a:ext cx="6724650" cy="2143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Regresión con regularización L2 que penaliza pesos grandes para prevenir overfitting.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6679368" y="5841206"/>
            <a:ext cx="4933950" cy="1576388"/>
          </a:xfrm>
          <a:custGeom>
            <a:avLst/>
            <a:gdLst/>
            <a:ahLst/>
            <a:cxnLst/>
            <a:rect r="r" b="b" t="t" l="l"/>
            <a:pathLst>
              <a:path h="1576388" w="4933950">
                <a:moveTo>
                  <a:pt x="0" y="0"/>
                </a:moveTo>
                <a:lnTo>
                  <a:pt x="4933950" y="0"/>
                </a:lnTo>
                <a:lnTo>
                  <a:pt x="4933950" y="1576388"/>
                </a:lnTo>
                <a:lnTo>
                  <a:pt x="0" y="15763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6924637" y="6086475"/>
            <a:ext cx="4543425" cy="285750"/>
            <a:chOff x="0" y="0"/>
            <a:chExt cx="6057900" cy="381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057900" cy="381000"/>
            </a:xfrm>
            <a:custGeom>
              <a:avLst/>
              <a:gdLst/>
              <a:ahLst/>
              <a:cxnLst/>
              <a:rect r="r" b="b" t="t" l="l"/>
              <a:pathLst>
                <a:path h="381000" w="6057900">
                  <a:moveTo>
                    <a:pt x="0" y="0"/>
                  </a:moveTo>
                  <a:lnTo>
                    <a:pt x="6057900" y="0"/>
                  </a:lnTo>
                  <a:lnTo>
                    <a:pt x="60579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9812" r="0" b="-25981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0579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Pipeline: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946068" y="6543675"/>
            <a:ext cx="171450" cy="171450"/>
            <a:chOff x="0" y="0"/>
            <a:chExt cx="228600" cy="2286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7253249" y="6272212"/>
            <a:ext cx="1964531" cy="671512"/>
            <a:chOff x="0" y="0"/>
            <a:chExt cx="2619375" cy="8953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619375" cy="895350"/>
            </a:xfrm>
            <a:custGeom>
              <a:avLst/>
              <a:gdLst/>
              <a:ahLst/>
              <a:cxnLst/>
              <a:rect r="r" b="b" t="t" l="l"/>
              <a:pathLst>
                <a:path h="895350" w="2619375">
                  <a:moveTo>
                    <a:pt x="0" y="0"/>
                  </a:moveTo>
                  <a:lnTo>
                    <a:pt x="2619375" y="0"/>
                  </a:lnTo>
                  <a:lnTo>
                    <a:pt x="2619375" y="895350"/>
                  </a:lnTo>
                  <a:lnTo>
                    <a:pt x="0" y="8953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010" r="25818" b="36436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2619375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StandardScaler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6946068" y="6943725"/>
            <a:ext cx="171450" cy="171450"/>
            <a:chOff x="0" y="0"/>
            <a:chExt cx="228600" cy="228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7253249" y="6715125"/>
            <a:ext cx="2114550" cy="620506"/>
            <a:chOff x="0" y="0"/>
            <a:chExt cx="2819400" cy="82734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819400" cy="827341"/>
            </a:xfrm>
            <a:custGeom>
              <a:avLst/>
              <a:gdLst/>
              <a:ahLst/>
              <a:cxnLst/>
              <a:rect r="r" b="b" t="t" l="l"/>
              <a:pathLst>
                <a:path h="827341" w="2819400">
                  <a:moveTo>
                    <a:pt x="0" y="0"/>
                  </a:moveTo>
                  <a:lnTo>
                    <a:pt x="2819400" y="0"/>
                  </a:lnTo>
                  <a:lnTo>
                    <a:pt x="2819400" y="827341"/>
                  </a:lnTo>
                  <a:lnTo>
                    <a:pt x="0" y="8273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3" r="24324" b="2672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2819400" cy="865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Ridge(alpha=1.0)</a:t>
              </a: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6679368" y="7641431"/>
            <a:ext cx="4933950" cy="661988"/>
          </a:xfrm>
          <a:custGeom>
            <a:avLst/>
            <a:gdLst/>
            <a:ahLst/>
            <a:cxnLst/>
            <a:rect r="r" b="b" t="t" l="l"/>
            <a:pathLst>
              <a:path h="661988" w="4933950">
                <a:moveTo>
                  <a:pt x="0" y="0"/>
                </a:moveTo>
                <a:lnTo>
                  <a:pt x="4933950" y="0"/>
                </a:lnTo>
                <a:lnTo>
                  <a:pt x="4933950" y="661988"/>
                </a:lnTo>
                <a:lnTo>
                  <a:pt x="0" y="661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6896062" y="7872412"/>
            <a:ext cx="200025" cy="200025"/>
            <a:chOff x="0" y="0"/>
            <a:chExt cx="266700" cy="2667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8382" y="0"/>
              <a:ext cx="250063" cy="265398"/>
            </a:xfrm>
            <a:custGeom>
              <a:avLst/>
              <a:gdLst/>
              <a:ahLst/>
              <a:cxnLst/>
              <a:rect r="r" b="b" t="t" l="l"/>
              <a:pathLst>
                <a:path h="265398" w="250063">
                  <a:moveTo>
                    <a:pt x="124968" y="0"/>
                  </a:moveTo>
                  <a:cubicBezTo>
                    <a:pt x="127381" y="0"/>
                    <a:pt x="129794" y="508"/>
                    <a:pt x="131953" y="1524"/>
                  </a:cubicBezTo>
                  <a:lnTo>
                    <a:pt x="230124" y="43180"/>
                  </a:lnTo>
                  <a:cubicBezTo>
                    <a:pt x="241554" y="48006"/>
                    <a:pt x="250063" y="59309"/>
                    <a:pt x="250063" y="73025"/>
                  </a:cubicBezTo>
                  <a:cubicBezTo>
                    <a:pt x="249809" y="124714"/>
                    <a:pt x="228600" y="219202"/>
                    <a:pt x="138811" y="262255"/>
                  </a:cubicBezTo>
                  <a:cubicBezTo>
                    <a:pt x="130048" y="266446"/>
                    <a:pt x="120015" y="266446"/>
                    <a:pt x="111252" y="262255"/>
                  </a:cubicBezTo>
                  <a:cubicBezTo>
                    <a:pt x="21463" y="219202"/>
                    <a:pt x="254" y="124587"/>
                    <a:pt x="0" y="72898"/>
                  </a:cubicBezTo>
                  <a:cubicBezTo>
                    <a:pt x="0" y="59309"/>
                    <a:pt x="8509" y="48006"/>
                    <a:pt x="19939" y="43053"/>
                  </a:cubicBezTo>
                  <a:lnTo>
                    <a:pt x="117983" y="1524"/>
                  </a:lnTo>
                  <a:cubicBezTo>
                    <a:pt x="120142" y="508"/>
                    <a:pt x="122555" y="0"/>
                    <a:pt x="124968" y="0"/>
                  </a:cubicBezTo>
                  <a:close/>
                  <a:moveTo>
                    <a:pt x="124968" y="34798"/>
                  </a:moveTo>
                  <a:lnTo>
                    <a:pt x="124968" y="231775"/>
                  </a:lnTo>
                  <a:cubicBezTo>
                    <a:pt x="196850" y="196977"/>
                    <a:pt x="216154" y="119888"/>
                    <a:pt x="216662" y="73787"/>
                  </a:cubicBezTo>
                  <a:lnTo>
                    <a:pt x="124968" y="34798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7210387" y="7829550"/>
            <a:ext cx="4314825" cy="285750"/>
            <a:chOff x="0" y="0"/>
            <a:chExt cx="5753100" cy="3810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753100" cy="381000"/>
            </a:xfrm>
            <a:custGeom>
              <a:avLst/>
              <a:gdLst/>
              <a:ahLst/>
              <a:cxnLst/>
              <a:rect r="r" b="b" t="t" l="l"/>
              <a:pathLst>
                <a:path h="381000" w="5753100">
                  <a:moveTo>
                    <a:pt x="0" y="0"/>
                  </a:moveTo>
                  <a:lnTo>
                    <a:pt x="5753100" y="0"/>
                  </a:lnTo>
                  <a:lnTo>
                    <a:pt x="57531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4224" r="0" b="-24422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57531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Penalización de pesos grandes</a:t>
              </a: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12189543" y="2169319"/>
            <a:ext cx="5534025" cy="6434138"/>
          </a:xfrm>
          <a:custGeom>
            <a:avLst/>
            <a:gdLst/>
            <a:ahLst/>
            <a:cxnLst/>
            <a:rect r="r" b="b" t="t" l="l"/>
            <a:pathLst>
              <a:path h="6434138" w="5534025">
                <a:moveTo>
                  <a:pt x="0" y="0"/>
                </a:moveTo>
                <a:lnTo>
                  <a:pt x="5534025" y="0"/>
                </a:lnTo>
                <a:lnTo>
                  <a:pt x="5534025" y="6434137"/>
                </a:lnTo>
                <a:lnTo>
                  <a:pt x="0" y="6434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12491961" y="2471738"/>
            <a:ext cx="800100" cy="800100"/>
            <a:chOff x="0" y="0"/>
            <a:chExt cx="1066800" cy="10668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790770" y="2643188"/>
            <a:ext cx="371475" cy="457200"/>
            <a:chOff x="0" y="0"/>
            <a:chExt cx="495300" cy="609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95300" cy="609600"/>
            </a:xfrm>
            <a:custGeom>
              <a:avLst/>
              <a:gdLst/>
              <a:ahLst/>
              <a:cxnLst/>
              <a:rect r="r" b="b" t="t" l="l"/>
              <a:pathLst>
                <a:path h="60960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07912" t="0" r="-107912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4953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3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3463511" y="2643188"/>
            <a:ext cx="500062" cy="457200"/>
            <a:chOff x="0" y="0"/>
            <a:chExt cx="666750" cy="609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66750" cy="609600"/>
            </a:xfrm>
            <a:custGeom>
              <a:avLst/>
              <a:gdLst/>
              <a:ahLst/>
              <a:cxnLst/>
              <a:rect r="r" b="b" t="t" l="l"/>
              <a:pathLst>
                <a:path h="609600" w="666750">
                  <a:moveTo>
                    <a:pt x="304800" y="0"/>
                  </a:moveTo>
                  <a:lnTo>
                    <a:pt x="361950" y="0"/>
                  </a:lnTo>
                  <a:cubicBezTo>
                    <a:pt x="530225" y="0"/>
                    <a:pt x="666750" y="136525"/>
                    <a:pt x="666750" y="304800"/>
                  </a:cubicBezTo>
                  <a:cubicBezTo>
                    <a:pt x="666750" y="473075"/>
                    <a:pt x="530225" y="609600"/>
                    <a:pt x="361950" y="609600"/>
                  </a:cubicBezTo>
                  <a:lnTo>
                    <a:pt x="304800" y="609600"/>
                  </a:ln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634961" y="2764631"/>
            <a:ext cx="249364" cy="250031"/>
            <a:chOff x="0" y="0"/>
            <a:chExt cx="332486" cy="33337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32482" cy="333376"/>
            </a:xfrm>
            <a:custGeom>
              <a:avLst/>
              <a:gdLst/>
              <a:ahLst/>
              <a:cxnLst/>
              <a:rect r="r" b="b" t="t" l="l"/>
              <a:pathLst>
                <a:path h="333376" w="332482">
                  <a:moveTo>
                    <a:pt x="0" y="0"/>
                  </a:moveTo>
                  <a:lnTo>
                    <a:pt x="332482" y="0"/>
                  </a:lnTo>
                  <a:lnTo>
                    <a:pt x="332482" y="333376"/>
                  </a:lnTo>
                  <a:lnTo>
                    <a:pt x="0" y="3333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647" t="0" r="-78648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332486" cy="342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L1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491961" y="3500438"/>
            <a:ext cx="5072062" cy="400050"/>
            <a:chOff x="0" y="0"/>
            <a:chExt cx="6762750" cy="5334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762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7042" r="0" b="-19704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67627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Lasso Regression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491961" y="4071938"/>
            <a:ext cx="5043488" cy="1543050"/>
            <a:chOff x="0" y="0"/>
            <a:chExt cx="6724650" cy="20574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724650" cy="2057400"/>
            </a:xfrm>
            <a:custGeom>
              <a:avLst/>
              <a:gdLst/>
              <a:ahLst/>
              <a:cxnLst/>
              <a:rect r="r" b="b" t="t" l="l"/>
              <a:pathLst>
                <a:path h="2057400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2057400"/>
                  </a:lnTo>
                  <a:lnTo>
                    <a:pt x="0" y="2057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687" r="0" b="-1368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85725"/>
              <a:ext cx="6724650" cy="2143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Regresión con regularización L1 que puede reducir coeficientes a cero, realizando selección de variables.</a:t>
              </a:r>
            </a:p>
          </p:txBody>
        </p:sp>
      </p:grpSp>
      <p:sp>
        <p:nvSpPr>
          <p:cNvPr name="Freeform 104" id="104"/>
          <p:cNvSpPr/>
          <p:nvPr/>
        </p:nvSpPr>
        <p:spPr>
          <a:xfrm flipH="false" flipV="false" rot="0">
            <a:off x="12489580" y="5841206"/>
            <a:ext cx="4933950" cy="1576388"/>
          </a:xfrm>
          <a:custGeom>
            <a:avLst/>
            <a:gdLst/>
            <a:ahLst/>
            <a:cxnLst/>
            <a:rect r="r" b="b" t="t" l="l"/>
            <a:pathLst>
              <a:path h="1576388" w="4933950">
                <a:moveTo>
                  <a:pt x="0" y="0"/>
                </a:moveTo>
                <a:lnTo>
                  <a:pt x="4933950" y="0"/>
                </a:lnTo>
                <a:lnTo>
                  <a:pt x="4933950" y="1576388"/>
                </a:lnTo>
                <a:lnTo>
                  <a:pt x="0" y="15763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5" id="105"/>
          <p:cNvGrpSpPr/>
          <p:nvPr/>
        </p:nvGrpSpPr>
        <p:grpSpPr>
          <a:xfrm rot="0">
            <a:off x="12734849" y="6086475"/>
            <a:ext cx="4543425" cy="285750"/>
            <a:chOff x="0" y="0"/>
            <a:chExt cx="6057900" cy="3810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057900" cy="381000"/>
            </a:xfrm>
            <a:custGeom>
              <a:avLst/>
              <a:gdLst/>
              <a:ahLst/>
              <a:cxnLst/>
              <a:rect r="r" b="b" t="t" l="l"/>
              <a:pathLst>
                <a:path h="381000" w="6057900">
                  <a:moveTo>
                    <a:pt x="0" y="0"/>
                  </a:moveTo>
                  <a:lnTo>
                    <a:pt x="6057900" y="0"/>
                  </a:lnTo>
                  <a:lnTo>
                    <a:pt x="60579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9812" r="0" b="-25981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60579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Pipeline: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2756280" y="6543675"/>
            <a:ext cx="171450" cy="171450"/>
            <a:chOff x="0" y="0"/>
            <a:chExt cx="228600" cy="2286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061080" y="6293644"/>
            <a:ext cx="1737608" cy="628650"/>
            <a:chOff x="0" y="0"/>
            <a:chExt cx="2316811" cy="8382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316811" cy="838200"/>
            </a:xfrm>
            <a:custGeom>
              <a:avLst/>
              <a:gdLst/>
              <a:ahLst/>
              <a:cxnLst/>
              <a:rect r="r" b="b" t="t" l="l"/>
              <a:pathLst>
                <a:path h="838200" w="2316811">
                  <a:moveTo>
                    <a:pt x="0" y="0"/>
                  </a:moveTo>
                  <a:lnTo>
                    <a:pt x="2316811" y="0"/>
                  </a:lnTo>
                  <a:lnTo>
                    <a:pt x="2316811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442" r="16130" b="3210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316811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StandardScaler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2756280" y="6943725"/>
            <a:ext cx="171450" cy="171450"/>
            <a:chOff x="0" y="0"/>
            <a:chExt cx="228600" cy="2286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3061080" y="6772275"/>
            <a:ext cx="3278091" cy="620506"/>
            <a:chOff x="0" y="0"/>
            <a:chExt cx="4370788" cy="82734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370787" cy="827341"/>
            </a:xfrm>
            <a:custGeom>
              <a:avLst/>
              <a:gdLst/>
              <a:ahLst/>
              <a:cxnLst/>
              <a:rect r="r" b="b" t="t" l="l"/>
              <a:pathLst>
                <a:path h="827341" w="4370787">
                  <a:moveTo>
                    <a:pt x="0" y="0"/>
                  </a:moveTo>
                  <a:lnTo>
                    <a:pt x="4370787" y="0"/>
                  </a:lnTo>
                  <a:lnTo>
                    <a:pt x="4370787" y="827341"/>
                  </a:lnTo>
                  <a:lnTo>
                    <a:pt x="0" y="8273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089" r="7600" b="-1814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4370788" cy="865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Lasso(alpha=1.0, max_iter=1000)</a:t>
              </a:r>
            </a:p>
          </p:txBody>
        </p:sp>
      </p:grpSp>
      <p:sp>
        <p:nvSpPr>
          <p:cNvPr name="Freeform 118" id="118"/>
          <p:cNvSpPr/>
          <p:nvPr/>
        </p:nvSpPr>
        <p:spPr>
          <a:xfrm flipH="false" flipV="false" rot="0">
            <a:off x="12489580" y="7641431"/>
            <a:ext cx="4933950" cy="661988"/>
          </a:xfrm>
          <a:custGeom>
            <a:avLst/>
            <a:gdLst/>
            <a:ahLst/>
            <a:cxnLst/>
            <a:rect r="r" b="b" t="t" l="l"/>
            <a:pathLst>
              <a:path h="661988" w="4933950">
                <a:moveTo>
                  <a:pt x="0" y="0"/>
                </a:moveTo>
                <a:lnTo>
                  <a:pt x="4933950" y="0"/>
                </a:lnTo>
                <a:lnTo>
                  <a:pt x="4933950" y="661988"/>
                </a:lnTo>
                <a:lnTo>
                  <a:pt x="0" y="6619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9" id="119"/>
          <p:cNvGrpSpPr/>
          <p:nvPr/>
        </p:nvGrpSpPr>
        <p:grpSpPr>
          <a:xfrm rot="0">
            <a:off x="12706274" y="7872412"/>
            <a:ext cx="200025" cy="200025"/>
            <a:chOff x="0" y="0"/>
            <a:chExt cx="266700" cy="266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23" y="33401"/>
              <a:ext cx="266870" cy="233238"/>
            </a:xfrm>
            <a:custGeom>
              <a:avLst/>
              <a:gdLst/>
              <a:ahLst/>
              <a:cxnLst/>
              <a:rect r="r" b="b" t="t" l="l"/>
              <a:pathLst>
                <a:path h="233238" w="266870">
                  <a:moveTo>
                    <a:pt x="16614" y="0"/>
                  </a:moveTo>
                  <a:cubicBezTo>
                    <a:pt x="9883" y="0"/>
                    <a:pt x="3787" y="3937"/>
                    <a:pt x="1247" y="10287"/>
                  </a:cubicBezTo>
                  <a:cubicBezTo>
                    <a:pt x="-1293" y="16637"/>
                    <a:pt x="104" y="23622"/>
                    <a:pt x="4930" y="28321"/>
                  </a:cubicBezTo>
                  <a:lnTo>
                    <a:pt x="100053" y="123444"/>
                  </a:lnTo>
                  <a:lnTo>
                    <a:pt x="100053" y="183134"/>
                  </a:lnTo>
                  <a:cubicBezTo>
                    <a:pt x="100053" y="187579"/>
                    <a:pt x="101831" y="191770"/>
                    <a:pt x="105006" y="194945"/>
                  </a:cubicBezTo>
                  <a:lnTo>
                    <a:pt x="138407" y="228346"/>
                  </a:lnTo>
                  <a:cubicBezTo>
                    <a:pt x="143233" y="233172"/>
                    <a:pt x="150345" y="234569"/>
                    <a:pt x="156568" y="231902"/>
                  </a:cubicBezTo>
                  <a:cubicBezTo>
                    <a:pt x="162791" y="229235"/>
                    <a:pt x="166855" y="223266"/>
                    <a:pt x="166855" y="216535"/>
                  </a:cubicBezTo>
                  <a:lnTo>
                    <a:pt x="166855" y="123571"/>
                  </a:lnTo>
                  <a:lnTo>
                    <a:pt x="261978" y="28448"/>
                  </a:lnTo>
                  <a:cubicBezTo>
                    <a:pt x="266804" y="23622"/>
                    <a:pt x="268201" y="16510"/>
                    <a:pt x="265534" y="10287"/>
                  </a:cubicBezTo>
                  <a:cubicBezTo>
                    <a:pt x="262867" y="4064"/>
                    <a:pt x="256898" y="0"/>
                    <a:pt x="250167" y="0"/>
                  </a:cubicBezTo>
                  <a:lnTo>
                    <a:pt x="16614" y="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020599" y="7829550"/>
            <a:ext cx="4314825" cy="285750"/>
            <a:chOff x="0" y="0"/>
            <a:chExt cx="5753100" cy="3810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753100" cy="381000"/>
            </a:xfrm>
            <a:custGeom>
              <a:avLst/>
              <a:gdLst/>
              <a:ahLst/>
              <a:cxnLst/>
              <a:rect r="r" b="b" t="t" l="l"/>
              <a:pathLst>
                <a:path h="381000" w="5753100">
                  <a:moveTo>
                    <a:pt x="0" y="0"/>
                  </a:moveTo>
                  <a:lnTo>
                    <a:pt x="5753100" y="0"/>
                  </a:lnTo>
                  <a:lnTo>
                    <a:pt x="57531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4224" r="0" b="-24422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57531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Selección automática de variables</a:t>
              </a:r>
            </a:p>
          </p:txBody>
        </p:sp>
      </p:grpSp>
      <p:sp>
        <p:nvSpPr>
          <p:cNvPr name="Freeform 124" id="124"/>
          <p:cNvSpPr/>
          <p:nvPr/>
        </p:nvSpPr>
        <p:spPr>
          <a:xfrm flipH="false" flipV="false" rot="0">
            <a:off x="569119" y="8884444"/>
            <a:ext cx="17149762" cy="833438"/>
          </a:xfrm>
          <a:custGeom>
            <a:avLst/>
            <a:gdLst/>
            <a:ahLst/>
            <a:cxnLst/>
            <a:rect r="r" b="b" t="t" l="l"/>
            <a:pathLst>
              <a:path h="833438" w="17149762">
                <a:moveTo>
                  <a:pt x="0" y="0"/>
                </a:moveTo>
                <a:lnTo>
                  <a:pt x="17149762" y="0"/>
                </a:lnTo>
                <a:lnTo>
                  <a:pt x="17149762" y="833437"/>
                </a:lnTo>
                <a:lnTo>
                  <a:pt x="0" y="8334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814388" y="9158288"/>
            <a:ext cx="357188" cy="285750"/>
          </a:xfrm>
          <a:custGeom>
            <a:avLst/>
            <a:gdLst/>
            <a:ahLst/>
            <a:cxnLst/>
            <a:rect r="r" b="b" t="t" l="l"/>
            <a:pathLst>
              <a:path h="285750" w="357188">
                <a:moveTo>
                  <a:pt x="0" y="0"/>
                </a:moveTo>
                <a:lnTo>
                  <a:pt x="357187" y="0"/>
                </a:lnTo>
                <a:lnTo>
                  <a:pt x="357187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6" id="126"/>
          <p:cNvGrpSpPr/>
          <p:nvPr/>
        </p:nvGrpSpPr>
        <p:grpSpPr>
          <a:xfrm rot="0">
            <a:off x="1400175" y="8934450"/>
            <a:ext cx="13015912" cy="733425"/>
            <a:chOff x="0" y="0"/>
            <a:chExt cx="17354550" cy="9779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7354550" cy="977900"/>
            </a:xfrm>
            <a:custGeom>
              <a:avLst/>
              <a:gdLst/>
              <a:ahLst/>
              <a:cxnLst/>
              <a:rect r="r" b="b" t="t" l="l"/>
              <a:pathLst>
                <a:path h="977900" w="17354550">
                  <a:moveTo>
                    <a:pt x="0" y="0"/>
                  </a:moveTo>
                  <a:lnTo>
                    <a:pt x="17354550" y="0"/>
                  </a:lnTo>
                  <a:lnTo>
                    <a:pt x="17354550" y="977900"/>
                  </a:lnTo>
                  <a:lnTo>
                    <a:pt x="0" y="977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2419" r="0" b="-269172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66675"/>
              <a:ext cx="17354550" cy="104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Preprocesamiento común:</a:t>
              </a:r>
              <a:r>
                <a:rPr lang="en-US" sz="1800">
                  <a:solidFill>
                    <a:srgbClr val="EFEFEF"/>
                  </a:solidFill>
                  <a:latin typeface="Literata"/>
                  <a:ea typeface="Literata"/>
                  <a:cs typeface="Literata"/>
                  <a:sym typeface="Literata"/>
                </a:rPr>
                <a:t> Todos los modelos utilizan StandardScaler para normalizar las características antes del entrenamiento.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i0.wp.com/3855291937c94660739f84fb59773ec12616ef51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-16339" t="0" r="-1633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91919">
                    <a:alpha val="95000"/>
                  </a:srgbClr>
                </a:gs>
                <a:gs pos="50000">
                  <a:srgbClr val="191919">
                    <a:alpha val="90000"/>
                  </a:srgbClr>
                </a:gs>
                <a:gs pos="100000">
                  <a:srgbClr val="191919">
                    <a:alpha val="95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3529012"/>
            <a:ext cx="1143000" cy="1143000"/>
            <a:chOff x="0" y="0"/>
            <a:chExt cx="1524000" cy="152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304800" y="0"/>
                  </a:moveTo>
                  <a:lnTo>
                    <a:pt x="1219200" y="0"/>
                  </a:lnTo>
                  <a:cubicBezTo>
                    <a:pt x="1387475" y="0"/>
                    <a:pt x="1524000" y="136525"/>
                    <a:pt x="1524000" y="304800"/>
                  </a:cubicBezTo>
                  <a:lnTo>
                    <a:pt x="1524000" y="1219200"/>
                  </a:lnTo>
                  <a:cubicBezTo>
                    <a:pt x="1524000" y="1387475"/>
                    <a:pt x="1387475" y="1524000"/>
                    <a:pt x="1219200" y="1524000"/>
                  </a:cubicBezTo>
                  <a:lnTo>
                    <a:pt x="304800" y="1524000"/>
                  </a:lnTo>
                  <a:cubicBezTo>
                    <a:pt x="136525" y="1524000"/>
                    <a:pt x="0" y="1387475"/>
                    <a:pt x="0" y="1219200"/>
                  </a:cubicBezTo>
                  <a:lnTo>
                    <a:pt x="0" y="304800"/>
                  </a:ln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85825" y="3843338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943100" y="3043238"/>
            <a:ext cx="4972050" cy="285750"/>
            <a:chOff x="0" y="0"/>
            <a:chExt cx="6629400" cy="38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29400" cy="381000"/>
            </a:xfrm>
            <a:custGeom>
              <a:avLst/>
              <a:gdLst/>
              <a:ahLst/>
              <a:cxnLst/>
              <a:rect r="r" b="b" t="t" l="l"/>
              <a:pathLst>
                <a:path h="381000" w="6629400">
                  <a:moveTo>
                    <a:pt x="0" y="0"/>
                  </a:moveTo>
                  <a:lnTo>
                    <a:pt x="6629400" y="0"/>
                  </a:lnTo>
                  <a:lnTo>
                    <a:pt x="66294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89039" r="0" b="-28903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294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472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Sección 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13568" y="2988469"/>
            <a:ext cx="6951220" cy="3083719"/>
            <a:chOff x="0" y="0"/>
            <a:chExt cx="9268293" cy="41116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68293" cy="4111625"/>
            </a:xfrm>
            <a:custGeom>
              <a:avLst/>
              <a:gdLst/>
              <a:ahLst/>
              <a:cxnLst/>
              <a:rect r="r" b="b" t="t" l="l"/>
              <a:pathLst>
                <a:path h="4111625" w="9268293">
                  <a:moveTo>
                    <a:pt x="0" y="0"/>
                  </a:moveTo>
                  <a:lnTo>
                    <a:pt x="9268293" y="0"/>
                  </a:lnTo>
                  <a:lnTo>
                    <a:pt x="9268293" y="4111625"/>
                  </a:lnTo>
                  <a:lnTo>
                    <a:pt x="0" y="41116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93" r="23744" b="387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52400"/>
              <a:ext cx="9268293" cy="395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67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Modelos de</a:t>
              </a:r>
            </a:p>
            <a:p>
              <a:pPr algn="l">
                <a:lnSpc>
                  <a:spcPts val="6480"/>
                </a:lnSpc>
              </a:pPr>
              <a:r>
                <a:rPr lang="en-US" sz="675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Clasificación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43100" y="5614988"/>
            <a:ext cx="15944850" cy="457200"/>
            <a:chOff x="0" y="0"/>
            <a:chExt cx="212598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598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29540" r="0" b="-6295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12598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Predicción de Entregas a Tiempo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940719" y="6527006"/>
            <a:ext cx="2105025" cy="719138"/>
          </a:xfrm>
          <a:custGeom>
            <a:avLst/>
            <a:gdLst/>
            <a:ahLst/>
            <a:cxnLst/>
            <a:rect r="r" b="b" t="t" l="l"/>
            <a:pathLst>
              <a:path h="719138" w="2105025">
                <a:moveTo>
                  <a:pt x="0" y="0"/>
                </a:moveTo>
                <a:lnTo>
                  <a:pt x="2105025" y="0"/>
                </a:lnTo>
                <a:lnTo>
                  <a:pt x="2105025" y="719138"/>
                </a:lnTo>
                <a:lnTo>
                  <a:pt x="0" y="7191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2120503" y="6512719"/>
            <a:ext cx="1745456" cy="733425"/>
            <a:chOff x="0" y="0"/>
            <a:chExt cx="2327275" cy="9779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27275" cy="977900"/>
            </a:xfrm>
            <a:custGeom>
              <a:avLst/>
              <a:gdLst/>
              <a:ahLst/>
              <a:cxnLst/>
              <a:rect r="r" b="b" t="t" l="l"/>
              <a:pathLst>
                <a:path h="977900" w="2327275">
                  <a:moveTo>
                    <a:pt x="0" y="0"/>
                  </a:moveTo>
                  <a:lnTo>
                    <a:pt x="2327275" y="0"/>
                  </a:lnTo>
                  <a:lnTo>
                    <a:pt x="2327275" y="977900"/>
                  </a:lnTo>
                  <a:lnTo>
                    <a:pt x="0" y="9779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337" r="14301" b="3785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2327275" cy="104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Decision Tree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4265228" y="6527006"/>
            <a:ext cx="2247900" cy="719138"/>
          </a:xfrm>
          <a:custGeom>
            <a:avLst/>
            <a:gdLst/>
            <a:ahLst/>
            <a:cxnLst/>
            <a:rect r="r" b="b" t="t" l="l"/>
            <a:pathLst>
              <a:path h="719138" w="2247900">
                <a:moveTo>
                  <a:pt x="0" y="0"/>
                </a:moveTo>
                <a:lnTo>
                  <a:pt x="2247900" y="0"/>
                </a:lnTo>
                <a:lnTo>
                  <a:pt x="2247900" y="719138"/>
                </a:lnTo>
                <a:lnTo>
                  <a:pt x="0" y="7191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429125" y="6512719"/>
            <a:ext cx="2126220" cy="733425"/>
            <a:chOff x="0" y="0"/>
            <a:chExt cx="2834960" cy="9779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34959" cy="977900"/>
            </a:xfrm>
            <a:custGeom>
              <a:avLst/>
              <a:gdLst/>
              <a:ahLst/>
              <a:cxnLst/>
              <a:rect r="r" b="b" t="t" l="l"/>
              <a:pathLst>
                <a:path h="977900" w="2834959">
                  <a:moveTo>
                    <a:pt x="0" y="0"/>
                  </a:moveTo>
                  <a:lnTo>
                    <a:pt x="2834959" y="0"/>
                  </a:lnTo>
                  <a:lnTo>
                    <a:pt x="2834959" y="977900"/>
                  </a:lnTo>
                  <a:lnTo>
                    <a:pt x="0" y="9779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260" r="22702" b="3393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2834960" cy="104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Random Forest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14375"/>
            <a:ext cx="571500" cy="571500"/>
            <a:chOff x="0" y="0"/>
            <a:chExt cx="762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32234" y="871538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4450" y="571500"/>
            <a:ext cx="4429125" cy="285750"/>
            <a:chOff x="0" y="0"/>
            <a:chExt cx="5905500" cy="38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05500" cy="381000"/>
            </a:xfrm>
            <a:custGeom>
              <a:avLst/>
              <a:gdLst/>
              <a:ahLst/>
              <a:cxnLst/>
              <a:rect r="r" b="b" t="t" l="l"/>
              <a:pathLst>
                <a:path h="381000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018" r="0" b="-25201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055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Clasificación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4450" y="711184"/>
            <a:ext cx="5068998" cy="863632"/>
            <a:chOff x="0" y="0"/>
            <a:chExt cx="6758664" cy="11515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58663" cy="1151509"/>
            </a:xfrm>
            <a:custGeom>
              <a:avLst/>
              <a:gdLst/>
              <a:ahLst/>
              <a:cxnLst/>
              <a:rect r="r" b="b" t="t" l="l"/>
              <a:pathLst>
                <a:path h="1151509" w="6758663">
                  <a:moveTo>
                    <a:pt x="0" y="0"/>
                  </a:moveTo>
                  <a:lnTo>
                    <a:pt x="6758663" y="0"/>
                  </a:lnTo>
                  <a:lnTo>
                    <a:pt x="6758663" y="1151509"/>
                  </a:lnTo>
                  <a:lnTo>
                    <a:pt x="0" y="11515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0387" r="9522" b="-3656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6758664" cy="1103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Modelos Aplicados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500" y="1543050"/>
            <a:ext cx="17259300" cy="342900"/>
            <a:chOff x="0" y="0"/>
            <a:chExt cx="230124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30124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Dos enfoques de clasificación binaria para predecir entregas a tiempo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69119" y="2169319"/>
            <a:ext cx="8405812" cy="7548562"/>
          </a:xfrm>
          <a:custGeom>
            <a:avLst/>
            <a:gdLst/>
            <a:ahLst/>
            <a:cxnLst/>
            <a:rect r="r" b="b" t="t" l="l"/>
            <a:pathLst>
              <a:path h="7548562" w="8405812">
                <a:moveTo>
                  <a:pt x="0" y="0"/>
                </a:moveTo>
                <a:lnTo>
                  <a:pt x="8405812" y="0"/>
                </a:lnTo>
                <a:lnTo>
                  <a:pt x="8405812" y="7548562"/>
                </a:lnTo>
                <a:lnTo>
                  <a:pt x="0" y="7548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28688" y="2528888"/>
            <a:ext cx="914400" cy="914400"/>
            <a:chOff x="0" y="0"/>
            <a:chExt cx="121920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228600" y="0"/>
                  </a:moveTo>
                  <a:lnTo>
                    <a:pt x="990600" y="0"/>
                  </a:lnTo>
                  <a:cubicBezTo>
                    <a:pt x="1116711" y="0"/>
                    <a:pt x="1219200" y="102489"/>
                    <a:pt x="1219200" y="228600"/>
                  </a:cubicBezTo>
                  <a:lnTo>
                    <a:pt x="1219200" y="990600"/>
                  </a:lnTo>
                  <a:cubicBezTo>
                    <a:pt x="1219200" y="1116711"/>
                    <a:pt x="1116711" y="1219200"/>
                    <a:pt x="990600" y="1219200"/>
                  </a:cubicBezTo>
                  <a:lnTo>
                    <a:pt x="228600" y="1219200"/>
                  </a:lnTo>
                  <a:cubicBezTo>
                    <a:pt x="102489" y="1219200"/>
                    <a:pt x="0" y="1116711"/>
                    <a:pt x="0" y="9906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201941" y="2771775"/>
            <a:ext cx="375047" cy="428625"/>
          </a:xfrm>
          <a:custGeom>
            <a:avLst/>
            <a:gdLst/>
            <a:ahLst/>
            <a:cxnLst/>
            <a:rect r="r" b="b" t="t" l="l"/>
            <a:pathLst>
              <a:path h="428625" w="375047">
                <a:moveTo>
                  <a:pt x="0" y="0"/>
                </a:moveTo>
                <a:lnTo>
                  <a:pt x="375047" y="0"/>
                </a:lnTo>
                <a:lnTo>
                  <a:pt x="375047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071688" y="2287048"/>
            <a:ext cx="2886075" cy="1020508"/>
            <a:chOff x="0" y="0"/>
            <a:chExt cx="3848100" cy="13606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48100" cy="1360678"/>
            </a:xfrm>
            <a:custGeom>
              <a:avLst/>
              <a:gdLst/>
              <a:ahLst/>
              <a:cxnLst/>
              <a:rect r="r" b="b" t="t" l="l"/>
              <a:pathLst>
                <a:path h="1360678" w="3848100">
                  <a:moveTo>
                    <a:pt x="0" y="0"/>
                  </a:moveTo>
                  <a:lnTo>
                    <a:pt x="3848100" y="0"/>
                  </a:lnTo>
                  <a:lnTo>
                    <a:pt x="3848100" y="1360678"/>
                  </a:lnTo>
                  <a:lnTo>
                    <a:pt x="0" y="1360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28" r="22277" b="3477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848100" cy="138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Decision Tree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071688" y="3071812"/>
            <a:ext cx="2171700" cy="285750"/>
            <a:chOff x="0" y="0"/>
            <a:chExt cx="2895600" cy="38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95600" cy="381000"/>
            </a:xfrm>
            <a:custGeom>
              <a:avLst/>
              <a:gdLst/>
              <a:ahLst/>
              <a:cxnLst/>
              <a:rect r="r" b="b" t="t" l="l"/>
              <a:pathLst>
                <a:path h="381000" w="2895600">
                  <a:moveTo>
                    <a:pt x="0" y="0"/>
                  </a:moveTo>
                  <a:lnTo>
                    <a:pt x="2895600" y="0"/>
                  </a:lnTo>
                  <a:lnTo>
                    <a:pt x="28956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8956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Árbol de Decisión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926306" y="3726656"/>
            <a:ext cx="7691438" cy="1833562"/>
          </a:xfrm>
          <a:custGeom>
            <a:avLst/>
            <a:gdLst/>
            <a:ahLst/>
            <a:cxnLst/>
            <a:rect r="r" b="b" t="t" l="l"/>
            <a:pathLst>
              <a:path h="1833562" w="7691438">
                <a:moveTo>
                  <a:pt x="0" y="0"/>
                </a:moveTo>
                <a:lnTo>
                  <a:pt x="7691438" y="0"/>
                </a:lnTo>
                <a:lnTo>
                  <a:pt x="7691438" y="1833563"/>
                </a:lnTo>
                <a:lnTo>
                  <a:pt x="0" y="18335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171575" y="3971925"/>
            <a:ext cx="7300912" cy="285750"/>
            <a:chOff x="0" y="0"/>
            <a:chExt cx="9734550" cy="38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34550" cy="381000"/>
            </a:xfrm>
            <a:custGeom>
              <a:avLst/>
              <a:gdLst/>
              <a:ahLst/>
              <a:cxnLst/>
              <a:rect r="r" b="b" t="t" l="l"/>
              <a:pathLst>
                <a:path h="381000" w="9734550">
                  <a:moveTo>
                    <a:pt x="0" y="0"/>
                  </a:moveTo>
                  <a:lnTo>
                    <a:pt x="9734550" y="0"/>
                  </a:lnTo>
                  <a:lnTo>
                    <a:pt x="97345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7842" r="0" b="-44784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7345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Hiperparámetros: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169194" y="4426744"/>
            <a:ext cx="3548062" cy="890588"/>
          </a:xfrm>
          <a:custGeom>
            <a:avLst/>
            <a:gdLst/>
            <a:ahLst/>
            <a:cxnLst/>
            <a:rect r="r" b="b" t="t" l="l"/>
            <a:pathLst>
              <a:path h="890588" w="3548062">
                <a:moveTo>
                  <a:pt x="0" y="0"/>
                </a:moveTo>
                <a:lnTo>
                  <a:pt x="3548062" y="0"/>
                </a:lnTo>
                <a:lnTo>
                  <a:pt x="3548062" y="890587"/>
                </a:lnTo>
                <a:lnTo>
                  <a:pt x="0" y="8905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300162" y="4557712"/>
            <a:ext cx="3371850" cy="228600"/>
            <a:chOff x="0" y="0"/>
            <a:chExt cx="4495800" cy="304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95800" cy="304800"/>
            </a:xfrm>
            <a:custGeom>
              <a:avLst/>
              <a:gdLst/>
              <a:ahLst/>
              <a:cxnLst/>
              <a:rect r="r" b="b" t="t" l="l"/>
              <a:pathLst>
                <a:path h="304800" w="4495800">
                  <a:moveTo>
                    <a:pt x="0" y="0"/>
                  </a:moveTo>
                  <a:lnTo>
                    <a:pt x="4495800" y="0"/>
                  </a:lnTo>
                  <a:lnTo>
                    <a:pt x="4495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4958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max_depth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00162" y="4786312"/>
            <a:ext cx="3414712" cy="400050"/>
            <a:chOff x="0" y="0"/>
            <a:chExt cx="4552950" cy="533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52950" cy="533400"/>
            </a:xfrm>
            <a:custGeom>
              <a:avLst/>
              <a:gdLst/>
              <a:ahLst/>
              <a:cxnLst/>
              <a:rect r="r" b="b" t="t" l="l"/>
              <a:pathLst>
                <a:path h="533400" w="4552950">
                  <a:moveTo>
                    <a:pt x="0" y="0"/>
                  </a:moveTo>
                  <a:lnTo>
                    <a:pt x="4552950" y="0"/>
                  </a:lnTo>
                  <a:lnTo>
                    <a:pt x="4552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318" r="0" b="-11631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45529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8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4826794" y="4426744"/>
            <a:ext cx="3548062" cy="890588"/>
          </a:xfrm>
          <a:custGeom>
            <a:avLst/>
            <a:gdLst/>
            <a:ahLst/>
            <a:cxnLst/>
            <a:rect r="r" b="b" t="t" l="l"/>
            <a:pathLst>
              <a:path h="890588" w="3548062">
                <a:moveTo>
                  <a:pt x="0" y="0"/>
                </a:moveTo>
                <a:lnTo>
                  <a:pt x="3548062" y="0"/>
                </a:lnTo>
                <a:lnTo>
                  <a:pt x="3548062" y="890587"/>
                </a:lnTo>
                <a:lnTo>
                  <a:pt x="0" y="8905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4957762" y="4557712"/>
            <a:ext cx="3371850" cy="228600"/>
            <a:chOff x="0" y="0"/>
            <a:chExt cx="4495800" cy="304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95800" cy="304800"/>
            </a:xfrm>
            <a:custGeom>
              <a:avLst/>
              <a:gdLst/>
              <a:ahLst/>
              <a:cxnLst/>
              <a:rect r="r" b="b" t="t" l="l"/>
              <a:pathLst>
                <a:path h="304800" w="4495800">
                  <a:moveTo>
                    <a:pt x="0" y="0"/>
                  </a:moveTo>
                  <a:lnTo>
                    <a:pt x="4495800" y="0"/>
                  </a:lnTo>
                  <a:lnTo>
                    <a:pt x="4495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4958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min_samples_split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957762" y="4786312"/>
            <a:ext cx="3414712" cy="400050"/>
            <a:chOff x="0" y="0"/>
            <a:chExt cx="4552950" cy="533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552950" cy="533400"/>
            </a:xfrm>
            <a:custGeom>
              <a:avLst/>
              <a:gdLst/>
              <a:ahLst/>
              <a:cxnLst/>
              <a:rect r="r" b="b" t="t" l="l"/>
              <a:pathLst>
                <a:path h="533400" w="4552950">
                  <a:moveTo>
                    <a:pt x="0" y="0"/>
                  </a:moveTo>
                  <a:lnTo>
                    <a:pt x="4552950" y="0"/>
                  </a:lnTo>
                  <a:lnTo>
                    <a:pt x="4552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6318" r="0" b="-11631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45529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10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926306" y="5784056"/>
            <a:ext cx="7691438" cy="1576388"/>
          </a:xfrm>
          <a:custGeom>
            <a:avLst/>
            <a:gdLst/>
            <a:ahLst/>
            <a:cxnLst/>
            <a:rect r="r" b="b" t="t" l="l"/>
            <a:pathLst>
              <a:path h="1576388" w="7691438">
                <a:moveTo>
                  <a:pt x="0" y="0"/>
                </a:moveTo>
                <a:lnTo>
                  <a:pt x="7691438" y="0"/>
                </a:lnTo>
                <a:lnTo>
                  <a:pt x="7691438" y="1576388"/>
                </a:lnTo>
                <a:lnTo>
                  <a:pt x="0" y="15763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171575" y="6029325"/>
            <a:ext cx="7300912" cy="285750"/>
            <a:chOff x="0" y="0"/>
            <a:chExt cx="9734550" cy="381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34550" cy="381000"/>
            </a:xfrm>
            <a:custGeom>
              <a:avLst/>
              <a:gdLst/>
              <a:ahLst/>
              <a:cxnLst/>
              <a:rect r="r" b="b" t="t" l="l"/>
              <a:pathLst>
                <a:path h="381000" w="9734550">
                  <a:moveTo>
                    <a:pt x="0" y="0"/>
                  </a:moveTo>
                  <a:lnTo>
                    <a:pt x="9734550" y="0"/>
                  </a:lnTo>
                  <a:lnTo>
                    <a:pt x="97345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7842" r="0" b="-44784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7345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Pipeline: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93006" y="6486525"/>
            <a:ext cx="171450" cy="171450"/>
            <a:chOff x="0" y="0"/>
            <a:chExt cx="228600" cy="228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500188" y="6226969"/>
            <a:ext cx="1893321" cy="628650"/>
            <a:chOff x="0" y="0"/>
            <a:chExt cx="2524428" cy="838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24428" cy="838200"/>
            </a:xfrm>
            <a:custGeom>
              <a:avLst/>
              <a:gdLst/>
              <a:ahLst/>
              <a:cxnLst/>
              <a:rect r="r" b="b" t="t" l="l"/>
              <a:pathLst>
                <a:path h="838200" w="2524428">
                  <a:moveTo>
                    <a:pt x="0" y="0"/>
                  </a:moveTo>
                  <a:lnTo>
                    <a:pt x="2524428" y="0"/>
                  </a:lnTo>
                  <a:lnTo>
                    <a:pt x="2524428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442" r="23028" b="3210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524428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StandardScaler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93006" y="6886575"/>
            <a:ext cx="171450" cy="171450"/>
            <a:chOff x="0" y="0"/>
            <a:chExt cx="228600" cy="228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57325" y="6662047"/>
            <a:ext cx="2287118" cy="620506"/>
            <a:chOff x="0" y="0"/>
            <a:chExt cx="3049491" cy="82734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49491" cy="827341"/>
            </a:xfrm>
            <a:custGeom>
              <a:avLst/>
              <a:gdLst/>
              <a:ahLst/>
              <a:cxnLst/>
              <a:rect r="r" b="b" t="t" l="l"/>
              <a:pathLst>
                <a:path h="827341" w="3049491">
                  <a:moveTo>
                    <a:pt x="0" y="0"/>
                  </a:moveTo>
                  <a:lnTo>
                    <a:pt x="3049491" y="0"/>
                  </a:lnTo>
                  <a:lnTo>
                    <a:pt x="3049491" y="827341"/>
                  </a:lnTo>
                  <a:lnTo>
                    <a:pt x="0" y="8273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926" r="8169" b="1102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049491" cy="865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DecisionTreeClassifier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28688" y="7586662"/>
            <a:ext cx="7800975" cy="885825"/>
            <a:chOff x="0" y="0"/>
            <a:chExt cx="10401300" cy="11811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4013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0401300">
                  <a:moveTo>
                    <a:pt x="0" y="0"/>
                  </a:moveTo>
                  <a:lnTo>
                    <a:pt x="10401300" y="0"/>
                  </a:lnTo>
                  <a:lnTo>
                    <a:pt x="104013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594" r="0" b="-12159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85725"/>
              <a:ext cx="104013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Modelo interpretable que divide el espacio de características en regiones rectangulares mediante decisiones secuenciales.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926306" y="8698706"/>
            <a:ext cx="7691438" cy="661988"/>
          </a:xfrm>
          <a:custGeom>
            <a:avLst/>
            <a:gdLst/>
            <a:ahLst/>
            <a:cxnLst/>
            <a:rect r="r" b="b" t="t" l="l"/>
            <a:pathLst>
              <a:path h="661988" w="7691438">
                <a:moveTo>
                  <a:pt x="0" y="0"/>
                </a:moveTo>
                <a:lnTo>
                  <a:pt x="7691438" y="0"/>
                </a:lnTo>
                <a:lnTo>
                  <a:pt x="7691438" y="661988"/>
                </a:lnTo>
                <a:lnTo>
                  <a:pt x="0" y="6619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168003" y="8929688"/>
            <a:ext cx="150019" cy="200025"/>
          </a:xfrm>
          <a:custGeom>
            <a:avLst/>
            <a:gdLst/>
            <a:ahLst/>
            <a:cxnLst/>
            <a:rect r="r" b="b" t="t" l="l"/>
            <a:pathLst>
              <a:path h="200025" w="150019">
                <a:moveTo>
                  <a:pt x="0" y="0"/>
                </a:moveTo>
                <a:lnTo>
                  <a:pt x="150019" y="0"/>
                </a:lnTo>
                <a:lnTo>
                  <a:pt x="150019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1457325" y="8886825"/>
            <a:ext cx="7072312" cy="285750"/>
            <a:chOff x="0" y="0"/>
            <a:chExt cx="9429750" cy="381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429750" cy="381000"/>
            </a:xfrm>
            <a:custGeom>
              <a:avLst/>
              <a:gdLst/>
              <a:ahLst/>
              <a:cxnLst/>
              <a:rect r="r" b="b" t="t" l="l"/>
              <a:pathLst>
                <a:path h="38100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2254" r="0" b="-43225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4297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Fácil de interpretar y visualizar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false" flipV="false" rot="0">
            <a:off x="9313069" y="2169319"/>
            <a:ext cx="8405812" cy="7548562"/>
          </a:xfrm>
          <a:custGeom>
            <a:avLst/>
            <a:gdLst/>
            <a:ahLst/>
            <a:cxnLst/>
            <a:rect r="r" b="b" t="t" l="l"/>
            <a:pathLst>
              <a:path h="7548562" w="8405812">
                <a:moveTo>
                  <a:pt x="0" y="0"/>
                </a:moveTo>
                <a:lnTo>
                  <a:pt x="8405812" y="0"/>
                </a:lnTo>
                <a:lnTo>
                  <a:pt x="8405812" y="7548562"/>
                </a:lnTo>
                <a:lnTo>
                  <a:pt x="0" y="7548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9672638" y="2528888"/>
            <a:ext cx="914400" cy="914400"/>
            <a:chOff x="0" y="0"/>
            <a:chExt cx="1219200" cy="1219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228600" y="0"/>
                  </a:moveTo>
                  <a:lnTo>
                    <a:pt x="990600" y="0"/>
                  </a:lnTo>
                  <a:cubicBezTo>
                    <a:pt x="1116711" y="0"/>
                    <a:pt x="1219200" y="102489"/>
                    <a:pt x="1219200" y="228600"/>
                  </a:cubicBezTo>
                  <a:lnTo>
                    <a:pt x="1219200" y="990600"/>
                  </a:lnTo>
                  <a:cubicBezTo>
                    <a:pt x="1219200" y="1116711"/>
                    <a:pt x="1116711" y="1219200"/>
                    <a:pt x="990600" y="1219200"/>
                  </a:cubicBezTo>
                  <a:lnTo>
                    <a:pt x="228600" y="1219200"/>
                  </a:lnTo>
                  <a:cubicBezTo>
                    <a:pt x="102489" y="1219200"/>
                    <a:pt x="0" y="1116711"/>
                    <a:pt x="0" y="9906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9945891" y="2771775"/>
            <a:ext cx="375047" cy="428625"/>
          </a:xfrm>
          <a:custGeom>
            <a:avLst/>
            <a:gdLst/>
            <a:ahLst/>
            <a:cxnLst/>
            <a:rect r="r" b="b" t="t" l="l"/>
            <a:pathLst>
              <a:path h="428625" w="375047">
                <a:moveTo>
                  <a:pt x="0" y="0"/>
                </a:moveTo>
                <a:lnTo>
                  <a:pt x="375047" y="0"/>
                </a:lnTo>
                <a:lnTo>
                  <a:pt x="375047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0815638" y="2296049"/>
            <a:ext cx="3406015" cy="1020508"/>
            <a:chOff x="0" y="0"/>
            <a:chExt cx="4541354" cy="136067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541354" cy="1360678"/>
            </a:xfrm>
            <a:custGeom>
              <a:avLst/>
              <a:gdLst/>
              <a:ahLst/>
              <a:cxnLst/>
              <a:rect r="r" b="b" t="t" l="l"/>
              <a:pathLst>
                <a:path h="1360678" w="4541354">
                  <a:moveTo>
                    <a:pt x="0" y="0"/>
                  </a:moveTo>
                  <a:lnTo>
                    <a:pt x="4541354" y="0"/>
                  </a:lnTo>
                  <a:lnTo>
                    <a:pt x="4541354" y="1360678"/>
                  </a:lnTo>
                  <a:lnTo>
                    <a:pt x="0" y="13606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793" r="27430" b="30405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4541354" cy="13892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Random Forest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815638" y="3071812"/>
            <a:ext cx="2400300" cy="285750"/>
            <a:chOff x="0" y="0"/>
            <a:chExt cx="3200400" cy="3810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200400" cy="381000"/>
            </a:xfrm>
            <a:custGeom>
              <a:avLst/>
              <a:gdLst/>
              <a:ahLst/>
              <a:cxnLst/>
              <a:rect r="r" b="b" t="t" l="l"/>
              <a:pathLst>
                <a:path h="3810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32004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Ensemble de Árboles</a:t>
              </a: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9670256" y="3726656"/>
            <a:ext cx="7691438" cy="1833562"/>
          </a:xfrm>
          <a:custGeom>
            <a:avLst/>
            <a:gdLst/>
            <a:ahLst/>
            <a:cxnLst/>
            <a:rect r="r" b="b" t="t" l="l"/>
            <a:pathLst>
              <a:path h="1833562" w="7691438">
                <a:moveTo>
                  <a:pt x="0" y="0"/>
                </a:moveTo>
                <a:lnTo>
                  <a:pt x="7691438" y="0"/>
                </a:lnTo>
                <a:lnTo>
                  <a:pt x="7691438" y="1833563"/>
                </a:lnTo>
                <a:lnTo>
                  <a:pt x="0" y="18335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9915525" y="3971925"/>
            <a:ext cx="7300912" cy="285750"/>
            <a:chOff x="0" y="0"/>
            <a:chExt cx="9734550" cy="381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734550" cy="381000"/>
            </a:xfrm>
            <a:custGeom>
              <a:avLst/>
              <a:gdLst/>
              <a:ahLst/>
              <a:cxnLst/>
              <a:rect r="r" b="b" t="t" l="l"/>
              <a:pathLst>
                <a:path h="381000" w="9734550">
                  <a:moveTo>
                    <a:pt x="0" y="0"/>
                  </a:moveTo>
                  <a:lnTo>
                    <a:pt x="9734550" y="0"/>
                  </a:lnTo>
                  <a:lnTo>
                    <a:pt x="97345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7842" r="0" b="-44784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97345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Hiperparámetros:</a:t>
              </a: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9913144" y="4426744"/>
            <a:ext cx="3548062" cy="890588"/>
          </a:xfrm>
          <a:custGeom>
            <a:avLst/>
            <a:gdLst/>
            <a:ahLst/>
            <a:cxnLst/>
            <a:rect r="r" b="b" t="t" l="l"/>
            <a:pathLst>
              <a:path h="890588" w="3548062">
                <a:moveTo>
                  <a:pt x="0" y="0"/>
                </a:moveTo>
                <a:lnTo>
                  <a:pt x="3548062" y="0"/>
                </a:lnTo>
                <a:lnTo>
                  <a:pt x="3548062" y="890587"/>
                </a:lnTo>
                <a:lnTo>
                  <a:pt x="0" y="8905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10044112" y="4557712"/>
            <a:ext cx="3371850" cy="228600"/>
            <a:chOff x="0" y="0"/>
            <a:chExt cx="4495800" cy="304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495800" cy="304800"/>
            </a:xfrm>
            <a:custGeom>
              <a:avLst/>
              <a:gdLst/>
              <a:ahLst/>
              <a:cxnLst/>
              <a:rect r="r" b="b" t="t" l="l"/>
              <a:pathLst>
                <a:path h="304800" w="4495800">
                  <a:moveTo>
                    <a:pt x="0" y="0"/>
                  </a:moveTo>
                  <a:lnTo>
                    <a:pt x="4495800" y="0"/>
                  </a:lnTo>
                  <a:lnTo>
                    <a:pt x="4495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44958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n_estimators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044112" y="4786312"/>
            <a:ext cx="3414712" cy="432197"/>
            <a:chOff x="0" y="0"/>
            <a:chExt cx="4552950" cy="57626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552950" cy="576262"/>
            </a:xfrm>
            <a:custGeom>
              <a:avLst/>
              <a:gdLst/>
              <a:ahLst/>
              <a:cxnLst/>
              <a:rect r="r" b="b" t="t" l="l"/>
              <a:pathLst>
                <a:path h="576262" w="4552950">
                  <a:moveTo>
                    <a:pt x="0" y="0"/>
                  </a:moveTo>
                  <a:lnTo>
                    <a:pt x="4552950" y="0"/>
                  </a:lnTo>
                  <a:lnTo>
                    <a:pt x="4552950" y="576262"/>
                  </a:lnTo>
                  <a:lnTo>
                    <a:pt x="0" y="5762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666" r="0" b="-10022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66675"/>
              <a:ext cx="4552950" cy="642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150</a:t>
              </a: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13570744" y="4426744"/>
            <a:ext cx="3548062" cy="890588"/>
          </a:xfrm>
          <a:custGeom>
            <a:avLst/>
            <a:gdLst/>
            <a:ahLst/>
            <a:cxnLst/>
            <a:rect r="r" b="b" t="t" l="l"/>
            <a:pathLst>
              <a:path h="890588" w="3548062">
                <a:moveTo>
                  <a:pt x="0" y="0"/>
                </a:moveTo>
                <a:lnTo>
                  <a:pt x="3548062" y="0"/>
                </a:lnTo>
                <a:lnTo>
                  <a:pt x="3548062" y="890587"/>
                </a:lnTo>
                <a:lnTo>
                  <a:pt x="0" y="89058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13701712" y="4557712"/>
            <a:ext cx="3371850" cy="228600"/>
            <a:chOff x="0" y="0"/>
            <a:chExt cx="4495800" cy="304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495800" cy="304800"/>
            </a:xfrm>
            <a:custGeom>
              <a:avLst/>
              <a:gdLst/>
              <a:ahLst/>
              <a:cxnLst/>
              <a:rect r="r" b="b" t="t" l="l"/>
              <a:pathLst>
                <a:path h="304800" w="4495800">
                  <a:moveTo>
                    <a:pt x="0" y="0"/>
                  </a:moveTo>
                  <a:lnTo>
                    <a:pt x="4495800" y="0"/>
                  </a:lnTo>
                  <a:lnTo>
                    <a:pt x="44958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7404" r="0" b="-23740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44958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max_depth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701712" y="4786312"/>
            <a:ext cx="3414712" cy="432197"/>
            <a:chOff x="0" y="0"/>
            <a:chExt cx="4552950" cy="57626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552950" cy="576262"/>
            </a:xfrm>
            <a:custGeom>
              <a:avLst/>
              <a:gdLst/>
              <a:ahLst/>
              <a:cxnLst/>
              <a:rect r="r" b="b" t="t" l="l"/>
              <a:pathLst>
                <a:path h="576262" w="4552950">
                  <a:moveTo>
                    <a:pt x="0" y="0"/>
                  </a:moveTo>
                  <a:lnTo>
                    <a:pt x="4552950" y="0"/>
                  </a:lnTo>
                  <a:lnTo>
                    <a:pt x="4552950" y="576262"/>
                  </a:lnTo>
                  <a:lnTo>
                    <a:pt x="0" y="5762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7666" r="0" b="-10022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4552950" cy="642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8</a:t>
              </a:r>
            </a:p>
          </p:txBody>
        </p:sp>
      </p:grpSp>
      <p:sp>
        <p:nvSpPr>
          <p:cNvPr name="Freeform 92" id="92"/>
          <p:cNvSpPr/>
          <p:nvPr/>
        </p:nvSpPr>
        <p:spPr>
          <a:xfrm flipH="false" flipV="false" rot="0">
            <a:off x="9670256" y="5784056"/>
            <a:ext cx="7691438" cy="1576388"/>
          </a:xfrm>
          <a:custGeom>
            <a:avLst/>
            <a:gdLst/>
            <a:ahLst/>
            <a:cxnLst/>
            <a:rect r="r" b="b" t="t" l="l"/>
            <a:pathLst>
              <a:path h="1576388" w="7691438">
                <a:moveTo>
                  <a:pt x="0" y="0"/>
                </a:moveTo>
                <a:lnTo>
                  <a:pt x="7691438" y="0"/>
                </a:lnTo>
                <a:lnTo>
                  <a:pt x="7691438" y="1576388"/>
                </a:lnTo>
                <a:lnTo>
                  <a:pt x="0" y="15763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9915525" y="6029325"/>
            <a:ext cx="7300912" cy="285750"/>
            <a:chOff x="0" y="0"/>
            <a:chExt cx="9734550" cy="3810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734550" cy="381000"/>
            </a:xfrm>
            <a:custGeom>
              <a:avLst/>
              <a:gdLst/>
              <a:ahLst/>
              <a:cxnLst/>
              <a:rect r="r" b="b" t="t" l="l"/>
              <a:pathLst>
                <a:path h="381000" w="9734550">
                  <a:moveTo>
                    <a:pt x="0" y="0"/>
                  </a:moveTo>
                  <a:lnTo>
                    <a:pt x="9734550" y="0"/>
                  </a:lnTo>
                  <a:lnTo>
                    <a:pt x="97345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7842" r="0" b="-44784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97345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Pipeline: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936956" y="6486525"/>
            <a:ext cx="171450" cy="171450"/>
            <a:chOff x="0" y="0"/>
            <a:chExt cx="228600" cy="2286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0203656" y="6226969"/>
            <a:ext cx="1771650" cy="628650"/>
            <a:chOff x="0" y="0"/>
            <a:chExt cx="2362200" cy="8382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362200" cy="838200"/>
            </a:xfrm>
            <a:custGeom>
              <a:avLst/>
              <a:gdLst/>
              <a:ahLst/>
              <a:cxnLst/>
              <a:rect r="r" b="b" t="t" l="l"/>
              <a:pathLst>
                <a:path h="838200" w="2362200">
                  <a:moveTo>
                    <a:pt x="0" y="0"/>
                  </a:moveTo>
                  <a:lnTo>
                    <a:pt x="2362200" y="0"/>
                  </a:lnTo>
                  <a:lnTo>
                    <a:pt x="2362200" y="838200"/>
                  </a:lnTo>
                  <a:lnTo>
                    <a:pt x="0" y="838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442" r="17741" b="32102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36220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StandardScaler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936956" y="6886575"/>
            <a:ext cx="171450" cy="171450"/>
            <a:chOff x="0" y="0"/>
            <a:chExt cx="228600" cy="2286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0241756" y="6686550"/>
            <a:ext cx="2633704" cy="620506"/>
            <a:chOff x="0" y="0"/>
            <a:chExt cx="3511605" cy="82734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511605" cy="827341"/>
            </a:xfrm>
            <a:custGeom>
              <a:avLst/>
              <a:gdLst/>
              <a:ahLst/>
              <a:cxnLst/>
              <a:rect r="r" b="b" t="t" l="l"/>
              <a:pathLst>
                <a:path h="827341" w="3511605">
                  <a:moveTo>
                    <a:pt x="0" y="0"/>
                  </a:moveTo>
                  <a:lnTo>
                    <a:pt x="3511605" y="0"/>
                  </a:lnTo>
                  <a:lnTo>
                    <a:pt x="3511605" y="827341"/>
                  </a:lnTo>
                  <a:lnTo>
                    <a:pt x="0" y="82734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964" r="15372" b="698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3511605" cy="8654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RandomForestClassifier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672638" y="7586662"/>
            <a:ext cx="7800975" cy="885825"/>
            <a:chOff x="0" y="0"/>
            <a:chExt cx="10401300" cy="11811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04013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0401300">
                  <a:moveTo>
                    <a:pt x="0" y="0"/>
                  </a:moveTo>
                  <a:lnTo>
                    <a:pt x="10401300" y="0"/>
                  </a:lnTo>
                  <a:lnTo>
                    <a:pt x="104013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594" r="0" b="-121594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85725"/>
              <a:ext cx="104013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Ensemble que combina múltiples árboles de decisión entrenados sobre subconjuntos aleatorios de datos y características.</a:t>
              </a: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9670256" y="8698706"/>
            <a:ext cx="7691438" cy="661988"/>
          </a:xfrm>
          <a:custGeom>
            <a:avLst/>
            <a:gdLst/>
            <a:ahLst/>
            <a:cxnLst/>
            <a:rect r="r" b="b" t="t" l="l"/>
            <a:pathLst>
              <a:path h="661988" w="7691438">
                <a:moveTo>
                  <a:pt x="0" y="0"/>
                </a:moveTo>
                <a:lnTo>
                  <a:pt x="7691438" y="0"/>
                </a:lnTo>
                <a:lnTo>
                  <a:pt x="7691438" y="661988"/>
                </a:lnTo>
                <a:lnTo>
                  <a:pt x="0" y="6619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9874453" y="8929688"/>
            <a:ext cx="225028" cy="200025"/>
          </a:xfrm>
          <a:custGeom>
            <a:avLst/>
            <a:gdLst/>
            <a:ahLst/>
            <a:cxnLst/>
            <a:rect r="r" b="b" t="t" l="l"/>
            <a:pathLst>
              <a:path h="200025" w="225028">
                <a:moveTo>
                  <a:pt x="0" y="0"/>
                </a:moveTo>
                <a:lnTo>
                  <a:pt x="225028" y="0"/>
                </a:lnTo>
                <a:lnTo>
                  <a:pt x="225028" y="200024"/>
                </a:lnTo>
                <a:lnTo>
                  <a:pt x="0" y="20002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1" id="111"/>
          <p:cNvGrpSpPr/>
          <p:nvPr/>
        </p:nvGrpSpPr>
        <p:grpSpPr>
          <a:xfrm rot="0">
            <a:off x="10201275" y="8886825"/>
            <a:ext cx="7072312" cy="285750"/>
            <a:chOff x="0" y="0"/>
            <a:chExt cx="9429750" cy="3810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429750" cy="381000"/>
            </a:xfrm>
            <a:custGeom>
              <a:avLst/>
              <a:gdLst/>
              <a:ahLst/>
              <a:cxnLst/>
              <a:rect r="r" b="b" t="t" l="l"/>
              <a:pathLst>
                <a:path h="381000" w="9429750">
                  <a:moveTo>
                    <a:pt x="0" y="0"/>
                  </a:moveTo>
                  <a:lnTo>
                    <a:pt x="9429750" y="0"/>
                  </a:lnTo>
                  <a:lnTo>
                    <a:pt x="94297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2254" r="0" b="-432254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94297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Mayor robustez y precisión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14375"/>
            <a:ext cx="571500" cy="571500"/>
            <a:chOff x="0" y="0"/>
            <a:chExt cx="762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00088" y="871538"/>
            <a:ext cx="321469" cy="257175"/>
          </a:xfrm>
          <a:custGeom>
            <a:avLst/>
            <a:gdLst/>
            <a:ahLst/>
            <a:cxnLst/>
            <a:rect r="r" b="b" t="t" l="l"/>
            <a:pathLst>
              <a:path h="257175" w="321469">
                <a:moveTo>
                  <a:pt x="0" y="0"/>
                </a:moveTo>
                <a:lnTo>
                  <a:pt x="321468" y="0"/>
                </a:lnTo>
                <a:lnTo>
                  <a:pt x="321468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4450" y="571500"/>
            <a:ext cx="7815262" cy="285750"/>
            <a:chOff x="0" y="0"/>
            <a:chExt cx="10420350" cy="38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20350" cy="381000"/>
            </a:xfrm>
            <a:custGeom>
              <a:avLst/>
              <a:gdLst/>
              <a:ahLst/>
              <a:cxnLst/>
              <a:rect r="r" b="b" t="t" l="l"/>
              <a:pathLst>
                <a:path h="381000" w="10420350">
                  <a:moveTo>
                    <a:pt x="0" y="0"/>
                  </a:moveTo>
                  <a:lnTo>
                    <a:pt x="10420350" y="0"/>
                  </a:lnTo>
                  <a:lnTo>
                    <a:pt x="10420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82915" r="0" b="-48291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420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Análisis de Datos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4450" y="711184"/>
            <a:ext cx="8439564" cy="863632"/>
            <a:chOff x="0" y="0"/>
            <a:chExt cx="11252752" cy="11515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52752" cy="1151509"/>
            </a:xfrm>
            <a:custGeom>
              <a:avLst/>
              <a:gdLst/>
              <a:ahLst/>
              <a:cxnLst/>
              <a:rect r="r" b="b" t="t" l="l"/>
              <a:pathLst>
                <a:path h="1151509" w="11252752">
                  <a:moveTo>
                    <a:pt x="0" y="0"/>
                  </a:moveTo>
                  <a:lnTo>
                    <a:pt x="11252752" y="0"/>
                  </a:lnTo>
                  <a:lnTo>
                    <a:pt x="11252752" y="1151509"/>
                  </a:lnTo>
                  <a:lnTo>
                    <a:pt x="0" y="11515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6784" r="5535" b="-11295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11252752" cy="1103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Impacto del Desbalance de Clases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500" y="1543050"/>
            <a:ext cx="17259300" cy="342900"/>
            <a:chOff x="0" y="0"/>
            <a:chExt cx="230124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30124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Cómo el desbalance 60/40 afecta el desempeño de los modelos de clasificación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69119" y="2169319"/>
            <a:ext cx="10177462" cy="7577138"/>
          </a:xfrm>
          <a:custGeom>
            <a:avLst/>
            <a:gdLst/>
            <a:ahLst/>
            <a:cxnLst/>
            <a:rect r="r" b="b" t="t" l="l"/>
            <a:pathLst>
              <a:path h="7577138" w="10177462">
                <a:moveTo>
                  <a:pt x="0" y="0"/>
                </a:moveTo>
                <a:lnTo>
                  <a:pt x="10177462" y="0"/>
                </a:lnTo>
                <a:lnTo>
                  <a:pt x="10177462" y="7577137"/>
                </a:lnTo>
                <a:lnTo>
                  <a:pt x="0" y="7577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07256" y="2543175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00150" y="2471738"/>
            <a:ext cx="9372600" cy="400050"/>
            <a:chOff x="0" y="0"/>
            <a:chExt cx="124968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496800" cy="533400"/>
            </a:xfrm>
            <a:custGeom>
              <a:avLst/>
              <a:gdLst/>
              <a:ahLst/>
              <a:cxnLst/>
              <a:rect r="r" b="b" t="t" l="l"/>
              <a:pathLst>
                <a:path h="533400" w="12496800">
                  <a:moveTo>
                    <a:pt x="0" y="0"/>
                  </a:moveTo>
                  <a:lnTo>
                    <a:pt x="12496800" y="0"/>
                  </a:lnTo>
                  <a:lnTo>
                    <a:pt x="12496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6506" r="0" b="-40650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24968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Efecto en Métricas de Desempeño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71538" y="3100388"/>
            <a:ext cx="9572625" cy="5715000"/>
            <a:chOff x="0" y="0"/>
            <a:chExt cx="12763500" cy="7620000"/>
          </a:xfrm>
        </p:grpSpPr>
        <p:sp>
          <p:nvSpPr>
            <p:cNvPr name="Freeform 20" id="20" descr="https://kimi-img.moonshot.cn/pub/slides/26-03-12-05:09:09-d6otjt864o3od22h3720.png"/>
            <p:cNvSpPr/>
            <p:nvPr/>
          </p:nvSpPr>
          <p:spPr>
            <a:xfrm flipH="false" flipV="false" rot="0">
              <a:off x="0" y="0"/>
              <a:ext cx="127635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12763500">
                  <a:moveTo>
                    <a:pt x="0" y="0"/>
                  </a:moveTo>
                  <a:lnTo>
                    <a:pt x="12763500" y="0"/>
                  </a:lnTo>
                  <a:lnTo>
                    <a:pt x="127635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1027569" y="2169319"/>
            <a:ext cx="6691312" cy="5948362"/>
          </a:xfrm>
          <a:custGeom>
            <a:avLst/>
            <a:gdLst/>
            <a:ahLst/>
            <a:cxnLst/>
            <a:rect r="r" b="b" t="t" l="l"/>
            <a:pathLst>
              <a:path h="5948362" w="6691312">
                <a:moveTo>
                  <a:pt x="0" y="0"/>
                </a:moveTo>
                <a:lnTo>
                  <a:pt x="6691312" y="0"/>
                </a:lnTo>
                <a:lnTo>
                  <a:pt x="6691312" y="5948362"/>
                </a:lnTo>
                <a:lnTo>
                  <a:pt x="0" y="594836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365706" y="2543175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658600" y="2471738"/>
            <a:ext cx="5886450" cy="400050"/>
            <a:chOff x="0" y="0"/>
            <a:chExt cx="7848600" cy="533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48600" cy="533400"/>
            </a:xfrm>
            <a:custGeom>
              <a:avLst/>
              <a:gdLst/>
              <a:ahLst/>
              <a:cxnLst/>
              <a:rect r="r" b="b" t="t" l="l"/>
              <a:pathLst>
                <a:path h="533400" w="7848600">
                  <a:moveTo>
                    <a:pt x="0" y="0"/>
                  </a:moveTo>
                  <a:lnTo>
                    <a:pt x="7848600" y="0"/>
                  </a:lnTo>
                  <a:lnTo>
                    <a:pt x="7848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78486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Problemas Identificados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1327606" y="3098006"/>
            <a:ext cx="6091238" cy="1462088"/>
          </a:xfrm>
          <a:custGeom>
            <a:avLst/>
            <a:gdLst/>
            <a:ahLst/>
            <a:cxnLst/>
            <a:rect r="r" b="b" t="t" l="l"/>
            <a:pathLst>
              <a:path h="1462088" w="6091238">
                <a:moveTo>
                  <a:pt x="0" y="0"/>
                </a:moveTo>
                <a:lnTo>
                  <a:pt x="6091238" y="0"/>
                </a:lnTo>
                <a:lnTo>
                  <a:pt x="6091238" y="1462088"/>
                </a:lnTo>
                <a:lnTo>
                  <a:pt x="0" y="146208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1572875" y="3343275"/>
            <a:ext cx="5700712" cy="285750"/>
            <a:chOff x="0" y="0"/>
            <a:chExt cx="7600950" cy="381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00950" cy="381000"/>
            </a:xfrm>
            <a:custGeom>
              <a:avLst/>
              <a:gdLst/>
              <a:ahLst/>
              <a:cxnLst/>
              <a:rect r="r" b="b" t="t" l="l"/>
              <a:pathLst>
                <a:path h="381000" w="7600950">
                  <a:moveTo>
                    <a:pt x="0" y="0"/>
                  </a:moveTo>
                  <a:lnTo>
                    <a:pt x="7600950" y="0"/>
                  </a:lnTo>
                  <a:lnTo>
                    <a:pt x="76009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8726" r="0" b="-3387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6009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1. Favoritismo hacia Clase Mayoritaria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572875" y="3743325"/>
            <a:ext cx="5700712" cy="571500"/>
            <a:chOff x="0" y="0"/>
            <a:chExt cx="7600950" cy="762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00950" cy="762000"/>
            </a:xfrm>
            <a:custGeom>
              <a:avLst/>
              <a:gdLst/>
              <a:ahLst/>
              <a:cxnLst/>
              <a:rect r="r" b="b" t="t" l="l"/>
              <a:pathLst>
                <a:path h="762000" w="7600950">
                  <a:moveTo>
                    <a:pt x="0" y="0"/>
                  </a:moveTo>
                  <a:lnTo>
                    <a:pt x="7600950" y="0"/>
                  </a:lnTo>
                  <a:lnTo>
                    <a:pt x="76009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363" r="0" b="-14436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60095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Los modelos tienden a predecir más frecuentemente "llegó a tiempo" (clase 1) porque representa el 60% de los datos.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1327606" y="4726781"/>
            <a:ext cx="6091238" cy="1462088"/>
          </a:xfrm>
          <a:custGeom>
            <a:avLst/>
            <a:gdLst/>
            <a:ahLst/>
            <a:cxnLst/>
            <a:rect r="r" b="b" t="t" l="l"/>
            <a:pathLst>
              <a:path h="1462088" w="6091238">
                <a:moveTo>
                  <a:pt x="0" y="0"/>
                </a:moveTo>
                <a:lnTo>
                  <a:pt x="6091238" y="0"/>
                </a:lnTo>
                <a:lnTo>
                  <a:pt x="6091238" y="1462088"/>
                </a:lnTo>
                <a:lnTo>
                  <a:pt x="0" y="146208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1572875" y="4972050"/>
            <a:ext cx="5700712" cy="285750"/>
            <a:chOff x="0" y="0"/>
            <a:chExt cx="7600950" cy="38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00950" cy="381000"/>
            </a:xfrm>
            <a:custGeom>
              <a:avLst/>
              <a:gdLst/>
              <a:ahLst/>
              <a:cxnLst/>
              <a:rect r="r" b="b" t="t" l="l"/>
              <a:pathLst>
                <a:path h="381000" w="7600950">
                  <a:moveTo>
                    <a:pt x="0" y="0"/>
                  </a:moveTo>
                  <a:lnTo>
                    <a:pt x="7600950" y="0"/>
                  </a:lnTo>
                  <a:lnTo>
                    <a:pt x="76009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8726" r="0" b="-33872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6009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2. Trade-off Precisión-Recall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572875" y="5372100"/>
            <a:ext cx="5700712" cy="571500"/>
            <a:chOff x="0" y="0"/>
            <a:chExt cx="7600950" cy="762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00950" cy="762000"/>
            </a:xfrm>
            <a:custGeom>
              <a:avLst/>
              <a:gdLst/>
              <a:ahLst/>
              <a:cxnLst/>
              <a:rect r="r" b="b" t="t" l="l"/>
              <a:pathLst>
                <a:path h="762000" w="7600950">
                  <a:moveTo>
                    <a:pt x="0" y="0"/>
                  </a:moveTo>
                  <a:lnTo>
                    <a:pt x="7600950" y="0"/>
                  </a:lnTo>
                  <a:lnTo>
                    <a:pt x="76009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4363" r="0" b="-14436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60095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Alta precisión en clase positiva (97%) pero bajo recall (47%), indicando conservadurismo del modelo.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1027569" y="8341519"/>
            <a:ext cx="6691312" cy="1404938"/>
          </a:xfrm>
          <a:custGeom>
            <a:avLst/>
            <a:gdLst/>
            <a:ahLst/>
            <a:cxnLst/>
            <a:rect r="r" b="b" t="t" l="l"/>
            <a:pathLst>
              <a:path h="1404938" w="6691312">
                <a:moveTo>
                  <a:pt x="0" y="0"/>
                </a:moveTo>
                <a:lnTo>
                  <a:pt x="6691312" y="0"/>
                </a:lnTo>
                <a:lnTo>
                  <a:pt x="6691312" y="1404937"/>
                </a:lnTo>
                <a:lnTo>
                  <a:pt x="0" y="140493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276409" y="8643938"/>
            <a:ext cx="192881" cy="257175"/>
          </a:xfrm>
          <a:custGeom>
            <a:avLst/>
            <a:gdLst/>
            <a:ahLst/>
            <a:cxnLst/>
            <a:rect r="r" b="b" t="t" l="l"/>
            <a:pathLst>
              <a:path h="257175" w="192881">
                <a:moveTo>
                  <a:pt x="0" y="0"/>
                </a:moveTo>
                <a:lnTo>
                  <a:pt x="192882" y="0"/>
                </a:lnTo>
                <a:lnTo>
                  <a:pt x="192882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1644427" y="8586788"/>
            <a:ext cx="5929312" cy="285750"/>
            <a:chOff x="0" y="0"/>
            <a:chExt cx="7905750" cy="381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905750" cy="381000"/>
            </a:xfrm>
            <a:custGeom>
              <a:avLst/>
              <a:gdLst/>
              <a:ahLst/>
              <a:cxnLst/>
              <a:rect r="r" b="b" t="t" l="l"/>
              <a:pathLst>
                <a:path h="3810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54314" r="0" b="-35431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9057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Comportamiento del Modelo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644427" y="8929688"/>
            <a:ext cx="5929312" cy="571500"/>
            <a:chOff x="0" y="0"/>
            <a:chExt cx="7905750" cy="762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05750" cy="762000"/>
            </a:xfrm>
            <a:custGeom>
              <a:avLst/>
              <a:gdLst/>
              <a:ahLst/>
              <a:cxnLst/>
              <a:rect r="r" b="b" t="t" l="l"/>
              <a:pathLst>
                <a:path h="762000" w="7905750">
                  <a:moveTo>
                    <a:pt x="0" y="0"/>
                  </a:moveTo>
                  <a:lnTo>
                    <a:pt x="7905750" y="0"/>
                  </a:lnTo>
                  <a:lnTo>
                    <a:pt x="79057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2157" r="0" b="-15215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90575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El modelo es </a:t>
              </a: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conservador</a:t>
              </a: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: prefiere predecir "retraso" sobre "a tiempo" para minimizar falsas promesas al cliente.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633" y="708289"/>
            <a:ext cx="566633" cy="566633"/>
            <a:chOff x="0" y="0"/>
            <a:chExt cx="755510" cy="7555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5523" cy="755523"/>
            </a:xfrm>
            <a:custGeom>
              <a:avLst/>
              <a:gdLst/>
              <a:ahLst/>
              <a:cxnLst/>
              <a:rect r="r" b="b" t="t" l="l"/>
              <a:pathLst>
                <a:path h="755523" w="755523">
                  <a:moveTo>
                    <a:pt x="151130" y="0"/>
                  </a:moveTo>
                  <a:lnTo>
                    <a:pt x="604393" y="0"/>
                  </a:lnTo>
                  <a:cubicBezTo>
                    <a:pt x="687832" y="0"/>
                    <a:pt x="755523" y="67691"/>
                    <a:pt x="755523" y="151130"/>
                  </a:cubicBezTo>
                  <a:lnTo>
                    <a:pt x="755523" y="604393"/>
                  </a:lnTo>
                  <a:cubicBezTo>
                    <a:pt x="755523" y="687832"/>
                    <a:pt x="687832" y="755523"/>
                    <a:pt x="604393" y="755523"/>
                  </a:cubicBezTo>
                  <a:lnTo>
                    <a:pt x="151130" y="755523"/>
                  </a:lnTo>
                  <a:cubicBezTo>
                    <a:pt x="67691" y="755523"/>
                    <a:pt x="0" y="687832"/>
                    <a:pt x="0" y="604393"/>
                  </a:cubicBezTo>
                  <a:lnTo>
                    <a:pt x="0" y="151130"/>
                  </a:lnTo>
                  <a:cubicBezTo>
                    <a:pt x="0" y="67691"/>
                    <a:pt x="67691" y="0"/>
                    <a:pt x="15113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41931" y="864108"/>
            <a:ext cx="223114" cy="254984"/>
          </a:xfrm>
          <a:custGeom>
            <a:avLst/>
            <a:gdLst/>
            <a:ahLst/>
            <a:cxnLst/>
            <a:rect r="r" b="b" t="t" l="l"/>
            <a:pathLst>
              <a:path h="254984" w="223114">
                <a:moveTo>
                  <a:pt x="0" y="0"/>
                </a:moveTo>
                <a:lnTo>
                  <a:pt x="223113" y="0"/>
                </a:lnTo>
                <a:lnTo>
                  <a:pt x="223113" y="254984"/>
                </a:lnTo>
                <a:lnTo>
                  <a:pt x="0" y="254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03249" y="566633"/>
            <a:ext cx="5382987" cy="283312"/>
            <a:chOff x="0" y="0"/>
            <a:chExt cx="7177316" cy="3777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77320" cy="377754"/>
            </a:xfrm>
            <a:custGeom>
              <a:avLst/>
              <a:gdLst/>
              <a:ahLst/>
              <a:cxnLst/>
              <a:rect r="r" b="b" t="t" l="l"/>
              <a:pathLst>
                <a:path h="377754" w="7177320">
                  <a:moveTo>
                    <a:pt x="0" y="0"/>
                  </a:moveTo>
                  <a:lnTo>
                    <a:pt x="7177320" y="0"/>
                  </a:lnTo>
                  <a:lnTo>
                    <a:pt x="7177320" y="377754"/>
                  </a:lnTo>
                  <a:lnTo>
                    <a:pt x="0" y="377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0215" r="0" b="-32021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177316" cy="415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8"/>
                </a:lnSpc>
              </a:pPr>
              <a:r>
                <a:rPr lang="en-US" b="true" sz="1561" spc="78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Resultados - Clasificación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03249" y="707533"/>
            <a:ext cx="6534179" cy="851456"/>
            <a:chOff x="0" y="0"/>
            <a:chExt cx="8712238" cy="11352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12233" cy="1135271"/>
            </a:xfrm>
            <a:custGeom>
              <a:avLst/>
              <a:gdLst/>
              <a:ahLst/>
              <a:cxnLst/>
              <a:rect r="r" b="b" t="t" l="l"/>
              <a:pathLst>
                <a:path h="1135271" w="8712233">
                  <a:moveTo>
                    <a:pt x="0" y="0"/>
                  </a:moveTo>
                  <a:lnTo>
                    <a:pt x="8712233" y="0"/>
                  </a:lnTo>
                  <a:lnTo>
                    <a:pt x="8712233" y="1135271"/>
                  </a:lnTo>
                  <a:lnTo>
                    <a:pt x="0" y="113527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478" r="15233" b="-6002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8712238" cy="1087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36"/>
                </a:lnSpc>
              </a:pPr>
              <a:r>
                <a:rPr lang="en-US" sz="401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Decision Tree 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64185" y="2150755"/>
            <a:ext cx="6691122" cy="2016423"/>
          </a:xfrm>
          <a:custGeom>
            <a:avLst/>
            <a:gdLst/>
            <a:ahLst/>
            <a:cxnLst/>
            <a:rect r="r" b="b" t="t" l="l"/>
            <a:pathLst>
              <a:path h="2016423" w="6691122">
                <a:moveTo>
                  <a:pt x="0" y="0"/>
                </a:moveTo>
                <a:lnTo>
                  <a:pt x="6691122" y="0"/>
                </a:lnTo>
                <a:lnTo>
                  <a:pt x="6691122" y="2016423"/>
                </a:lnTo>
                <a:lnTo>
                  <a:pt x="0" y="2016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64108" y="2299195"/>
            <a:ext cx="2531127" cy="812935"/>
            <a:chOff x="0" y="0"/>
            <a:chExt cx="3374836" cy="10839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74830" cy="1083916"/>
            </a:xfrm>
            <a:custGeom>
              <a:avLst/>
              <a:gdLst/>
              <a:ahLst/>
              <a:cxnLst/>
              <a:rect r="r" b="b" t="t" l="l"/>
              <a:pathLst>
                <a:path h="1083916" w="3374830">
                  <a:moveTo>
                    <a:pt x="0" y="0"/>
                  </a:moveTo>
                  <a:lnTo>
                    <a:pt x="3374830" y="0"/>
                  </a:lnTo>
                  <a:lnTo>
                    <a:pt x="3374830" y="1083916"/>
                  </a:lnTo>
                  <a:lnTo>
                    <a:pt x="0" y="10839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195" r="16610" b="2501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3374836" cy="1150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3"/>
                </a:lnSpc>
              </a:pPr>
              <a:r>
                <a:rPr lang="en-US" sz="2008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Accuracy General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23708" y="2450678"/>
            <a:ext cx="835781" cy="509968"/>
            <a:chOff x="0" y="0"/>
            <a:chExt cx="1114374" cy="6799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14425" cy="679958"/>
            </a:xfrm>
            <a:custGeom>
              <a:avLst/>
              <a:gdLst/>
              <a:ahLst/>
              <a:cxnLst/>
              <a:rect r="r" b="b" t="t" l="l"/>
              <a:pathLst>
                <a:path h="679958" w="1114425">
                  <a:moveTo>
                    <a:pt x="339979" y="0"/>
                  </a:moveTo>
                  <a:lnTo>
                    <a:pt x="774446" y="0"/>
                  </a:lnTo>
                  <a:cubicBezTo>
                    <a:pt x="962152" y="0"/>
                    <a:pt x="1114425" y="152273"/>
                    <a:pt x="1114425" y="339979"/>
                  </a:cubicBezTo>
                  <a:cubicBezTo>
                    <a:pt x="1114425" y="527685"/>
                    <a:pt x="962152" y="679958"/>
                    <a:pt x="774446" y="679958"/>
                  </a:cubicBezTo>
                  <a:lnTo>
                    <a:pt x="339979" y="679958"/>
                  </a:lnTo>
                  <a:cubicBezTo>
                    <a:pt x="152273" y="679958"/>
                    <a:pt x="0" y="527685"/>
                    <a:pt x="0" y="339979"/>
                  </a:cubicBezTo>
                  <a:cubicBezTo>
                    <a:pt x="0" y="152273"/>
                    <a:pt x="152273" y="0"/>
                    <a:pt x="339979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293691" y="2521506"/>
            <a:ext cx="622964" cy="422410"/>
            <a:chOff x="0" y="0"/>
            <a:chExt cx="830618" cy="5632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0616" cy="563214"/>
            </a:xfrm>
            <a:custGeom>
              <a:avLst/>
              <a:gdLst/>
              <a:ahLst/>
              <a:cxnLst/>
              <a:rect r="r" b="b" t="t" l="l"/>
              <a:pathLst>
                <a:path h="563214" w="830616">
                  <a:moveTo>
                    <a:pt x="0" y="0"/>
                  </a:moveTo>
                  <a:lnTo>
                    <a:pt x="830616" y="0"/>
                  </a:lnTo>
                  <a:lnTo>
                    <a:pt x="830616" y="563214"/>
                  </a:lnTo>
                  <a:lnTo>
                    <a:pt x="0" y="56321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4397" t="0" r="-24397" b="144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830618" cy="629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3"/>
                </a:lnSpc>
              </a:pPr>
              <a:r>
                <a:rPr lang="en-US" sz="2008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68</a:t>
              </a:r>
              <a:r>
                <a:rPr lang="en-US" sz="2008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%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64108" y="3187294"/>
            <a:ext cx="6091276" cy="226647"/>
            <a:chOff x="0" y="0"/>
            <a:chExt cx="8121701" cy="3021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1777" cy="302260"/>
            </a:xfrm>
            <a:custGeom>
              <a:avLst/>
              <a:gdLst/>
              <a:ahLst/>
              <a:cxnLst/>
              <a:rect r="r" b="b" t="t" l="l"/>
              <a:pathLst>
                <a:path h="302260" w="8121777">
                  <a:moveTo>
                    <a:pt x="151130" y="0"/>
                  </a:moveTo>
                  <a:lnTo>
                    <a:pt x="7970647" y="0"/>
                  </a:lnTo>
                  <a:cubicBezTo>
                    <a:pt x="8054086" y="0"/>
                    <a:pt x="8121777" y="67691"/>
                    <a:pt x="8121777" y="151130"/>
                  </a:cubicBezTo>
                  <a:cubicBezTo>
                    <a:pt x="8121777" y="234569"/>
                    <a:pt x="8054086" y="302260"/>
                    <a:pt x="7970647" y="302260"/>
                  </a:cubicBezTo>
                  <a:lnTo>
                    <a:pt x="151130" y="302260"/>
                  </a:lnTo>
                  <a:cubicBezTo>
                    <a:pt x="67691" y="302260"/>
                    <a:pt x="0" y="234569"/>
                    <a:pt x="0" y="151130"/>
                  </a:cubicBezTo>
                  <a:cubicBezTo>
                    <a:pt x="0" y="67691"/>
                    <a:pt x="67691" y="0"/>
                    <a:pt x="15113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64108" y="3187294"/>
            <a:ext cx="4263895" cy="226647"/>
            <a:chOff x="0" y="0"/>
            <a:chExt cx="5685193" cy="3021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85282" cy="302260"/>
            </a:xfrm>
            <a:custGeom>
              <a:avLst/>
              <a:gdLst/>
              <a:ahLst/>
              <a:cxnLst/>
              <a:rect r="r" b="b" t="t" l="l"/>
              <a:pathLst>
                <a:path h="302260" w="5685282">
                  <a:moveTo>
                    <a:pt x="151130" y="0"/>
                  </a:moveTo>
                  <a:lnTo>
                    <a:pt x="5534152" y="0"/>
                  </a:lnTo>
                  <a:cubicBezTo>
                    <a:pt x="5617591" y="0"/>
                    <a:pt x="5685282" y="67691"/>
                    <a:pt x="5685282" y="151130"/>
                  </a:cubicBezTo>
                  <a:cubicBezTo>
                    <a:pt x="5685282" y="234569"/>
                    <a:pt x="5617591" y="302260"/>
                    <a:pt x="5534152" y="302260"/>
                  </a:cubicBezTo>
                  <a:lnTo>
                    <a:pt x="151130" y="302260"/>
                  </a:lnTo>
                  <a:cubicBezTo>
                    <a:pt x="67691" y="302260"/>
                    <a:pt x="0" y="234569"/>
                    <a:pt x="0" y="151130"/>
                  </a:cubicBezTo>
                  <a:cubicBezTo>
                    <a:pt x="0" y="67691"/>
                    <a:pt x="67691" y="0"/>
                    <a:pt x="151130" y="0"/>
                  </a:cubicBez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53488" y="3583934"/>
            <a:ext cx="6190440" cy="324811"/>
            <a:chOff x="0" y="0"/>
            <a:chExt cx="8253920" cy="4330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53918" cy="433087"/>
            </a:xfrm>
            <a:custGeom>
              <a:avLst/>
              <a:gdLst/>
              <a:ahLst/>
              <a:cxnLst/>
              <a:rect r="r" b="b" t="t" l="l"/>
              <a:pathLst>
                <a:path h="433087" w="8253918">
                  <a:moveTo>
                    <a:pt x="0" y="0"/>
                  </a:moveTo>
                  <a:lnTo>
                    <a:pt x="8253918" y="0"/>
                  </a:lnTo>
                  <a:lnTo>
                    <a:pt x="8253918" y="433087"/>
                  </a:lnTo>
                  <a:lnTo>
                    <a:pt x="0" y="43308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7741" r="0" b="-31496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253920" cy="471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8"/>
                </a:lnSpc>
              </a:pPr>
              <a:r>
                <a:rPr lang="en-US" sz="1561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Alrededor  de </a:t>
              </a:r>
              <a:r>
                <a:rPr lang="en-US" sz="1561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7 de cada 10 predicciones son correctas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564185" y="4388949"/>
            <a:ext cx="6691122" cy="4509602"/>
          </a:xfrm>
          <a:custGeom>
            <a:avLst/>
            <a:gdLst/>
            <a:ahLst/>
            <a:cxnLst/>
            <a:rect r="r" b="b" t="t" l="l"/>
            <a:pathLst>
              <a:path h="4509602" w="6691122">
                <a:moveTo>
                  <a:pt x="0" y="0"/>
                </a:moveTo>
                <a:lnTo>
                  <a:pt x="6691122" y="0"/>
                </a:lnTo>
                <a:lnTo>
                  <a:pt x="6691122" y="4509601"/>
                </a:lnTo>
                <a:lnTo>
                  <a:pt x="0" y="45096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864108" y="4688872"/>
            <a:ext cx="6218768" cy="396640"/>
            <a:chOff x="0" y="0"/>
            <a:chExt cx="8291690" cy="5288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91694" cy="528856"/>
            </a:xfrm>
            <a:custGeom>
              <a:avLst/>
              <a:gdLst/>
              <a:ahLst/>
              <a:cxnLst/>
              <a:rect r="r" b="b" t="t" l="l"/>
              <a:pathLst>
                <a:path h="528856" w="8291694">
                  <a:moveTo>
                    <a:pt x="0" y="0"/>
                  </a:moveTo>
                  <a:lnTo>
                    <a:pt x="8291694" y="0"/>
                  </a:lnTo>
                  <a:lnTo>
                    <a:pt x="8291694" y="528856"/>
                  </a:lnTo>
                  <a:lnTo>
                    <a:pt x="0" y="5288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5497" r="0" b="-25549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8291690" cy="595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3"/>
                </a:lnSpc>
              </a:pPr>
              <a:r>
                <a:rPr lang="en-US" sz="2008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Matriz de Confusión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61670" y="5309721"/>
            <a:ext cx="2965533" cy="1563119"/>
          </a:xfrm>
          <a:custGeom>
            <a:avLst/>
            <a:gdLst/>
            <a:ahLst/>
            <a:cxnLst/>
            <a:rect r="r" b="b" t="t" l="l"/>
            <a:pathLst>
              <a:path h="1563119" w="2965533">
                <a:moveTo>
                  <a:pt x="0" y="0"/>
                </a:moveTo>
                <a:lnTo>
                  <a:pt x="2965532" y="0"/>
                </a:lnTo>
                <a:lnTo>
                  <a:pt x="2965532" y="1563119"/>
                </a:lnTo>
                <a:lnTo>
                  <a:pt x="0" y="15631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062428" y="5552980"/>
            <a:ext cx="2564006" cy="226647"/>
            <a:chOff x="0" y="0"/>
            <a:chExt cx="3418675" cy="3021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18670" cy="302202"/>
            </a:xfrm>
            <a:custGeom>
              <a:avLst/>
              <a:gdLst/>
              <a:ahLst/>
              <a:cxnLst/>
              <a:rect r="r" b="b" t="t" l="l"/>
              <a:pathLst>
                <a:path h="302202" w="3418670">
                  <a:moveTo>
                    <a:pt x="0" y="0"/>
                  </a:moveTo>
                  <a:lnTo>
                    <a:pt x="3418670" y="0"/>
                  </a:lnTo>
                  <a:lnTo>
                    <a:pt x="3418670" y="302202"/>
                  </a:lnTo>
                  <a:lnTo>
                    <a:pt x="0" y="302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0426" r="0" b="-17042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418675" cy="311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6"/>
                </a:lnSpc>
              </a:pPr>
              <a:r>
                <a:rPr lang="en-US" sz="1338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Verdaderos Negativos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98687" y="5836291"/>
            <a:ext cx="2691498" cy="509968"/>
            <a:chOff x="0" y="0"/>
            <a:chExt cx="3588664" cy="6799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88660" cy="679956"/>
            </a:xfrm>
            <a:custGeom>
              <a:avLst/>
              <a:gdLst/>
              <a:ahLst/>
              <a:cxnLst/>
              <a:rect r="r" b="b" t="t" l="l"/>
              <a:pathLst>
                <a:path h="679956" w="3588660">
                  <a:moveTo>
                    <a:pt x="0" y="0"/>
                  </a:moveTo>
                  <a:lnTo>
                    <a:pt x="3588660" y="0"/>
                  </a:lnTo>
                  <a:lnTo>
                    <a:pt x="3588660" y="679956"/>
                  </a:lnTo>
                  <a:lnTo>
                    <a:pt x="0" y="6799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837" r="0" b="-5283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588664" cy="679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15"/>
                </a:lnSpc>
              </a:pPr>
              <a:r>
                <a:rPr lang="en-US" sz="3346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627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62428" y="6402924"/>
            <a:ext cx="2564006" cy="226647"/>
            <a:chOff x="0" y="0"/>
            <a:chExt cx="3418675" cy="3021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18670" cy="302202"/>
            </a:xfrm>
            <a:custGeom>
              <a:avLst/>
              <a:gdLst/>
              <a:ahLst/>
              <a:cxnLst/>
              <a:rect r="r" b="b" t="t" l="l"/>
              <a:pathLst>
                <a:path h="302202" w="3418670">
                  <a:moveTo>
                    <a:pt x="0" y="0"/>
                  </a:moveTo>
                  <a:lnTo>
                    <a:pt x="3418670" y="0"/>
                  </a:lnTo>
                  <a:lnTo>
                    <a:pt x="3418670" y="302202"/>
                  </a:lnTo>
                  <a:lnTo>
                    <a:pt x="0" y="302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0426" r="0" b="-17042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418675" cy="311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6"/>
                </a:lnSpc>
              </a:pPr>
              <a:r>
                <a:rPr lang="en-US" sz="1338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TN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3994185" y="5309721"/>
            <a:ext cx="2965533" cy="1563119"/>
          </a:xfrm>
          <a:custGeom>
            <a:avLst/>
            <a:gdLst/>
            <a:ahLst/>
            <a:cxnLst/>
            <a:rect r="r" b="b" t="t" l="l"/>
            <a:pathLst>
              <a:path h="1563119" w="2965533">
                <a:moveTo>
                  <a:pt x="0" y="0"/>
                </a:moveTo>
                <a:lnTo>
                  <a:pt x="2965532" y="0"/>
                </a:lnTo>
                <a:lnTo>
                  <a:pt x="2965532" y="1563119"/>
                </a:lnTo>
                <a:lnTo>
                  <a:pt x="0" y="15631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4194943" y="5552980"/>
            <a:ext cx="2564006" cy="226647"/>
            <a:chOff x="0" y="0"/>
            <a:chExt cx="3418675" cy="3021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18670" cy="302202"/>
            </a:xfrm>
            <a:custGeom>
              <a:avLst/>
              <a:gdLst/>
              <a:ahLst/>
              <a:cxnLst/>
              <a:rect r="r" b="b" t="t" l="l"/>
              <a:pathLst>
                <a:path h="302202" w="3418670">
                  <a:moveTo>
                    <a:pt x="0" y="0"/>
                  </a:moveTo>
                  <a:lnTo>
                    <a:pt x="3418670" y="0"/>
                  </a:lnTo>
                  <a:lnTo>
                    <a:pt x="3418670" y="302202"/>
                  </a:lnTo>
                  <a:lnTo>
                    <a:pt x="0" y="302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0426" r="0" b="-17042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418675" cy="311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6"/>
                </a:lnSpc>
              </a:pPr>
              <a:r>
                <a:rPr lang="en-US" sz="1338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Falsos Positivos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131202" y="5836291"/>
            <a:ext cx="2691498" cy="509968"/>
            <a:chOff x="0" y="0"/>
            <a:chExt cx="3588664" cy="67995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88660" cy="679956"/>
            </a:xfrm>
            <a:custGeom>
              <a:avLst/>
              <a:gdLst/>
              <a:ahLst/>
              <a:cxnLst/>
              <a:rect r="r" b="b" t="t" l="l"/>
              <a:pathLst>
                <a:path h="679956" w="3588660">
                  <a:moveTo>
                    <a:pt x="0" y="0"/>
                  </a:moveTo>
                  <a:lnTo>
                    <a:pt x="3588660" y="0"/>
                  </a:lnTo>
                  <a:lnTo>
                    <a:pt x="3588660" y="679956"/>
                  </a:lnTo>
                  <a:lnTo>
                    <a:pt x="0" y="6799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837" r="0" b="-5283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588664" cy="679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15"/>
                </a:lnSpc>
              </a:pPr>
              <a:r>
                <a:rPr lang="en-US" sz="3346" b="true">
                  <a:solidFill>
                    <a:srgbClr val="FF646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38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194943" y="6402924"/>
            <a:ext cx="2564006" cy="226647"/>
            <a:chOff x="0" y="0"/>
            <a:chExt cx="3418675" cy="30219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18670" cy="302202"/>
            </a:xfrm>
            <a:custGeom>
              <a:avLst/>
              <a:gdLst/>
              <a:ahLst/>
              <a:cxnLst/>
              <a:rect r="r" b="b" t="t" l="l"/>
              <a:pathLst>
                <a:path h="302202" w="3418670">
                  <a:moveTo>
                    <a:pt x="0" y="0"/>
                  </a:moveTo>
                  <a:lnTo>
                    <a:pt x="3418670" y="0"/>
                  </a:lnTo>
                  <a:lnTo>
                    <a:pt x="3418670" y="302202"/>
                  </a:lnTo>
                  <a:lnTo>
                    <a:pt x="0" y="302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0426" r="0" b="-17042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418675" cy="311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6"/>
                </a:lnSpc>
              </a:pPr>
              <a:r>
                <a:rPr lang="en-US" sz="1338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FP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861670" y="7037937"/>
            <a:ext cx="2965533" cy="1563119"/>
          </a:xfrm>
          <a:custGeom>
            <a:avLst/>
            <a:gdLst/>
            <a:ahLst/>
            <a:cxnLst/>
            <a:rect r="r" b="b" t="t" l="l"/>
            <a:pathLst>
              <a:path h="1563119" w="2965533">
                <a:moveTo>
                  <a:pt x="0" y="0"/>
                </a:moveTo>
                <a:lnTo>
                  <a:pt x="2965532" y="0"/>
                </a:lnTo>
                <a:lnTo>
                  <a:pt x="2965532" y="1563119"/>
                </a:lnTo>
                <a:lnTo>
                  <a:pt x="0" y="15631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062428" y="7281205"/>
            <a:ext cx="2564006" cy="226647"/>
            <a:chOff x="0" y="0"/>
            <a:chExt cx="3418675" cy="3021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18670" cy="302202"/>
            </a:xfrm>
            <a:custGeom>
              <a:avLst/>
              <a:gdLst/>
              <a:ahLst/>
              <a:cxnLst/>
              <a:rect r="r" b="b" t="t" l="l"/>
              <a:pathLst>
                <a:path h="302202" w="3418670">
                  <a:moveTo>
                    <a:pt x="0" y="0"/>
                  </a:moveTo>
                  <a:lnTo>
                    <a:pt x="3418670" y="0"/>
                  </a:lnTo>
                  <a:lnTo>
                    <a:pt x="3418670" y="302202"/>
                  </a:lnTo>
                  <a:lnTo>
                    <a:pt x="0" y="302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0426" r="0" b="-17042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418675" cy="311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6"/>
                </a:lnSpc>
              </a:pPr>
              <a:r>
                <a:rPr lang="en-US" sz="1338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Falsos Negativos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98687" y="7564517"/>
            <a:ext cx="2691498" cy="509968"/>
            <a:chOff x="0" y="0"/>
            <a:chExt cx="3588664" cy="67995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588660" cy="679956"/>
            </a:xfrm>
            <a:custGeom>
              <a:avLst/>
              <a:gdLst/>
              <a:ahLst/>
              <a:cxnLst/>
              <a:rect r="r" b="b" t="t" l="l"/>
              <a:pathLst>
                <a:path h="679956" w="3588660">
                  <a:moveTo>
                    <a:pt x="0" y="0"/>
                  </a:moveTo>
                  <a:lnTo>
                    <a:pt x="3588660" y="0"/>
                  </a:lnTo>
                  <a:lnTo>
                    <a:pt x="3588660" y="679956"/>
                  </a:lnTo>
                  <a:lnTo>
                    <a:pt x="0" y="6799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2837" r="0" b="-5283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3588664" cy="679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15"/>
                </a:lnSpc>
              </a:pPr>
              <a:r>
                <a:rPr lang="en-US" sz="3346" b="true">
                  <a:solidFill>
                    <a:srgbClr val="FF646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491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62428" y="8131150"/>
            <a:ext cx="2564006" cy="226647"/>
            <a:chOff x="0" y="0"/>
            <a:chExt cx="3418675" cy="3021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418670" cy="302202"/>
            </a:xfrm>
            <a:custGeom>
              <a:avLst/>
              <a:gdLst/>
              <a:ahLst/>
              <a:cxnLst/>
              <a:rect r="r" b="b" t="t" l="l"/>
              <a:pathLst>
                <a:path h="302202" w="3418670">
                  <a:moveTo>
                    <a:pt x="0" y="0"/>
                  </a:moveTo>
                  <a:lnTo>
                    <a:pt x="3418670" y="0"/>
                  </a:lnTo>
                  <a:lnTo>
                    <a:pt x="3418670" y="302202"/>
                  </a:lnTo>
                  <a:lnTo>
                    <a:pt x="0" y="302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0426" r="0" b="-17042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3418675" cy="311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6"/>
                </a:lnSpc>
              </a:pPr>
              <a:r>
                <a:rPr lang="en-US" sz="1338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FN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3994185" y="7037937"/>
            <a:ext cx="2965533" cy="1563119"/>
          </a:xfrm>
          <a:custGeom>
            <a:avLst/>
            <a:gdLst/>
            <a:ahLst/>
            <a:cxnLst/>
            <a:rect r="r" b="b" t="t" l="l"/>
            <a:pathLst>
              <a:path h="1563119" w="2965533">
                <a:moveTo>
                  <a:pt x="0" y="0"/>
                </a:moveTo>
                <a:lnTo>
                  <a:pt x="2965532" y="0"/>
                </a:lnTo>
                <a:lnTo>
                  <a:pt x="2965532" y="1563119"/>
                </a:lnTo>
                <a:lnTo>
                  <a:pt x="0" y="15631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4194943" y="7281205"/>
            <a:ext cx="2564006" cy="226647"/>
            <a:chOff x="0" y="0"/>
            <a:chExt cx="3418675" cy="3021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18670" cy="302202"/>
            </a:xfrm>
            <a:custGeom>
              <a:avLst/>
              <a:gdLst/>
              <a:ahLst/>
              <a:cxnLst/>
              <a:rect r="r" b="b" t="t" l="l"/>
              <a:pathLst>
                <a:path h="302202" w="3418670">
                  <a:moveTo>
                    <a:pt x="0" y="0"/>
                  </a:moveTo>
                  <a:lnTo>
                    <a:pt x="3418670" y="0"/>
                  </a:lnTo>
                  <a:lnTo>
                    <a:pt x="3418670" y="302202"/>
                  </a:lnTo>
                  <a:lnTo>
                    <a:pt x="0" y="302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0426" r="0" b="-17042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3418675" cy="311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6"/>
                </a:lnSpc>
              </a:pPr>
              <a:r>
                <a:rPr lang="en-US" sz="1338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Verdaderos Positivos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131202" y="7564517"/>
            <a:ext cx="2691498" cy="710953"/>
            <a:chOff x="0" y="0"/>
            <a:chExt cx="3588664" cy="94793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588660" cy="947934"/>
            </a:xfrm>
            <a:custGeom>
              <a:avLst/>
              <a:gdLst/>
              <a:ahLst/>
              <a:cxnLst/>
              <a:rect r="r" b="b" t="t" l="l"/>
              <a:pathLst>
                <a:path h="947934" w="3588660">
                  <a:moveTo>
                    <a:pt x="0" y="0"/>
                  </a:moveTo>
                  <a:lnTo>
                    <a:pt x="3588660" y="0"/>
                  </a:lnTo>
                  <a:lnTo>
                    <a:pt x="3588660" y="947934"/>
                  </a:lnTo>
                  <a:lnTo>
                    <a:pt x="0" y="94793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7900" r="0" b="-96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588664" cy="9479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15"/>
                </a:lnSpc>
              </a:pPr>
              <a:r>
                <a:rPr lang="en-US" sz="3346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494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194943" y="8131150"/>
            <a:ext cx="2564006" cy="226647"/>
            <a:chOff x="0" y="0"/>
            <a:chExt cx="3418675" cy="30219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18670" cy="302202"/>
            </a:xfrm>
            <a:custGeom>
              <a:avLst/>
              <a:gdLst/>
              <a:ahLst/>
              <a:cxnLst/>
              <a:rect r="r" b="b" t="t" l="l"/>
              <a:pathLst>
                <a:path h="302202" w="3418670">
                  <a:moveTo>
                    <a:pt x="0" y="0"/>
                  </a:moveTo>
                  <a:lnTo>
                    <a:pt x="3418670" y="0"/>
                  </a:lnTo>
                  <a:lnTo>
                    <a:pt x="3418670" y="302202"/>
                  </a:lnTo>
                  <a:lnTo>
                    <a:pt x="0" y="302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0426" r="0" b="-17042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3418675" cy="311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6"/>
                </a:lnSpc>
              </a:pPr>
              <a:r>
                <a:rPr lang="en-US" sz="1338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TP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7537504" y="2150755"/>
            <a:ext cx="10175900" cy="6747786"/>
          </a:xfrm>
          <a:custGeom>
            <a:avLst/>
            <a:gdLst/>
            <a:ahLst/>
            <a:cxnLst/>
            <a:rect r="r" b="b" t="t" l="l"/>
            <a:pathLst>
              <a:path h="6747786" w="10175900">
                <a:moveTo>
                  <a:pt x="0" y="0"/>
                </a:moveTo>
                <a:lnTo>
                  <a:pt x="10175900" y="0"/>
                </a:lnTo>
                <a:lnTo>
                  <a:pt x="10175900" y="6747786"/>
                </a:lnTo>
                <a:lnTo>
                  <a:pt x="0" y="67477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7837427" y="2450678"/>
            <a:ext cx="9703546" cy="396640"/>
            <a:chOff x="0" y="0"/>
            <a:chExt cx="12938062" cy="52885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938064" cy="528856"/>
            </a:xfrm>
            <a:custGeom>
              <a:avLst/>
              <a:gdLst/>
              <a:ahLst/>
              <a:cxnLst/>
              <a:rect r="r" b="b" t="t" l="l"/>
              <a:pathLst>
                <a:path h="528856" w="12938064">
                  <a:moveTo>
                    <a:pt x="0" y="0"/>
                  </a:moveTo>
                  <a:lnTo>
                    <a:pt x="12938064" y="0"/>
                  </a:lnTo>
                  <a:lnTo>
                    <a:pt x="12938064" y="528856"/>
                  </a:lnTo>
                  <a:lnTo>
                    <a:pt x="0" y="5288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26686" r="0" b="-42668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12938062" cy="595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3"/>
                </a:lnSpc>
              </a:pPr>
              <a:r>
                <a:rPr lang="en-US" sz="2008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Métricas por Clase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7834989" y="3071527"/>
            <a:ext cx="9580940" cy="2554719"/>
          </a:xfrm>
          <a:custGeom>
            <a:avLst/>
            <a:gdLst/>
            <a:ahLst/>
            <a:cxnLst/>
            <a:rect r="r" b="b" t="t" l="l"/>
            <a:pathLst>
              <a:path h="2554719" w="9580940">
                <a:moveTo>
                  <a:pt x="0" y="0"/>
                </a:moveTo>
                <a:lnTo>
                  <a:pt x="9580940" y="0"/>
                </a:lnTo>
                <a:lnTo>
                  <a:pt x="9580940" y="2554719"/>
                </a:lnTo>
                <a:lnTo>
                  <a:pt x="0" y="25547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1166381" y="3314786"/>
            <a:ext cx="566633" cy="566633"/>
            <a:chOff x="0" y="0"/>
            <a:chExt cx="755510" cy="75551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55523" cy="755523"/>
            </a:xfrm>
            <a:custGeom>
              <a:avLst/>
              <a:gdLst/>
              <a:ahLst/>
              <a:cxnLst/>
              <a:rect r="r" b="b" t="t" l="l"/>
              <a:pathLst>
                <a:path h="755523" w="755523">
                  <a:moveTo>
                    <a:pt x="151130" y="0"/>
                  </a:moveTo>
                  <a:lnTo>
                    <a:pt x="604393" y="0"/>
                  </a:lnTo>
                  <a:cubicBezTo>
                    <a:pt x="687832" y="0"/>
                    <a:pt x="755523" y="67691"/>
                    <a:pt x="755523" y="151130"/>
                  </a:cubicBezTo>
                  <a:lnTo>
                    <a:pt x="755523" y="604393"/>
                  </a:lnTo>
                  <a:cubicBezTo>
                    <a:pt x="755523" y="687832"/>
                    <a:pt x="687832" y="755523"/>
                    <a:pt x="604393" y="755523"/>
                  </a:cubicBezTo>
                  <a:lnTo>
                    <a:pt x="151130" y="755523"/>
                  </a:lnTo>
                  <a:cubicBezTo>
                    <a:pt x="67691" y="755523"/>
                    <a:pt x="0" y="687832"/>
                    <a:pt x="0" y="604393"/>
                  </a:cubicBezTo>
                  <a:lnTo>
                    <a:pt x="0" y="151130"/>
                  </a:lnTo>
                  <a:cubicBezTo>
                    <a:pt x="0" y="67691"/>
                    <a:pt x="67691" y="0"/>
                    <a:pt x="151130" y="0"/>
                  </a:cubicBezTo>
                  <a:close/>
                </a:path>
              </a:pathLst>
            </a:custGeom>
            <a:solidFill>
              <a:srgbClr val="FF6467">
                <a:alpha val="3922"/>
              </a:srgbClr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368349" y="3399787"/>
            <a:ext cx="283312" cy="396640"/>
            <a:chOff x="0" y="0"/>
            <a:chExt cx="377749" cy="52885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77754" cy="528856"/>
            </a:xfrm>
            <a:custGeom>
              <a:avLst/>
              <a:gdLst/>
              <a:ahLst/>
              <a:cxnLst/>
              <a:rect r="r" b="b" t="t" l="l"/>
              <a:pathLst>
                <a:path h="528856" w="377754">
                  <a:moveTo>
                    <a:pt x="0" y="0"/>
                  </a:moveTo>
                  <a:lnTo>
                    <a:pt x="377754" y="0"/>
                  </a:lnTo>
                  <a:lnTo>
                    <a:pt x="377754" y="528856"/>
                  </a:lnTo>
                  <a:lnTo>
                    <a:pt x="0" y="5288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29624" t="0" r="-12962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66675"/>
              <a:ext cx="377749" cy="595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3"/>
                </a:lnSpc>
              </a:pPr>
              <a:r>
                <a:rPr lang="en-US" sz="2008" b="true">
                  <a:solidFill>
                    <a:srgbClr val="FF646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0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902997" y="3112129"/>
            <a:ext cx="2039874" cy="734177"/>
            <a:chOff x="0" y="0"/>
            <a:chExt cx="2719832" cy="97890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719829" cy="978906"/>
            </a:xfrm>
            <a:custGeom>
              <a:avLst/>
              <a:gdLst/>
              <a:ahLst/>
              <a:cxnLst/>
              <a:rect r="r" b="b" t="t" l="l"/>
              <a:pathLst>
                <a:path h="978906" w="2719829">
                  <a:moveTo>
                    <a:pt x="0" y="0"/>
                  </a:moveTo>
                  <a:lnTo>
                    <a:pt x="2719829" y="0"/>
                  </a:lnTo>
                  <a:lnTo>
                    <a:pt x="2719829" y="978906"/>
                  </a:lnTo>
                  <a:lnTo>
                    <a:pt x="0" y="9789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713" r="15277" b="3097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2719832" cy="1036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4"/>
                </a:lnSpc>
              </a:pPr>
              <a:r>
                <a:rPr lang="en-US" sz="178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Clase 0: Retraso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902997" y="3654771"/>
            <a:ext cx="1699889" cy="226647"/>
            <a:chOff x="0" y="0"/>
            <a:chExt cx="2266518" cy="30219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66522" cy="302202"/>
            </a:xfrm>
            <a:custGeom>
              <a:avLst/>
              <a:gdLst/>
              <a:ahLst/>
              <a:cxnLst/>
              <a:rect r="r" b="b" t="t" l="l"/>
              <a:pathLst>
                <a:path h="302202" w="2266522">
                  <a:moveTo>
                    <a:pt x="0" y="0"/>
                  </a:moveTo>
                  <a:lnTo>
                    <a:pt x="2266522" y="0"/>
                  </a:lnTo>
                  <a:lnTo>
                    <a:pt x="2266522" y="302202"/>
                  </a:lnTo>
                  <a:lnTo>
                    <a:pt x="0" y="302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8" r="0" b="-9613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2266518" cy="311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6"/>
                </a:lnSpc>
              </a:pPr>
              <a:r>
                <a:rPr lang="en-US" sz="1338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No llegó a tiempo</a:t>
              </a: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11163943" y="4048963"/>
            <a:ext cx="2923032" cy="1336462"/>
          </a:xfrm>
          <a:custGeom>
            <a:avLst/>
            <a:gdLst/>
            <a:ahLst/>
            <a:cxnLst/>
            <a:rect r="r" b="b" t="t" l="l"/>
            <a:pathLst>
              <a:path h="1336462" w="2923032">
                <a:moveTo>
                  <a:pt x="0" y="0"/>
                </a:moveTo>
                <a:lnTo>
                  <a:pt x="2923032" y="0"/>
                </a:lnTo>
                <a:lnTo>
                  <a:pt x="2923032" y="1336462"/>
                </a:lnTo>
                <a:lnTo>
                  <a:pt x="0" y="13364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11308037" y="4235567"/>
            <a:ext cx="2634834" cy="226647"/>
            <a:chOff x="0" y="0"/>
            <a:chExt cx="3513112" cy="30219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513110" cy="302202"/>
            </a:xfrm>
            <a:custGeom>
              <a:avLst/>
              <a:gdLst/>
              <a:ahLst/>
              <a:cxnLst/>
              <a:rect r="r" b="b" t="t" l="l"/>
              <a:pathLst>
                <a:path h="302202" w="3513110">
                  <a:moveTo>
                    <a:pt x="0" y="0"/>
                  </a:moveTo>
                  <a:lnTo>
                    <a:pt x="3513110" y="0"/>
                  </a:lnTo>
                  <a:lnTo>
                    <a:pt x="3513110" y="302202"/>
                  </a:lnTo>
                  <a:lnTo>
                    <a:pt x="0" y="302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6515" r="0" b="-17651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3513112" cy="311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6"/>
                </a:lnSpc>
              </a:pPr>
              <a:r>
                <a:rPr lang="en-US" sz="1338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Precisión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279710" y="4518879"/>
            <a:ext cx="2691498" cy="396640"/>
            <a:chOff x="0" y="0"/>
            <a:chExt cx="3588664" cy="52885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588660" cy="528856"/>
            </a:xfrm>
            <a:custGeom>
              <a:avLst/>
              <a:gdLst/>
              <a:ahLst/>
              <a:cxnLst/>
              <a:rect r="r" b="b" t="t" l="l"/>
              <a:pathLst>
                <a:path h="528856" w="3588660">
                  <a:moveTo>
                    <a:pt x="0" y="0"/>
                  </a:moveTo>
                  <a:lnTo>
                    <a:pt x="3588660" y="0"/>
                  </a:lnTo>
                  <a:lnTo>
                    <a:pt x="3588660" y="528856"/>
                  </a:lnTo>
                  <a:lnTo>
                    <a:pt x="0" y="5288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220" r="0" b="-82219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57150"/>
              <a:ext cx="3588664" cy="586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11"/>
                </a:lnSpc>
              </a:pPr>
              <a:r>
                <a:rPr lang="en-US" sz="223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0.56</a:t>
              </a:r>
            </a:p>
          </p:txBody>
        </p:sp>
      </p:grpSp>
      <p:sp>
        <p:nvSpPr>
          <p:cNvPr name="Freeform 94" id="94"/>
          <p:cNvSpPr/>
          <p:nvPr/>
        </p:nvSpPr>
        <p:spPr>
          <a:xfrm flipH="false" flipV="false" rot="0">
            <a:off x="7834989" y="5848017"/>
            <a:ext cx="9580940" cy="2554719"/>
          </a:xfrm>
          <a:custGeom>
            <a:avLst/>
            <a:gdLst/>
            <a:ahLst/>
            <a:cxnLst/>
            <a:rect r="r" b="b" t="t" l="l"/>
            <a:pathLst>
              <a:path h="2554719" w="9580940">
                <a:moveTo>
                  <a:pt x="0" y="0"/>
                </a:moveTo>
                <a:lnTo>
                  <a:pt x="9580940" y="0"/>
                </a:lnTo>
                <a:lnTo>
                  <a:pt x="9580940" y="2554719"/>
                </a:lnTo>
                <a:lnTo>
                  <a:pt x="0" y="25547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11230123" y="6086389"/>
            <a:ext cx="566633" cy="566633"/>
            <a:chOff x="0" y="0"/>
            <a:chExt cx="755510" cy="75551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55523" cy="755523"/>
            </a:xfrm>
            <a:custGeom>
              <a:avLst/>
              <a:gdLst/>
              <a:ahLst/>
              <a:cxnLst/>
              <a:rect r="r" b="b" t="t" l="l"/>
              <a:pathLst>
                <a:path h="755523" w="755523">
                  <a:moveTo>
                    <a:pt x="151130" y="0"/>
                  </a:moveTo>
                  <a:lnTo>
                    <a:pt x="604393" y="0"/>
                  </a:lnTo>
                  <a:cubicBezTo>
                    <a:pt x="687832" y="0"/>
                    <a:pt x="755523" y="67691"/>
                    <a:pt x="755523" y="151130"/>
                  </a:cubicBezTo>
                  <a:lnTo>
                    <a:pt x="755523" y="604393"/>
                  </a:lnTo>
                  <a:cubicBezTo>
                    <a:pt x="755523" y="687832"/>
                    <a:pt x="687832" y="755523"/>
                    <a:pt x="604393" y="755523"/>
                  </a:cubicBezTo>
                  <a:lnTo>
                    <a:pt x="151130" y="755523"/>
                  </a:lnTo>
                  <a:cubicBezTo>
                    <a:pt x="67691" y="755523"/>
                    <a:pt x="0" y="687832"/>
                    <a:pt x="0" y="604393"/>
                  </a:cubicBezTo>
                  <a:lnTo>
                    <a:pt x="0" y="151130"/>
                  </a:lnTo>
                  <a:cubicBezTo>
                    <a:pt x="0" y="67691"/>
                    <a:pt x="67691" y="0"/>
                    <a:pt x="15113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1462418" y="6171390"/>
            <a:ext cx="226647" cy="396640"/>
            <a:chOff x="0" y="0"/>
            <a:chExt cx="302196" cy="52885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02202" cy="528856"/>
            </a:xfrm>
            <a:custGeom>
              <a:avLst/>
              <a:gdLst/>
              <a:ahLst/>
              <a:cxnLst/>
              <a:rect r="r" b="b" t="t" l="l"/>
              <a:pathLst>
                <a:path h="528856" w="302202">
                  <a:moveTo>
                    <a:pt x="0" y="0"/>
                  </a:moveTo>
                  <a:lnTo>
                    <a:pt x="302202" y="0"/>
                  </a:lnTo>
                  <a:lnTo>
                    <a:pt x="302202" y="528856"/>
                  </a:lnTo>
                  <a:lnTo>
                    <a:pt x="0" y="5288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74532" t="0" r="-174530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66675"/>
              <a:ext cx="302196" cy="595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3"/>
                </a:lnSpc>
              </a:pPr>
              <a:r>
                <a:rPr lang="en-US" sz="2008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1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966739" y="5918845"/>
            <a:ext cx="2039874" cy="734177"/>
            <a:chOff x="0" y="0"/>
            <a:chExt cx="2719832" cy="97890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719830" cy="978906"/>
            </a:xfrm>
            <a:custGeom>
              <a:avLst/>
              <a:gdLst/>
              <a:ahLst/>
              <a:cxnLst/>
              <a:rect r="r" b="b" t="t" l="l"/>
              <a:pathLst>
                <a:path h="978906" w="2719830">
                  <a:moveTo>
                    <a:pt x="0" y="0"/>
                  </a:moveTo>
                  <a:lnTo>
                    <a:pt x="2719830" y="0"/>
                  </a:lnTo>
                  <a:lnTo>
                    <a:pt x="2719830" y="978906"/>
                  </a:lnTo>
                  <a:lnTo>
                    <a:pt x="0" y="97890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593" r="11805" b="2909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57150"/>
              <a:ext cx="2719832" cy="10360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4"/>
                </a:lnSpc>
              </a:pPr>
              <a:r>
                <a:rPr lang="en-US" sz="178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Clase 1: A tiempo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1966739" y="6426365"/>
            <a:ext cx="1770717" cy="226647"/>
            <a:chOff x="0" y="0"/>
            <a:chExt cx="2360955" cy="30219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360960" cy="302202"/>
            </a:xfrm>
            <a:custGeom>
              <a:avLst/>
              <a:gdLst/>
              <a:ahLst/>
              <a:cxnLst/>
              <a:rect r="r" b="b" t="t" l="l"/>
              <a:pathLst>
                <a:path h="302202" w="2360960">
                  <a:moveTo>
                    <a:pt x="0" y="0"/>
                  </a:moveTo>
                  <a:lnTo>
                    <a:pt x="2360960" y="0"/>
                  </a:lnTo>
                  <a:lnTo>
                    <a:pt x="2360960" y="302202"/>
                  </a:lnTo>
                  <a:lnTo>
                    <a:pt x="0" y="302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2227" r="0" b="-10222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2360955" cy="311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6"/>
                </a:lnSpc>
              </a:pPr>
              <a:r>
                <a:rPr lang="en-US" sz="1338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Llegó a tiempo</a:t>
              </a:r>
            </a:p>
          </p:txBody>
        </p:sp>
      </p:grpSp>
      <p:sp>
        <p:nvSpPr>
          <p:cNvPr name="Freeform 106" id="106"/>
          <p:cNvSpPr/>
          <p:nvPr/>
        </p:nvSpPr>
        <p:spPr>
          <a:xfrm flipH="false" flipV="false" rot="0">
            <a:off x="11227684" y="6820567"/>
            <a:ext cx="2923032" cy="1336462"/>
          </a:xfrm>
          <a:custGeom>
            <a:avLst/>
            <a:gdLst/>
            <a:ahLst/>
            <a:cxnLst/>
            <a:rect r="r" b="b" t="t" l="l"/>
            <a:pathLst>
              <a:path h="1336462" w="2923032">
                <a:moveTo>
                  <a:pt x="0" y="0"/>
                </a:moveTo>
                <a:lnTo>
                  <a:pt x="2923032" y="0"/>
                </a:lnTo>
                <a:lnTo>
                  <a:pt x="2923032" y="1336462"/>
                </a:lnTo>
                <a:lnTo>
                  <a:pt x="0" y="133646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7" id="107"/>
          <p:cNvGrpSpPr/>
          <p:nvPr/>
        </p:nvGrpSpPr>
        <p:grpSpPr>
          <a:xfrm rot="0">
            <a:off x="11371778" y="7007171"/>
            <a:ext cx="2634834" cy="226647"/>
            <a:chOff x="0" y="0"/>
            <a:chExt cx="3513112" cy="30219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513110" cy="302202"/>
            </a:xfrm>
            <a:custGeom>
              <a:avLst/>
              <a:gdLst/>
              <a:ahLst/>
              <a:cxnLst/>
              <a:rect r="r" b="b" t="t" l="l"/>
              <a:pathLst>
                <a:path h="302202" w="3513110">
                  <a:moveTo>
                    <a:pt x="0" y="0"/>
                  </a:moveTo>
                  <a:lnTo>
                    <a:pt x="3513110" y="0"/>
                  </a:lnTo>
                  <a:lnTo>
                    <a:pt x="3513110" y="302202"/>
                  </a:lnTo>
                  <a:lnTo>
                    <a:pt x="0" y="302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6515" r="0" b="-17651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513112" cy="311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6"/>
                </a:lnSpc>
              </a:pPr>
              <a:r>
                <a:rPr lang="en-US" sz="1338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Precisión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343451" y="7290483"/>
            <a:ext cx="2691498" cy="396640"/>
            <a:chOff x="0" y="0"/>
            <a:chExt cx="3588664" cy="528853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588660" cy="528856"/>
            </a:xfrm>
            <a:custGeom>
              <a:avLst/>
              <a:gdLst/>
              <a:ahLst/>
              <a:cxnLst/>
              <a:rect r="r" b="b" t="t" l="l"/>
              <a:pathLst>
                <a:path h="528856" w="3588660">
                  <a:moveTo>
                    <a:pt x="0" y="0"/>
                  </a:moveTo>
                  <a:lnTo>
                    <a:pt x="3588660" y="0"/>
                  </a:lnTo>
                  <a:lnTo>
                    <a:pt x="3588660" y="528856"/>
                  </a:lnTo>
                  <a:lnTo>
                    <a:pt x="0" y="5288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220" r="0" b="-82219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57150"/>
              <a:ext cx="3588664" cy="5860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11"/>
                </a:lnSpc>
              </a:pPr>
              <a:r>
                <a:rPr lang="en-US" sz="2230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0.93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371778" y="7743787"/>
            <a:ext cx="2634834" cy="226647"/>
            <a:chOff x="0" y="0"/>
            <a:chExt cx="3513112" cy="30219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513110" cy="302202"/>
            </a:xfrm>
            <a:custGeom>
              <a:avLst/>
              <a:gdLst/>
              <a:ahLst/>
              <a:cxnLst/>
              <a:rect r="r" b="b" t="t" l="l"/>
              <a:pathLst>
                <a:path h="302202" w="3513110">
                  <a:moveTo>
                    <a:pt x="0" y="0"/>
                  </a:moveTo>
                  <a:lnTo>
                    <a:pt x="3513110" y="0"/>
                  </a:lnTo>
                  <a:lnTo>
                    <a:pt x="3513110" y="302202"/>
                  </a:lnTo>
                  <a:lnTo>
                    <a:pt x="0" y="30220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6515" r="0" b="-176513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3513112" cy="311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6"/>
                </a:lnSpc>
              </a:pPr>
              <a:r>
                <a:rPr lang="en-US" sz="1338">
                  <a:solidFill>
                    <a:srgbClr val="05DF72"/>
                  </a:solidFill>
                  <a:latin typeface="Literata"/>
                  <a:ea typeface="Literata"/>
                  <a:cs typeface="Literata"/>
                  <a:sym typeface="Literata"/>
                </a:rPr>
                <a:t>⭐ Muy alta</a:t>
              </a:r>
            </a:p>
          </p:txBody>
        </p:sp>
      </p:grpSp>
      <p:sp>
        <p:nvSpPr>
          <p:cNvPr name="Freeform 116" id="116"/>
          <p:cNvSpPr/>
          <p:nvPr/>
        </p:nvSpPr>
        <p:spPr>
          <a:xfrm flipH="false" flipV="false" rot="0">
            <a:off x="564185" y="9176976"/>
            <a:ext cx="17159621" cy="1109815"/>
          </a:xfrm>
          <a:custGeom>
            <a:avLst/>
            <a:gdLst/>
            <a:ahLst/>
            <a:cxnLst/>
            <a:rect r="r" b="b" t="t" l="l"/>
            <a:pathLst>
              <a:path h="1109815" w="17159621">
                <a:moveTo>
                  <a:pt x="0" y="0"/>
                </a:moveTo>
                <a:lnTo>
                  <a:pt x="17159621" y="0"/>
                </a:lnTo>
                <a:lnTo>
                  <a:pt x="17159621" y="1109814"/>
                </a:lnTo>
                <a:lnTo>
                  <a:pt x="0" y="11098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7" id="117"/>
          <p:cNvSpPr/>
          <p:nvPr/>
        </p:nvSpPr>
        <p:spPr>
          <a:xfrm flipH="false" flipV="false" rot="0">
            <a:off x="878281" y="9476899"/>
            <a:ext cx="212484" cy="283312"/>
          </a:xfrm>
          <a:custGeom>
            <a:avLst/>
            <a:gdLst/>
            <a:ahLst/>
            <a:cxnLst/>
            <a:rect r="r" b="b" t="t" l="l"/>
            <a:pathLst>
              <a:path h="283312" w="212484">
                <a:moveTo>
                  <a:pt x="0" y="0"/>
                </a:moveTo>
                <a:lnTo>
                  <a:pt x="212484" y="0"/>
                </a:lnTo>
                <a:lnTo>
                  <a:pt x="212484" y="283311"/>
                </a:lnTo>
                <a:lnTo>
                  <a:pt x="0" y="28331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1331585" y="9420235"/>
            <a:ext cx="14052433" cy="283312"/>
            <a:chOff x="0" y="0"/>
            <a:chExt cx="18736577" cy="37774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8736582" cy="377754"/>
            </a:xfrm>
            <a:custGeom>
              <a:avLst/>
              <a:gdLst/>
              <a:ahLst/>
              <a:cxnLst/>
              <a:rect r="r" b="b" t="t" l="l"/>
              <a:pathLst>
                <a:path h="377754" w="18736582">
                  <a:moveTo>
                    <a:pt x="0" y="0"/>
                  </a:moveTo>
                  <a:lnTo>
                    <a:pt x="18736582" y="0"/>
                  </a:lnTo>
                  <a:lnTo>
                    <a:pt x="18736582" y="377754"/>
                  </a:lnTo>
                  <a:lnTo>
                    <a:pt x="0" y="377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16457" r="0" b="-916456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18736577" cy="415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8"/>
                </a:lnSpc>
              </a:pPr>
              <a:r>
                <a:rPr lang="en-US" sz="1561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💡 Insight Principal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331585" y="9760210"/>
            <a:ext cx="14052433" cy="283312"/>
            <a:chOff x="0" y="0"/>
            <a:chExt cx="18736577" cy="377749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8736582" cy="377754"/>
            </a:xfrm>
            <a:custGeom>
              <a:avLst/>
              <a:gdLst/>
              <a:ahLst/>
              <a:cxnLst/>
              <a:rect r="r" b="b" t="t" l="l"/>
              <a:pathLst>
                <a:path h="377754" w="18736582">
                  <a:moveTo>
                    <a:pt x="0" y="0"/>
                  </a:moveTo>
                  <a:lnTo>
                    <a:pt x="18736582" y="0"/>
                  </a:lnTo>
                  <a:lnTo>
                    <a:pt x="18736582" y="377754"/>
                  </a:lnTo>
                  <a:lnTo>
                    <a:pt x="0" y="377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16457" r="0" b="-916456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18736577" cy="415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48"/>
                </a:lnSpc>
              </a:pPr>
              <a:r>
                <a:rPr lang="en-US" sz="1561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El modelo es </a:t>
              </a:r>
              <a:r>
                <a:rPr lang="en-US" sz="1561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excelente para detectar retrasos</a:t>
              </a:r>
              <a:r>
                <a:rPr lang="en-US" sz="1561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(94% recall) pero </a:t>
              </a:r>
              <a:r>
                <a:rPr lang="en-US" sz="1561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muy pesimista</a:t>
              </a:r>
              <a:r>
                <a:rPr lang="en-US" sz="1561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en entregas a tiempo (43% recall). Solo 38 falsas promesas de 1,650 predicciones.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1678" y="689591"/>
            <a:ext cx="551678" cy="551678"/>
            <a:chOff x="0" y="0"/>
            <a:chExt cx="735571" cy="735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5457" cy="735457"/>
            </a:xfrm>
            <a:custGeom>
              <a:avLst/>
              <a:gdLst/>
              <a:ahLst/>
              <a:cxnLst/>
              <a:rect r="r" b="b" t="t" l="l"/>
              <a:pathLst>
                <a:path h="735457" w="735457">
                  <a:moveTo>
                    <a:pt x="147066" y="0"/>
                  </a:moveTo>
                  <a:lnTo>
                    <a:pt x="588391" y="0"/>
                  </a:lnTo>
                  <a:cubicBezTo>
                    <a:pt x="669544" y="0"/>
                    <a:pt x="735457" y="65913"/>
                    <a:pt x="735457" y="147066"/>
                  </a:cubicBezTo>
                  <a:lnTo>
                    <a:pt x="735457" y="588391"/>
                  </a:lnTo>
                  <a:cubicBezTo>
                    <a:pt x="735457" y="669671"/>
                    <a:pt x="669544" y="735457"/>
                    <a:pt x="588391" y="735457"/>
                  </a:cubicBezTo>
                  <a:lnTo>
                    <a:pt x="147066" y="735457"/>
                  </a:lnTo>
                  <a:cubicBezTo>
                    <a:pt x="65913" y="735584"/>
                    <a:pt x="0" y="669671"/>
                    <a:pt x="0" y="588391"/>
                  </a:cubicBezTo>
                  <a:lnTo>
                    <a:pt x="0" y="147066"/>
                  </a:lnTo>
                  <a:cubicBezTo>
                    <a:pt x="0" y="65913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22347" y="841305"/>
            <a:ext cx="217218" cy="248250"/>
          </a:xfrm>
          <a:custGeom>
            <a:avLst/>
            <a:gdLst/>
            <a:ahLst/>
            <a:cxnLst/>
            <a:rect r="r" b="b" t="t" l="l"/>
            <a:pathLst>
              <a:path h="248250" w="217218">
                <a:moveTo>
                  <a:pt x="0" y="0"/>
                </a:moveTo>
                <a:lnTo>
                  <a:pt x="217218" y="0"/>
                </a:lnTo>
                <a:lnTo>
                  <a:pt x="217218" y="248250"/>
                </a:lnTo>
                <a:lnTo>
                  <a:pt x="0" y="2482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68854" y="551678"/>
            <a:ext cx="5571906" cy="275834"/>
            <a:chOff x="0" y="0"/>
            <a:chExt cx="7429208" cy="367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29212" cy="367782"/>
            </a:xfrm>
            <a:custGeom>
              <a:avLst/>
              <a:gdLst/>
              <a:ahLst/>
              <a:cxnLst/>
              <a:rect r="r" b="b" t="t" l="l"/>
              <a:pathLst>
                <a:path h="367782" w="7429212">
                  <a:moveTo>
                    <a:pt x="0" y="0"/>
                  </a:moveTo>
                  <a:lnTo>
                    <a:pt x="7429212" y="0"/>
                  </a:lnTo>
                  <a:lnTo>
                    <a:pt x="7429212" y="367782"/>
                  </a:lnTo>
                  <a:lnTo>
                    <a:pt x="0" y="3677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3598" r="0" b="-34359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429208" cy="4058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0"/>
                </a:lnSpc>
              </a:pPr>
              <a:r>
                <a:rPr lang="en-US" b="true" sz="1521" spc="76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Resultados - Clasificación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8854" y="686478"/>
            <a:ext cx="6555181" cy="833748"/>
            <a:chOff x="0" y="0"/>
            <a:chExt cx="8740242" cy="11116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40242" cy="1111656"/>
            </a:xfrm>
            <a:custGeom>
              <a:avLst/>
              <a:gdLst/>
              <a:ahLst/>
              <a:cxnLst/>
              <a:rect r="r" b="b" t="t" l="l"/>
              <a:pathLst>
                <a:path h="1111656" w="8740242">
                  <a:moveTo>
                    <a:pt x="0" y="0"/>
                  </a:moveTo>
                  <a:lnTo>
                    <a:pt x="8740242" y="0"/>
                  </a:lnTo>
                  <a:lnTo>
                    <a:pt x="8740242" y="1111656"/>
                  </a:lnTo>
                  <a:lnTo>
                    <a:pt x="0" y="11116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0679" r="12685" b="-6684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38100"/>
              <a:ext cx="8740242" cy="10735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21"/>
                </a:lnSpc>
              </a:pPr>
              <a:r>
                <a:rPr lang="en-US" sz="3909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Random Forest Classifier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49050" y="2093728"/>
            <a:ext cx="6708105" cy="1963703"/>
          </a:xfrm>
          <a:custGeom>
            <a:avLst/>
            <a:gdLst/>
            <a:ahLst/>
            <a:cxnLst/>
            <a:rect r="r" b="b" t="t" l="l"/>
            <a:pathLst>
              <a:path h="1963703" w="6708105">
                <a:moveTo>
                  <a:pt x="0" y="0"/>
                </a:moveTo>
                <a:lnTo>
                  <a:pt x="6708105" y="0"/>
                </a:lnTo>
                <a:lnTo>
                  <a:pt x="6708105" y="1963703"/>
                </a:lnTo>
                <a:lnTo>
                  <a:pt x="0" y="1963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41305" y="2441162"/>
            <a:ext cx="2534479" cy="476277"/>
            <a:chOff x="0" y="0"/>
            <a:chExt cx="2739987" cy="5148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39982" cy="514896"/>
            </a:xfrm>
            <a:custGeom>
              <a:avLst/>
              <a:gdLst/>
              <a:ahLst/>
              <a:cxnLst/>
              <a:rect r="r" b="b" t="t" l="l"/>
              <a:pathLst>
                <a:path h="514896" w="2739982">
                  <a:moveTo>
                    <a:pt x="0" y="0"/>
                  </a:moveTo>
                  <a:lnTo>
                    <a:pt x="2739982" y="0"/>
                  </a:lnTo>
                  <a:lnTo>
                    <a:pt x="2739982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688" r="0" b="-536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739987" cy="581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9"/>
                </a:lnSpc>
              </a:pPr>
              <a:r>
                <a:rPr lang="en-US" sz="1954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Accuracy General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70019" y="2385993"/>
            <a:ext cx="799929" cy="496510"/>
            <a:chOff x="0" y="0"/>
            <a:chExt cx="1066571" cy="6620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6546" cy="662051"/>
            </a:xfrm>
            <a:custGeom>
              <a:avLst/>
              <a:gdLst/>
              <a:ahLst/>
              <a:cxnLst/>
              <a:rect r="r" b="b" t="t" l="l"/>
              <a:pathLst>
                <a:path h="662051" w="1066546">
                  <a:moveTo>
                    <a:pt x="330962" y="0"/>
                  </a:moveTo>
                  <a:lnTo>
                    <a:pt x="735584" y="0"/>
                  </a:lnTo>
                  <a:cubicBezTo>
                    <a:pt x="918337" y="0"/>
                    <a:pt x="1066546" y="148209"/>
                    <a:pt x="1066546" y="330962"/>
                  </a:cubicBezTo>
                  <a:cubicBezTo>
                    <a:pt x="1066546" y="513715"/>
                    <a:pt x="918337" y="662051"/>
                    <a:pt x="735584" y="662051"/>
                  </a:cubicBezTo>
                  <a:lnTo>
                    <a:pt x="330962" y="662051"/>
                  </a:lnTo>
                  <a:cubicBezTo>
                    <a:pt x="148209" y="662051"/>
                    <a:pt x="0" y="513842"/>
                    <a:pt x="0" y="330962"/>
                  </a:cubicBezTo>
                  <a:cubicBezTo>
                    <a:pt x="0" y="148082"/>
                    <a:pt x="148209" y="0"/>
                    <a:pt x="330962" y="0"/>
                  </a:cubicBezTo>
                  <a:close/>
                </a:path>
              </a:pathLst>
            </a:custGeom>
            <a:solidFill>
              <a:srgbClr val="05DF72">
                <a:alpha val="3922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335525" y="2454945"/>
            <a:ext cx="594665" cy="412028"/>
            <a:chOff x="0" y="0"/>
            <a:chExt cx="792886" cy="5493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2888" cy="549372"/>
            </a:xfrm>
            <a:custGeom>
              <a:avLst/>
              <a:gdLst/>
              <a:ahLst/>
              <a:cxnLst/>
              <a:rect r="r" b="b" t="t" l="l"/>
              <a:pathLst>
                <a:path h="549372" w="792888">
                  <a:moveTo>
                    <a:pt x="0" y="0"/>
                  </a:moveTo>
                  <a:lnTo>
                    <a:pt x="792888" y="0"/>
                  </a:lnTo>
                  <a:lnTo>
                    <a:pt x="792888" y="549372"/>
                  </a:lnTo>
                  <a:lnTo>
                    <a:pt x="0" y="54937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5880" t="0" r="-25879" b="1464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792886" cy="616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9"/>
                </a:lnSpc>
              </a:pPr>
              <a:r>
                <a:rPr lang="en-US" sz="1954" b="true">
                  <a:solidFill>
                    <a:srgbClr val="05DF72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68</a:t>
              </a:r>
              <a:r>
                <a:rPr lang="en-US" sz="1954" b="true">
                  <a:solidFill>
                    <a:srgbClr val="05DF72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%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41305" y="3103169"/>
            <a:ext cx="6123584" cy="220666"/>
            <a:chOff x="0" y="0"/>
            <a:chExt cx="8164779" cy="2942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64703" cy="294132"/>
            </a:xfrm>
            <a:custGeom>
              <a:avLst/>
              <a:gdLst/>
              <a:ahLst/>
              <a:cxnLst/>
              <a:rect r="r" b="b" t="t" l="l"/>
              <a:pathLst>
                <a:path h="294132" w="8164703">
                  <a:moveTo>
                    <a:pt x="147066" y="0"/>
                  </a:moveTo>
                  <a:lnTo>
                    <a:pt x="8017637" y="0"/>
                  </a:lnTo>
                  <a:cubicBezTo>
                    <a:pt x="8098917" y="0"/>
                    <a:pt x="8164703" y="65913"/>
                    <a:pt x="8164703" y="147066"/>
                  </a:cubicBezTo>
                  <a:cubicBezTo>
                    <a:pt x="8164703" y="228219"/>
                    <a:pt x="8098790" y="294132"/>
                    <a:pt x="8017637" y="294132"/>
                  </a:cubicBezTo>
                  <a:lnTo>
                    <a:pt x="147066" y="294132"/>
                  </a:lnTo>
                  <a:cubicBezTo>
                    <a:pt x="65913" y="294259"/>
                    <a:pt x="0" y="228346"/>
                    <a:pt x="0" y="147066"/>
                  </a:cubicBezTo>
                  <a:cubicBezTo>
                    <a:pt x="0" y="65786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41305" y="3103169"/>
            <a:ext cx="4468558" cy="220666"/>
            <a:chOff x="0" y="0"/>
            <a:chExt cx="5958078" cy="2942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58078" cy="294132"/>
            </a:xfrm>
            <a:custGeom>
              <a:avLst/>
              <a:gdLst/>
              <a:ahLst/>
              <a:cxnLst/>
              <a:rect r="r" b="b" t="t" l="l"/>
              <a:pathLst>
                <a:path h="294132" w="5958078">
                  <a:moveTo>
                    <a:pt x="147066" y="0"/>
                  </a:moveTo>
                  <a:lnTo>
                    <a:pt x="5811012" y="0"/>
                  </a:lnTo>
                  <a:cubicBezTo>
                    <a:pt x="5892292" y="0"/>
                    <a:pt x="5958078" y="65913"/>
                    <a:pt x="5958078" y="147066"/>
                  </a:cubicBezTo>
                  <a:cubicBezTo>
                    <a:pt x="5958078" y="228219"/>
                    <a:pt x="5892165" y="294132"/>
                    <a:pt x="5811012" y="294132"/>
                  </a:cubicBezTo>
                  <a:lnTo>
                    <a:pt x="147066" y="294132"/>
                  </a:lnTo>
                  <a:cubicBezTo>
                    <a:pt x="65913" y="294259"/>
                    <a:pt x="0" y="228346"/>
                    <a:pt x="0" y="147066"/>
                  </a:cubicBezTo>
                  <a:cubicBezTo>
                    <a:pt x="0" y="65786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05DF7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41305" y="3489341"/>
            <a:ext cx="6220130" cy="275834"/>
            <a:chOff x="0" y="0"/>
            <a:chExt cx="8293506" cy="36777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93502" cy="367782"/>
            </a:xfrm>
            <a:custGeom>
              <a:avLst/>
              <a:gdLst/>
              <a:ahLst/>
              <a:cxnLst/>
              <a:rect r="r" b="b" t="t" l="l"/>
              <a:pathLst>
                <a:path h="367782" w="8293502">
                  <a:moveTo>
                    <a:pt x="0" y="0"/>
                  </a:moveTo>
                  <a:lnTo>
                    <a:pt x="8293502" y="0"/>
                  </a:lnTo>
                  <a:lnTo>
                    <a:pt x="8293502" y="367782"/>
                  </a:lnTo>
                  <a:lnTo>
                    <a:pt x="0" y="3677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89389" r="0" b="-38938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293506" cy="4058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0"/>
                </a:lnSpc>
              </a:pPr>
              <a:r>
                <a:rPr lang="en-US" sz="1521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+3% vs Decision Tree (70%)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549050" y="4272848"/>
            <a:ext cx="6708105" cy="4391073"/>
          </a:xfrm>
          <a:custGeom>
            <a:avLst/>
            <a:gdLst/>
            <a:ahLst/>
            <a:cxnLst/>
            <a:rect r="r" b="b" t="t" l="l"/>
            <a:pathLst>
              <a:path h="4391073" w="6708105">
                <a:moveTo>
                  <a:pt x="0" y="0"/>
                </a:moveTo>
                <a:lnTo>
                  <a:pt x="6708105" y="0"/>
                </a:lnTo>
                <a:lnTo>
                  <a:pt x="6708105" y="4391073"/>
                </a:lnTo>
                <a:lnTo>
                  <a:pt x="0" y="43910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841305" y="4565104"/>
            <a:ext cx="6247714" cy="386172"/>
            <a:chOff x="0" y="0"/>
            <a:chExt cx="8330286" cy="51489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330280" cy="514896"/>
            </a:xfrm>
            <a:custGeom>
              <a:avLst/>
              <a:gdLst/>
              <a:ahLst/>
              <a:cxnLst/>
              <a:rect r="r" b="b" t="t" l="l"/>
              <a:pathLst>
                <a:path h="514896" w="8330280">
                  <a:moveTo>
                    <a:pt x="0" y="0"/>
                  </a:moveTo>
                  <a:lnTo>
                    <a:pt x="8330280" y="0"/>
                  </a:lnTo>
                  <a:lnTo>
                    <a:pt x="8330280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5240" r="0" b="-26524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8330286" cy="581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9"/>
                </a:lnSpc>
              </a:pPr>
              <a:r>
                <a:rPr lang="en-US" sz="1954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Matriz de Confusión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38676" y="5169313"/>
            <a:ext cx="2984297" cy="1522362"/>
          </a:xfrm>
          <a:custGeom>
            <a:avLst/>
            <a:gdLst/>
            <a:ahLst/>
            <a:cxnLst/>
            <a:rect r="r" b="b" t="t" l="l"/>
            <a:pathLst>
              <a:path h="1522362" w="2984297">
                <a:moveTo>
                  <a:pt x="0" y="0"/>
                </a:moveTo>
                <a:lnTo>
                  <a:pt x="2984297" y="0"/>
                </a:lnTo>
                <a:lnTo>
                  <a:pt x="2984297" y="1522361"/>
                </a:lnTo>
                <a:lnTo>
                  <a:pt x="0" y="15223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034386" y="5406409"/>
            <a:ext cx="2592867" cy="220666"/>
            <a:chOff x="0" y="0"/>
            <a:chExt cx="3457156" cy="29422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57158" cy="294226"/>
            </a:xfrm>
            <a:custGeom>
              <a:avLst/>
              <a:gdLst/>
              <a:ahLst/>
              <a:cxnLst/>
              <a:rect r="r" b="b" t="t" l="l"/>
              <a:pathLst>
                <a:path h="294226" w="3457158">
                  <a:moveTo>
                    <a:pt x="0" y="0"/>
                  </a:moveTo>
                  <a:lnTo>
                    <a:pt x="3457158" y="0"/>
                  </a:lnTo>
                  <a:lnTo>
                    <a:pt x="3457158" y="294226"/>
                  </a:lnTo>
                  <a:lnTo>
                    <a:pt x="0" y="2942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950" r="0" b="-17894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457156" cy="30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0"/>
                </a:lnSpc>
              </a:pPr>
              <a:r>
                <a:rPr lang="en-US" sz="1303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Verdaderos Negativos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2322" y="5682244"/>
            <a:ext cx="2716997" cy="496510"/>
            <a:chOff x="0" y="0"/>
            <a:chExt cx="3622662" cy="66201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22660" cy="662010"/>
            </a:xfrm>
            <a:custGeom>
              <a:avLst/>
              <a:gdLst/>
              <a:ahLst/>
              <a:cxnLst/>
              <a:rect r="r" b="b" t="t" l="l"/>
              <a:pathLst>
                <a:path h="662010" w="3622660">
                  <a:moveTo>
                    <a:pt x="0" y="0"/>
                  </a:moveTo>
                  <a:lnTo>
                    <a:pt x="3622660" y="0"/>
                  </a:lnTo>
                  <a:lnTo>
                    <a:pt x="3622660" y="662010"/>
                  </a:lnTo>
                  <a:lnTo>
                    <a:pt x="0" y="6620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626" r="0" b="-5662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622662" cy="662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09"/>
                </a:lnSpc>
              </a:pPr>
              <a:r>
                <a:rPr lang="en-US" sz="3258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652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34386" y="6233922"/>
            <a:ext cx="2592867" cy="220666"/>
            <a:chOff x="0" y="0"/>
            <a:chExt cx="3457156" cy="29422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57158" cy="294226"/>
            </a:xfrm>
            <a:custGeom>
              <a:avLst/>
              <a:gdLst/>
              <a:ahLst/>
              <a:cxnLst/>
              <a:rect r="r" b="b" t="t" l="l"/>
              <a:pathLst>
                <a:path h="294226" w="3457158">
                  <a:moveTo>
                    <a:pt x="0" y="0"/>
                  </a:moveTo>
                  <a:lnTo>
                    <a:pt x="3457158" y="0"/>
                  </a:lnTo>
                  <a:lnTo>
                    <a:pt x="3457158" y="294226"/>
                  </a:lnTo>
                  <a:lnTo>
                    <a:pt x="0" y="2942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950" r="0" b="-17894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457156" cy="30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0"/>
                </a:lnSpc>
              </a:pPr>
              <a:r>
                <a:rPr lang="en-US" sz="1303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TN (+25)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3986555" y="5169313"/>
            <a:ext cx="2984297" cy="1522362"/>
          </a:xfrm>
          <a:custGeom>
            <a:avLst/>
            <a:gdLst/>
            <a:ahLst/>
            <a:cxnLst/>
            <a:rect r="r" b="b" t="t" l="l"/>
            <a:pathLst>
              <a:path h="1522362" w="2984297">
                <a:moveTo>
                  <a:pt x="0" y="0"/>
                </a:moveTo>
                <a:lnTo>
                  <a:pt x="2984297" y="0"/>
                </a:lnTo>
                <a:lnTo>
                  <a:pt x="2984297" y="1522361"/>
                </a:lnTo>
                <a:lnTo>
                  <a:pt x="0" y="15223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4182275" y="5406409"/>
            <a:ext cx="2592867" cy="220666"/>
            <a:chOff x="0" y="0"/>
            <a:chExt cx="3457156" cy="29422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57158" cy="294226"/>
            </a:xfrm>
            <a:custGeom>
              <a:avLst/>
              <a:gdLst/>
              <a:ahLst/>
              <a:cxnLst/>
              <a:rect r="r" b="b" t="t" l="l"/>
              <a:pathLst>
                <a:path h="294226" w="3457158">
                  <a:moveTo>
                    <a:pt x="0" y="0"/>
                  </a:moveTo>
                  <a:lnTo>
                    <a:pt x="3457158" y="0"/>
                  </a:lnTo>
                  <a:lnTo>
                    <a:pt x="3457158" y="294226"/>
                  </a:lnTo>
                  <a:lnTo>
                    <a:pt x="0" y="2942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950" r="0" b="-17894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457156" cy="30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0"/>
                </a:lnSpc>
              </a:pPr>
              <a:r>
                <a:rPr lang="en-US" sz="1303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Falsos Positivos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120210" y="5682244"/>
            <a:ext cx="2716997" cy="496510"/>
            <a:chOff x="0" y="0"/>
            <a:chExt cx="3622662" cy="66201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22660" cy="662010"/>
            </a:xfrm>
            <a:custGeom>
              <a:avLst/>
              <a:gdLst/>
              <a:ahLst/>
              <a:cxnLst/>
              <a:rect r="r" b="b" t="t" l="l"/>
              <a:pathLst>
                <a:path h="662010" w="3622660">
                  <a:moveTo>
                    <a:pt x="0" y="0"/>
                  </a:moveTo>
                  <a:lnTo>
                    <a:pt x="3622660" y="0"/>
                  </a:lnTo>
                  <a:lnTo>
                    <a:pt x="3622660" y="662010"/>
                  </a:lnTo>
                  <a:lnTo>
                    <a:pt x="0" y="6620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626" r="0" b="-5662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622662" cy="662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09"/>
                </a:lnSpc>
              </a:pPr>
              <a:r>
                <a:rPr lang="en-US" sz="3258" b="true">
                  <a:solidFill>
                    <a:srgbClr val="05DF72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13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182275" y="6233922"/>
            <a:ext cx="2592867" cy="220666"/>
            <a:chOff x="0" y="0"/>
            <a:chExt cx="3457156" cy="29422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57158" cy="294226"/>
            </a:xfrm>
            <a:custGeom>
              <a:avLst/>
              <a:gdLst/>
              <a:ahLst/>
              <a:cxnLst/>
              <a:rect r="r" b="b" t="t" l="l"/>
              <a:pathLst>
                <a:path h="294226" w="3457158">
                  <a:moveTo>
                    <a:pt x="0" y="0"/>
                  </a:moveTo>
                  <a:lnTo>
                    <a:pt x="3457158" y="0"/>
                  </a:lnTo>
                  <a:lnTo>
                    <a:pt x="3457158" y="294226"/>
                  </a:lnTo>
                  <a:lnTo>
                    <a:pt x="0" y="2942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950" r="0" b="-17894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457156" cy="30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0"/>
                </a:lnSpc>
              </a:pPr>
              <a:r>
                <a:rPr lang="en-US" sz="1303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FP (-25)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838676" y="6851923"/>
            <a:ext cx="2984297" cy="1522362"/>
          </a:xfrm>
          <a:custGeom>
            <a:avLst/>
            <a:gdLst/>
            <a:ahLst/>
            <a:cxnLst/>
            <a:rect r="r" b="b" t="t" l="l"/>
            <a:pathLst>
              <a:path h="1522362" w="2984297">
                <a:moveTo>
                  <a:pt x="0" y="0"/>
                </a:moveTo>
                <a:lnTo>
                  <a:pt x="2984297" y="0"/>
                </a:lnTo>
                <a:lnTo>
                  <a:pt x="2984297" y="1522362"/>
                </a:lnTo>
                <a:lnTo>
                  <a:pt x="0" y="15223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034386" y="7089010"/>
            <a:ext cx="2592867" cy="220666"/>
            <a:chOff x="0" y="0"/>
            <a:chExt cx="3457156" cy="29422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57158" cy="294226"/>
            </a:xfrm>
            <a:custGeom>
              <a:avLst/>
              <a:gdLst/>
              <a:ahLst/>
              <a:cxnLst/>
              <a:rect r="r" b="b" t="t" l="l"/>
              <a:pathLst>
                <a:path h="294226" w="3457158">
                  <a:moveTo>
                    <a:pt x="0" y="0"/>
                  </a:moveTo>
                  <a:lnTo>
                    <a:pt x="3457158" y="0"/>
                  </a:lnTo>
                  <a:lnTo>
                    <a:pt x="3457158" y="294226"/>
                  </a:lnTo>
                  <a:lnTo>
                    <a:pt x="0" y="2942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950" r="0" b="-17894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457156" cy="30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0"/>
                </a:lnSpc>
              </a:pPr>
              <a:r>
                <a:rPr lang="en-US" sz="1303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Falsos Negativos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2322" y="7364854"/>
            <a:ext cx="2716997" cy="496510"/>
            <a:chOff x="0" y="0"/>
            <a:chExt cx="3622662" cy="66201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22660" cy="662010"/>
            </a:xfrm>
            <a:custGeom>
              <a:avLst/>
              <a:gdLst/>
              <a:ahLst/>
              <a:cxnLst/>
              <a:rect r="r" b="b" t="t" l="l"/>
              <a:pathLst>
                <a:path h="662010" w="3622660">
                  <a:moveTo>
                    <a:pt x="0" y="0"/>
                  </a:moveTo>
                  <a:lnTo>
                    <a:pt x="3622660" y="0"/>
                  </a:lnTo>
                  <a:lnTo>
                    <a:pt x="3622660" y="662010"/>
                  </a:lnTo>
                  <a:lnTo>
                    <a:pt x="0" y="6620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626" r="0" b="-5662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3622662" cy="662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09"/>
                </a:lnSpc>
              </a:pPr>
              <a:r>
                <a:rPr lang="en-US" sz="3258" b="true">
                  <a:solidFill>
                    <a:srgbClr val="FF646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527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34386" y="7916523"/>
            <a:ext cx="2592867" cy="220666"/>
            <a:chOff x="0" y="0"/>
            <a:chExt cx="3457156" cy="29422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457158" cy="294226"/>
            </a:xfrm>
            <a:custGeom>
              <a:avLst/>
              <a:gdLst/>
              <a:ahLst/>
              <a:cxnLst/>
              <a:rect r="r" b="b" t="t" l="l"/>
              <a:pathLst>
                <a:path h="294226" w="3457158">
                  <a:moveTo>
                    <a:pt x="0" y="0"/>
                  </a:moveTo>
                  <a:lnTo>
                    <a:pt x="3457158" y="0"/>
                  </a:lnTo>
                  <a:lnTo>
                    <a:pt x="3457158" y="294226"/>
                  </a:lnTo>
                  <a:lnTo>
                    <a:pt x="0" y="2942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950" r="0" b="-17894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3457156" cy="30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0"/>
                </a:lnSpc>
              </a:pPr>
              <a:r>
                <a:rPr lang="en-US" sz="1303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FN (+36)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3986555" y="6851923"/>
            <a:ext cx="2984297" cy="1522362"/>
          </a:xfrm>
          <a:custGeom>
            <a:avLst/>
            <a:gdLst/>
            <a:ahLst/>
            <a:cxnLst/>
            <a:rect r="r" b="b" t="t" l="l"/>
            <a:pathLst>
              <a:path h="1522362" w="2984297">
                <a:moveTo>
                  <a:pt x="0" y="0"/>
                </a:moveTo>
                <a:lnTo>
                  <a:pt x="2984297" y="0"/>
                </a:lnTo>
                <a:lnTo>
                  <a:pt x="2984297" y="1522362"/>
                </a:lnTo>
                <a:lnTo>
                  <a:pt x="0" y="15223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4182275" y="7089010"/>
            <a:ext cx="2592867" cy="220666"/>
            <a:chOff x="0" y="0"/>
            <a:chExt cx="3457156" cy="29422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57158" cy="294226"/>
            </a:xfrm>
            <a:custGeom>
              <a:avLst/>
              <a:gdLst/>
              <a:ahLst/>
              <a:cxnLst/>
              <a:rect r="r" b="b" t="t" l="l"/>
              <a:pathLst>
                <a:path h="294226" w="3457158">
                  <a:moveTo>
                    <a:pt x="0" y="0"/>
                  </a:moveTo>
                  <a:lnTo>
                    <a:pt x="3457158" y="0"/>
                  </a:lnTo>
                  <a:lnTo>
                    <a:pt x="3457158" y="294226"/>
                  </a:lnTo>
                  <a:lnTo>
                    <a:pt x="0" y="2942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950" r="0" b="-17894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3457156" cy="30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0"/>
                </a:lnSpc>
              </a:pPr>
              <a:r>
                <a:rPr lang="en-US" sz="1303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Verdaderos Positivos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120210" y="7364854"/>
            <a:ext cx="2716997" cy="496510"/>
            <a:chOff x="0" y="0"/>
            <a:chExt cx="3622662" cy="66201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22660" cy="662010"/>
            </a:xfrm>
            <a:custGeom>
              <a:avLst/>
              <a:gdLst/>
              <a:ahLst/>
              <a:cxnLst/>
              <a:rect r="r" b="b" t="t" l="l"/>
              <a:pathLst>
                <a:path h="662010" w="3622660">
                  <a:moveTo>
                    <a:pt x="0" y="0"/>
                  </a:moveTo>
                  <a:lnTo>
                    <a:pt x="3622660" y="0"/>
                  </a:lnTo>
                  <a:lnTo>
                    <a:pt x="3622660" y="662010"/>
                  </a:lnTo>
                  <a:lnTo>
                    <a:pt x="0" y="6620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6626" r="0" b="-5662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622662" cy="662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09"/>
                </a:lnSpc>
              </a:pPr>
              <a:r>
                <a:rPr lang="en-US" sz="3258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458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182275" y="7916523"/>
            <a:ext cx="2592867" cy="220666"/>
            <a:chOff x="0" y="0"/>
            <a:chExt cx="3457156" cy="29422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57158" cy="294226"/>
            </a:xfrm>
            <a:custGeom>
              <a:avLst/>
              <a:gdLst/>
              <a:ahLst/>
              <a:cxnLst/>
              <a:rect r="r" b="b" t="t" l="l"/>
              <a:pathLst>
                <a:path h="294226" w="3457158">
                  <a:moveTo>
                    <a:pt x="0" y="0"/>
                  </a:moveTo>
                  <a:lnTo>
                    <a:pt x="3457158" y="0"/>
                  </a:lnTo>
                  <a:lnTo>
                    <a:pt x="3457158" y="294226"/>
                  </a:lnTo>
                  <a:lnTo>
                    <a:pt x="0" y="2942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8950" r="0" b="-17894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3457156" cy="30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0"/>
                </a:lnSpc>
              </a:pPr>
              <a:r>
                <a:rPr lang="en-US" sz="1303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TP (+95)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7534408" y="2093728"/>
            <a:ext cx="10211229" cy="6570183"/>
          </a:xfrm>
          <a:custGeom>
            <a:avLst/>
            <a:gdLst/>
            <a:ahLst/>
            <a:cxnLst/>
            <a:rect r="r" b="b" t="t" l="l"/>
            <a:pathLst>
              <a:path h="6570183" w="10211229">
                <a:moveTo>
                  <a:pt x="0" y="0"/>
                </a:moveTo>
                <a:lnTo>
                  <a:pt x="10211229" y="0"/>
                </a:lnTo>
                <a:lnTo>
                  <a:pt x="10211229" y="6570183"/>
                </a:lnTo>
                <a:lnTo>
                  <a:pt x="0" y="657018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7826664" y="2385993"/>
            <a:ext cx="9750838" cy="386172"/>
            <a:chOff x="0" y="0"/>
            <a:chExt cx="13001117" cy="51489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001122" cy="514896"/>
            </a:xfrm>
            <a:custGeom>
              <a:avLst/>
              <a:gdLst/>
              <a:ahLst/>
              <a:cxnLst/>
              <a:rect r="r" b="b" t="t" l="l"/>
              <a:pathLst>
                <a:path h="514896" w="13001122">
                  <a:moveTo>
                    <a:pt x="0" y="0"/>
                  </a:moveTo>
                  <a:lnTo>
                    <a:pt x="13001122" y="0"/>
                  </a:lnTo>
                  <a:lnTo>
                    <a:pt x="13001122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41996" r="0" b="-44199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13001117" cy="581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9"/>
                </a:lnSpc>
              </a:pPr>
              <a:r>
                <a:rPr lang="en-US" sz="1954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Métricas por Clase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7824035" y="2990202"/>
            <a:ext cx="9631975" cy="2487797"/>
          </a:xfrm>
          <a:custGeom>
            <a:avLst/>
            <a:gdLst/>
            <a:ahLst/>
            <a:cxnLst/>
            <a:rect r="r" b="b" t="t" l="l"/>
            <a:pathLst>
              <a:path h="2487797" w="9631975">
                <a:moveTo>
                  <a:pt x="0" y="0"/>
                </a:moveTo>
                <a:lnTo>
                  <a:pt x="9631975" y="0"/>
                </a:lnTo>
                <a:lnTo>
                  <a:pt x="9631975" y="2487797"/>
                </a:lnTo>
                <a:lnTo>
                  <a:pt x="0" y="24877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1265813" y="3084119"/>
            <a:ext cx="551678" cy="551678"/>
            <a:chOff x="0" y="0"/>
            <a:chExt cx="735571" cy="73557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35457" cy="735457"/>
            </a:xfrm>
            <a:custGeom>
              <a:avLst/>
              <a:gdLst/>
              <a:ahLst/>
              <a:cxnLst/>
              <a:rect r="r" b="b" t="t" l="l"/>
              <a:pathLst>
                <a:path h="735457" w="735457">
                  <a:moveTo>
                    <a:pt x="147066" y="0"/>
                  </a:moveTo>
                  <a:lnTo>
                    <a:pt x="588391" y="0"/>
                  </a:lnTo>
                  <a:cubicBezTo>
                    <a:pt x="669544" y="0"/>
                    <a:pt x="735457" y="65913"/>
                    <a:pt x="735457" y="147066"/>
                  </a:cubicBezTo>
                  <a:lnTo>
                    <a:pt x="735457" y="588391"/>
                  </a:lnTo>
                  <a:cubicBezTo>
                    <a:pt x="735457" y="669671"/>
                    <a:pt x="669544" y="735457"/>
                    <a:pt x="588391" y="735457"/>
                  </a:cubicBezTo>
                  <a:lnTo>
                    <a:pt x="147066" y="735457"/>
                  </a:lnTo>
                  <a:cubicBezTo>
                    <a:pt x="65913" y="735584"/>
                    <a:pt x="0" y="669671"/>
                    <a:pt x="0" y="588391"/>
                  </a:cubicBezTo>
                  <a:lnTo>
                    <a:pt x="0" y="147066"/>
                  </a:lnTo>
                  <a:cubicBezTo>
                    <a:pt x="0" y="65913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FF6467">
                <a:alpha val="3922"/>
              </a:srgbClr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465452" y="3146550"/>
            <a:ext cx="275834" cy="386172"/>
            <a:chOff x="0" y="0"/>
            <a:chExt cx="367779" cy="51489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7782" cy="514896"/>
            </a:xfrm>
            <a:custGeom>
              <a:avLst/>
              <a:gdLst/>
              <a:ahLst/>
              <a:cxnLst/>
              <a:rect r="r" b="b" t="t" l="l"/>
              <a:pathLst>
                <a:path h="514896" w="367782">
                  <a:moveTo>
                    <a:pt x="0" y="0"/>
                  </a:moveTo>
                  <a:lnTo>
                    <a:pt x="367782" y="0"/>
                  </a:lnTo>
                  <a:lnTo>
                    <a:pt x="367782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29625" t="0" r="-129625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66675"/>
              <a:ext cx="367779" cy="581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9"/>
                </a:lnSpc>
              </a:pPr>
              <a:r>
                <a:rPr lang="en-US" sz="1954" b="true">
                  <a:solidFill>
                    <a:srgbClr val="FF646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0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957323" y="3120970"/>
            <a:ext cx="2223116" cy="437332"/>
            <a:chOff x="0" y="0"/>
            <a:chExt cx="2243480" cy="44133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43476" cy="441340"/>
            </a:xfrm>
            <a:custGeom>
              <a:avLst/>
              <a:gdLst/>
              <a:ahLst/>
              <a:cxnLst/>
              <a:rect r="r" b="b" t="t" l="l"/>
              <a:pathLst>
                <a:path h="441340" w="2243476">
                  <a:moveTo>
                    <a:pt x="0" y="0"/>
                  </a:moveTo>
                  <a:lnTo>
                    <a:pt x="2243476" y="0"/>
                  </a:lnTo>
                  <a:lnTo>
                    <a:pt x="2243476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9049" r="0" b="-49048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243480" cy="47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Clase 0: Retraso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2094983" y="3516925"/>
            <a:ext cx="1655026" cy="220666"/>
            <a:chOff x="0" y="0"/>
            <a:chExt cx="2206701" cy="29422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06696" cy="294226"/>
            </a:xfrm>
            <a:custGeom>
              <a:avLst/>
              <a:gdLst/>
              <a:ahLst/>
              <a:cxnLst/>
              <a:rect r="r" b="b" t="t" l="l"/>
              <a:pathLst>
                <a:path h="294226" w="2206696">
                  <a:moveTo>
                    <a:pt x="0" y="0"/>
                  </a:moveTo>
                  <a:lnTo>
                    <a:pt x="2206696" y="0"/>
                  </a:lnTo>
                  <a:lnTo>
                    <a:pt x="2206696" y="294226"/>
                  </a:lnTo>
                  <a:lnTo>
                    <a:pt x="0" y="2942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139" r="0" b="-9613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2206701" cy="30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0"/>
                </a:lnSpc>
              </a:pPr>
              <a:r>
                <a:rPr lang="en-US" sz="1303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No llegó a tiempo</a:t>
              </a: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11230623" y="3914256"/>
            <a:ext cx="2942920" cy="1301696"/>
          </a:xfrm>
          <a:custGeom>
            <a:avLst/>
            <a:gdLst/>
            <a:ahLst/>
            <a:cxnLst/>
            <a:rect r="r" b="b" t="t" l="l"/>
            <a:pathLst>
              <a:path h="1301696" w="2942920">
                <a:moveTo>
                  <a:pt x="0" y="0"/>
                </a:moveTo>
                <a:lnTo>
                  <a:pt x="2942920" y="0"/>
                </a:lnTo>
                <a:lnTo>
                  <a:pt x="2942920" y="1301696"/>
                </a:lnTo>
                <a:lnTo>
                  <a:pt x="0" y="13016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11309109" y="3947098"/>
            <a:ext cx="2661828" cy="220666"/>
            <a:chOff x="0" y="0"/>
            <a:chExt cx="3549104" cy="29422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549104" cy="294226"/>
            </a:xfrm>
            <a:custGeom>
              <a:avLst/>
              <a:gdLst/>
              <a:ahLst/>
              <a:cxnLst/>
              <a:rect r="r" b="b" t="t" l="l"/>
              <a:pathLst>
                <a:path h="294226" w="3549104">
                  <a:moveTo>
                    <a:pt x="0" y="0"/>
                  </a:moveTo>
                  <a:lnTo>
                    <a:pt x="3549104" y="0"/>
                  </a:lnTo>
                  <a:lnTo>
                    <a:pt x="3549104" y="294226"/>
                  </a:lnTo>
                  <a:lnTo>
                    <a:pt x="0" y="2942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5039" r="0" b="-18503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3549104" cy="30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0"/>
                </a:lnSpc>
              </a:pPr>
              <a:r>
                <a:rPr lang="en-US" sz="1303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Precisión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343584" y="4272848"/>
            <a:ext cx="2716997" cy="386172"/>
            <a:chOff x="0" y="0"/>
            <a:chExt cx="3622662" cy="5148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622660" cy="514896"/>
            </a:xfrm>
            <a:custGeom>
              <a:avLst/>
              <a:gdLst/>
              <a:ahLst/>
              <a:cxnLst/>
              <a:rect r="r" b="b" t="t" l="l"/>
              <a:pathLst>
                <a:path h="514896" w="3622660">
                  <a:moveTo>
                    <a:pt x="0" y="0"/>
                  </a:moveTo>
                  <a:lnTo>
                    <a:pt x="3622660" y="0"/>
                  </a:lnTo>
                  <a:lnTo>
                    <a:pt x="3622660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7091" r="0" b="-8709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57150"/>
              <a:ext cx="3622662" cy="572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7"/>
                </a:lnSpc>
              </a:pPr>
              <a:r>
                <a:rPr lang="en-US" sz="2172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0.55</a:t>
              </a:r>
            </a:p>
          </p:txBody>
        </p:sp>
      </p:grpSp>
      <p:sp>
        <p:nvSpPr>
          <p:cNvPr name="Freeform 94" id="94"/>
          <p:cNvSpPr/>
          <p:nvPr/>
        </p:nvSpPr>
        <p:spPr>
          <a:xfrm flipH="false" flipV="false" rot="0">
            <a:off x="7824035" y="5693407"/>
            <a:ext cx="9631975" cy="2487797"/>
          </a:xfrm>
          <a:custGeom>
            <a:avLst/>
            <a:gdLst/>
            <a:ahLst/>
            <a:cxnLst/>
            <a:rect r="r" b="b" t="t" l="l"/>
            <a:pathLst>
              <a:path h="2487797" w="9631975">
                <a:moveTo>
                  <a:pt x="0" y="0"/>
                </a:moveTo>
                <a:lnTo>
                  <a:pt x="9631975" y="0"/>
                </a:lnTo>
                <a:lnTo>
                  <a:pt x="9631975" y="2487796"/>
                </a:lnTo>
                <a:lnTo>
                  <a:pt x="0" y="24877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11268442" y="5849474"/>
            <a:ext cx="551678" cy="551678"/>
            <a:chOff x="0" y="0"/>
            <a:chExt cx="735571" cy="73557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35457" cy="735457"/>
            </a:xfrm>
            <a:custGeom>
              <a:avLst/>
              <a:gdLst/>
              <a:ahLst/>
              <a:cxnLst/>
              <a:rect r="r" b="b" t="t" l="l"/>
              <a:pathLst>
                <a:path h="735457" w="735457">
                  <a:moveTo>
                    <a:pt x="147066" y="0"/>
                  </a:moveTo>
                  <a:lnTo>
                    <a:pt x="588391" y="0"/>
                  </a:lnTo>
                  <a:cubicBezTo>
                    <a:pt x="669544" y="0"/>
                    <a:pt x="735457" y="65913"/>
                    <a:pt x="735457" y="147066"/>
                  </a:cubicBezTo>
                  <a:lnTo>
                    <a:pt x="735457" y="588391"/>
                  </a:lnTo>
                  <a:cubicBezTo>
                    <a:pt x="735457" y="669671"/>
                    <a:pt x="669544" y="735457"/>
                    <a:pt x="588391" y="735457"/>
                  </a:cubicBezTo>
                  <a:lnTo>
                    <a:pt x="147066" y="735457"/>
                  </a:lnTo>
                  <a:cubicBezTo>
                    <a:pt x="65913" y="735584"/>
                    <a:pt x="0" y="669671"/>
                    <a:pt x="0" y="588391"/>
                  </a:cubicBezTo>
                  <a:lnTo>
                    <a:pt x="0" y="147066"/>
                  </a:lnTo>
                  <a:cubicBezTo>
                    <a:pt x="0" y="65913"/>
                    <a:pt x="65913" y="0"/>
                    <a:pt x="147066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1494613" y="5932227"/>
            <a:ext cx="220666" cy="386172"/>
            <a:chOff x="0" y="0"/>
            <a:chExt cx="294221" cy="51489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94226" cy="514896"/>
            </a:xfrm>
            <a:custGeom>
              <a:avLst/>
              <a:gdLst/>
              <a:ahLst/>
              <a:cxnLst/>
              <a:rect r="r" b="b" t="t" l="l"/>
              <a:pathLst>
                <a:path h="514896" w="294226">
                  <a:moveTo>
                    <a:pt x="0" y="0"/>
                  </a:moveTo>
                  <a:lnTo>
                    <a:pt x="294226" y="0"/>
                  </a:lnTo>
                  <a:lnTo>
                    <a:pt x="294226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74532" t="0" r="-174530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66675"/>
              <a:ext cx="294221" cy="5815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9"/>
                </a:lnSpc>
              </a:pPr>
              <a:r>
                <a:rPr lang="en-US" sz="1954" b="true">
                  <a:solidFill>
                    <a:srgbClr val="6366F1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1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985617" y="5849474"/>
            <a:ext cx="2110159" cy="398770"/>
            <a:chOff x="0" y="0"/>
            <a:chExt cx="2335416" cy="44133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335420" cy="441340"/>
            </a:xfrm>
            <a:custGeom>
              <a:avLst/>
              <a:gdLst/>
              <a:ahLst/>
              <a:cxnLst/>
              <a:rect r="r" b="b" t="t" l="l"/>
              <a:pathLst>
                <a:path h="441340" w="2335420">
                  <a:moveTo>
                    <a:pt x="0" y="0"/>
                  </a:moveTo>
                  <a:lnTo>
                    <a:pt x="2335420" y="0"/>
                  </a:lnTo>
                  <a:lnTo>
                    <a:pt x="2335420" y="441340"/>
                  </a:lnTo>
                  <a:lnTo>
                    <a:pt x="0" y="4413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108" r="0" b="-5310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2335416" cy="47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01"/>
                </a:lnSpc>
              </a:pPr>
              <a:r>
                <a:rPr lang="en-US" sz="1737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Clase 1: A tiempo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1985617" y="6180487"/>
            <a:ext cx="1723977" cy="220666"/>
            <a:chOff x="0" y="0"/>
            <a:chExt cx="2298636" cy="29422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98642" cy="294226"/>
            </a:xfrm>
            <a:custGeom>
              <a:avLst/>
              <a:gdLst/>
              <a:ahLst/>
              <a:cxnLst/>
              <a:rect r="r" b="b" t="t" l="l"/>
              <a:pathLst>
                <a:path h="294226" w="2298642">
                  <a:moveTo>
                    <a:pt x="0" y="0"/>
                  </a:moveTo>
                  <a:lnTo>
                    <a:pt x="2298642" y="0"/>
                  </a:lnTo>
                  <a:lnTo>
                    <a:pt x="2298642" y="294226"/>
                  </a:lnTo>
                  <a:lnTo>
                    <a:pt x="0" y="2942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2227" r="0" b="-102225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2298636" cy="30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0"/>
                </a:lnSpc>
              </a:pPr>
              <a:r>
                <a:rPr lang="en-US" sz="1303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Llegó a tiempo</a:t>
              </a:r>
            </a:p>
          </p:txBody>
        </p:sp>
      </p:grpSp>
      <p:sp>
        <p:nvSpPr>
          <p:cNvPr name="Freeform 106" id="106"/>
          <p:cNvSpPr/>
          <p:nvPr/>
        </p:nvSpPr>
        <p:spPr>
          <a:xfrm flipH="false" flipV="false" rot="0">
            <a:off x="11265813" y="6564030"/>
            <a:ext cx="2942920" cy="1301696"/>
          </a:xfrm>
          <a:custGeom>
            <a:avLst/>
            <a:gdLst/>
            <a:ahLst/>
            <a:cxnLst/>
            <a:rect r="r" b="b" t="t" l="l"/>
            <a:pathLst>
              <a:path h="1301696" w="2942920">
                <a:moveTo>
                  <a:pt x="0" y="0"/>
                </a:moveTo>
                <a:lnTo>
                  <a:pt x="2942920" y="0"/>
                </a:lnTo>
                <a:lnTo>
                  <a:pt x="2942920" y="1301696"/>
                </a:lnTo>
                <a:lnTo>
                  <a:pt x="0" y="13016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7" id="107"/>
          <p:cNvGrpSpPr/>
          <p:nvPr/>
        </p:nvGrpSpPr>
        <p:grpSpPr>
          <a:xfrm rot="0">
            <a:off x="11406364" y="6745948"/>
            <a:ext cx="2661828" cy="220666"/>
            <a:chOff x="0" y="0"/>
            <a:chExt cx="3549104" cy="29422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549104" cy="294226"/>
            </a:xfrm>
            <a:custGeom>
              <a:avLst/>
              <a:gdLst/>
              <a:ahLst/>
              <a:cxnLst/>
              <a:rect r="r" b="b" t="t" l="l"/>
              <a:pathLst>
                <a:path h="294226" w="3549104">
                  <a:moveTo>
                    <a:pt x="0" y="0"/>
                  </a:moveTo>
                  <a:lnTo>
                    <a:pt x="3549104" y="0"/>
                  </a:lnTo>
                  <a:lnTo>
                    <a:pt x="3549104" y="294226"/>
                  </a:lnTo>
                  <a:lnTo>
                    <a:pt x="0" y="2942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5039" r="0" b="-185037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549104" cy="30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0"/>
                </a:lnSpc>
              </a:pPr>
              <a:r>
                <a:rPr lang="en-US" sz="1303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Precisión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378780" y="7021782"/>
            <a:ext cx="2716997" cy="386172"/>
            <a:chOff x="0" y="0"/>
            <a:chExt cx="3622662" cy="51489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622660" cy="514896"/>
            </a:xfrm>
            <a:custGeom>
              <a:avLst/>
              <a:gdLst/>
              <a:ahLst/>
              <a:cxnLst/>
              <a:rect r="r" b="b" t="t" l="l"/>
              <a:pathLst>
                <a:path h="514896" w="3622660">
                  <a:moveTo>
                    <a:pt x="0" y="0"/>
                  </a:moveTo>
                  <a:lnTo>
                    <a:pt x="3622660" y="0"/>
                  </a:lnTo>
                  <a:lnTo>
                    <a:pt x="3622660" y="514896"/>
                  </a:lnTo>
                  <a:lnTo>
                    <a:pt x="0" y="5148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7091" r="0" b="-870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57150"/>
              <a:ext cx="3622662" cy="5720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7"/>
                </a:lnSpc>
              </a:pPr>
              <a:r>
                <a:rPr lang="en-US" sz="2172" b="true">
                  <a:solidFill>
                    <a:srgbClr val="05DF72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0.97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406364" y="7463123"/>
            <a:ext cx="2661828" cy="220666"/>
            <a:chOff x="0" y="0"/>
            <a:chExt cx="3549104" cy="29422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549104" cy="294226"/>
            </a:xfrm>
            <a:custGeom>
              <a:avLst/>
              <a:gdLst/>
              <a:ahLst/>
              <a:cxnLst/>
              <a:rect r="r" b="b" t="t" l="l"/>
              <a:pathLst>
                <a:path h="294226" w="3549104">
                  <a:moveTo>
                    <a:pt x="0" y="0"/>
                  </a:moveTo>
                  <a:lnTo>
                    <a:pt x="3549104" y="0"/>
                  </a:lnTo>
                  <a:lnTo>
                    <a:pt x="3549104" y="294226"/>
                  </a:lnTo>
                  <a:lnTo>
                    <a:pt x="0" y="29422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5039" r="0" b="-18503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9525"/>
              <a:ext cx="3549104" cy="30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0"/>
                </a:lnSpc>
              </a:pPr>
              <a:r>
                <a:rPr lang="en-US" sz="1303">
                  <a:solidFill>
                    <a:srgbClr val="05DF72"/>
                  </a:solidFill>
                  <a:latin typeface="Literata"/>
                  <a:ea typeface="Literata"/>
                  <a:cs typeface="Literata"/>
                  <a:sym typeface="Literata"/>
                </a:rPr>
                <a:t>⭐⭐ Superior</a:t>
              </a:r>
            </a:p>
          </p:txBody>
        </p:sp>
      </p:grpSp>
      <p:sp>
        <p:nvSpPr>
          <p:cNvPr name="Freeform 116" id="116"/>
          <p:cNvSpPr/>
          <p:nvPr/>
        </p:nvSpPr>
        <p:spPr>
          <a:xfrm flipH="false" flipV="false" rot="0">
            <a:off x="549050" y="8934498"/>
            <a:ext cx="17189910" cy="1356855"/>
          </a:xfrm>
          <a:custGeom>
            <a:avLst/>
            <a:gdLst/>
            <a:ahLst/>
            <a:cxnLst/>
            <a:rect r="r" b="b" t="t" l="l"/>
            <a:pathLst>
              <a:path h="1356855" w="17189910">
                <a:moveTo>
                  <a:pt x="0" y="0"/>
                </a:moveTo>
                <a:lnTo>
                  <a:pt x="17189910" y="0"/>
                </a:lnTo>
                <a:lnTo>
                  <a:pt x="17189910" y="1356855"/>
                </a:lnTo>
                <a:lnTo>
                  <a:pt x="0" y="135685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14375"/>
            <a:ext cx="571500" cy="571500"/>
            <a:chOff x="0" y="0"/>
            <a:chExt cx="762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00088" y="871538"/>
            <a:ext cx="321469" cy="257175"/>
          </a:xfrm>
          <a:custGeom>
            <a:avLst/>
            <a:gdLst/>
            <a:ahLst/>
            <a:cxnLst/>
            <a:rect r="r" b="b" t="t" l="l"/>
            <a:pathLst>
              <a:path h="257175" w="321469">
                <a:moveTo>
                  <a:pt x="0" y="0"/>
                </a:moveTo>
                <a:lnTo>
                  <a:pt x="321468" y="0"/>
                </a:lnTo>
                <a:lnTo>
                  <a:pt x="321468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4450" y="571500"/>
            <a:ext cx="7372350" cy="285750"/>
            <a:chOff x="0" y="0"/>
            <a:chExt cx="9829800" cy="38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29800" cy="381000"/>
            </a:xfrm>
            <a:custGeom>
              <a:avLst/>
              <a:gdLst/>
              <a:ahLst/>
              <a:cxnLst/>
              <a:rect r="r" b="b" t="t" l="l"/>
              <a:pathLst>
                <a:path h="381000" w="9829800">
                  <a:moveTo>
                    <a:pt x="0" y="0"/>
                  </a:moveTo>
                  <a:lnTo>
                    <a:pt x="9829800" y="0"/>
                  </a:lnTo>
                  <a:lnTo>
                    <a:pt x="98298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52713" r="0" b="-4527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8298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Comparativa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4450" y="857250"/>
            <a:ext cx="8565356" cy="650122"/>
            <a:chOff x="0" y="0"/>
            <a:chExt cx="1003935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39350" cy="762000"/>
            </a:xfrm>
            <a:custGeom>
              <a:avLst/>
              <a:gdLst/>
              <a:ahLst/>
              <a:cxnLst/>
              <a:rect r="r" b="b" t="t" l="l"/>
              <a:pathLst>
                <a:path h="762000" w="10039350">
                  <a:moveTo>
                    <a:pt x="0" y="0"/>
                  </a:moveTo>
                  <a:lnTo>
                    <a:pt x="10039350" y="0"/>
                  </a:lnTo>
                  <a:lnTo>
                    <a:pt x="100393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6715" r="0" b="-2067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1003935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Decision Tree vs Random Forest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500" y="1543050"/>
            <a:ext cx="17259300" cy="342900"/>
            <a:chOff x="0" y="0"/>
            <a:chExt cx="230124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30124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Análisis comparativo side-by-side de los modelos de clasificación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926806" y="2075891"/>
            <a:ext cx="8434388" cy="7920038"/>
          </a:xfrm>
          <a:custGeom>
            <a:avLst/>
            <a:gdLst/>
            <a:ahLst/>
            <a:cxnLst/>
            <a:rect r="r" b="b" t="t" l="l"/>
            <a:pathLst>
              <a:path h="7920038" w="8434388">
                <a:moveTo>
                  <a:pt x="0" y="0"/>
                </a:moveTo>
                <a:lnTo>
                  <a:pt x="8434388" y="0"/>
                </a:lnTo>
                <a:lnTo>
                  <a:pt x="8434388" y="7920037"/>
                </a:lnTo>
                <a:lnTo>
                  <a:pt x="0" y="79200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81012" y="2449747"/>
            <a:ext cx="225028" cy="257175"/>
          </a:xfrm>
          <a:custGeom>
            <a:avLst/>
            <a:gdLst/>
            <a:ahLst/>
            <a:cxnLst/>
            <a:rect r="r" b="b" t="t" l="l"/>
            <a:pathLst>
              <a:path h="257175" w="225028">
                <a:moveTo>
                  <a:pt x="0" y="0"/>
                </a:moveTo>
                <a:lnTo>
                  <a:pt x="225029" y="0"/>
                </a:lnTo>
                <a:lnTo>
                  <a:pt x="225029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557837" y="2378310"/>
            <a:ext cx="7629525" cy="400050"/>
            <a:chOff x="0" y="0"/>
            <a:chExt cx="101727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727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172700">
                  <a:moveTo>
                    <a:pt x="0" y="0"/>
                  </a:moveTo>
                  <a:lnTo>
                    <a:pt x="10172700" y="0"/>
                  </a:lnTo>
                  <a:lnTo>
                    <a:pt x="10172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1607" r="0" b="-32160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1727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Tabla Comparativa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26844" y="3004578"/>
            <a:ext cx="7834312" cy="5148262"/>
            <a:chOff x="0" y="0"/>
            <a:chExt cx="10445750" cy="68643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45750" cy="6864350"/>
            </a:xfrm>
            <a:custGeom>
              <a:avLst/>
              <a:gdLst/>
              <a:ahLst/>
              <a:cxnLst/>
              <a:rect r="r" b="b" t="t" l="l"/>
              <a:pathLst>
                <a:path h="6864350" w="10445750">
                  <a:moveTo>
                    <a:pt x="165100" y="0"/>
                  </a:moveTo>
                  <a:lnTo>
                    <a:pt x="10280650" y="0"/>
                  </a:lnTo>
                  <a:lnTo>
                    <a:pt x="10280650" y="12700"/>
                  </a:lnTo>
                  <a:lnTo>
                    <a:pt x="10280650" y="0"/>
                  </a:lnTo>
                  <a:cubicBezTo>
                    <a:pt x="10371836" y="0"/>
                    <a:pt x="10445750" y="73914"/>
                    <a:pt x="10445750" y="165100"/>
                  </a:cubicBezTo>
                  <a:lnTo>
                    <a:pt x="10433050" y="165100"/>
                  </a:lnTo>
                  <a:lnTo>
                    <a:pt x="10445750" y="165100"/>
                  </a:lnTo>
                  <a:lnTo>
                    <a:pt x="10445750" y="6699250"/>
                  </a:lnTo>
                  <a:lnTo>
                    <a:pt x="10433050" y="6699250"/>
                  </a:lnTo>
                  <a:lnTo>
                    <a:pt x="10445750" y="6699250"/>
                  </a:lnTo>
                  <a:cubicBezTo>
                    <a:pt x="10445750" y="6790436"/>
                    <a:pt x="10371836" y="6864350"/>
                    <a:pt x="10280650" y="6864350"/>
                  </a:cubicBezTo>
                  <a:lnTo>
                    <a:pt x="10280650" y="6851650"/>
                  </a:lnTo>
                  <a:lnTo>
                    <a:pt x="10280650" y="6864350"/>
                  </a:lnTo>
                  <a:lnTo>
                    <a:pt x="165100" y="6864350"/>
                  </a:lnTo>
                  <a:lnTo>
                    <a:pt x="165100" y="6851650"/>
                  </a:lnTo>
                  <a:lnTo>
                    <a:pt x="165100" y="6864350"/>
                  </a:lnTo>
                  <a:cubicBezTo>
                    <a:pt x="73914" y="6864350"/>
                    <a:pt x="0" y="6790436"/>
                    <a:pt x="0" y="6699250"/>
                  </a:cubicBezTo>
                  <a:lnTo>
                    <a:pt x="12700" y="6699250"/>
                  </a:lnTo>
                  <a:lnTo>
                    <a:pt x="0" y="6699250"/>
                  </a:lnTo>
                  <a:lnTo>
                    <a:pt x="0" y="165100"/>
                  </a:lnTo>
                  <a:lnTo>
                    <a:pt x="12700" y="165100"/>
                  </a:lnTo>
                  <a:lnTo>
                    <a:pt x="0" y="165100"/>
                  </a:lnTo>
                  <a:cubicBezTo>
                    <a:pt x="0" y="73914"/>
                    <a:pt x="73914" y="0"/>
                    <a:pt x="165100" y="0"/>
                  </a:cubicBezTo>
                  <a:lnTo>
                    <a:pt x="165100" y="12700"/>
                  </a:lnTo>
                  <a:lnTo>
                    <a:pt x="165100" y="0"/>
                  </a:lnTo>
                  <a:moveTo>
                    <a:pt x="165100" y="25400"/>
                  </a:moveTo>
                  <a:cubicBezTo>
                    <a:pt x="88011" y="25400"/>
                    <a:pt x="25400" y="88011"/>
                    <a:pt x="25400" y="165100"/>
                  </a:cubicBezTo>
                  <a:lnTo>
                    <a:pt x="25400" y="6699250"/>
                  </a:lnTo>
                  <a:cubicBezTo>
                    <a:pt x="25400" y="6776339"/>
                    <a:pt x="87884" y="6838950"/>
                    <a:pt x="165100" y="6838950"/>
                  </a:cubicBezTo>
                  <a:lnTo>
                    <a:pt x="10280650" y="6838950"/>
                  </a:lnTo>
                  <a:cubicBezTo>
                    <a:pt x="10357739" y="6838950"/>
                    <a:pt x="10420350" y="6776466"/>
                    <a:pt x="10420350" y="6699250"/>
                  </a:cubicBezTo>
                  <a:lnTo>
                    <a:pt x="10420350" y="165100"/>
                  </a:lnTo>
                  <a:cubicBezTo>
                    <a:pt x="10420350" y="88011"/>
                    <a:pt x="10357866" y="25400"/>
                    <a:pt x="10280650" y="25400"/>
                  </a:cubicBezTo>
                  <a:lnTo>
                    <a:pt x="165100" y="2540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5243512" y="3021247"/>
          <a:ext cx="7791450" cy="5033416"/>
        </p:xfrm>
        <a:graphic>
          <a:graphicData uri="http://schemas.openxmlformats.org/drawingml/2006/table">
            <a:tbl>
              <a:tblPr/>
              <a:tblGrid>
                <a:gridCol w="2968171"/>
                <a:gridCol w="2326019"/>
                <a:gridCol w="2497260"/>
              </a:tblGrid>
              <a:tr h="6149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Métrica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Decision Tree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8F8F8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Random Forest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633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EFEFE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Accuracy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0.68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EFEFE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0.67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633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Precisión (Clase 0)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0.56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0.55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633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Recall (Clase 0)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0.94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5DF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0.98 ⬆️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633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Precisión (Clase 1)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0.93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5DF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0.97 ⬆️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633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Recall (Clase 1)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0.50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0.47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633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F1-Score (Clase 0)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0.70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0.71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6191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F1-Score (Clase 1)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EFEFE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0.65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5DF72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0.63 ⬆️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14375"/>
            <a:ext cx="571500" cy="571500"/>
            <a:chOff x="0" y="0"/>
            <a:chExt cx="762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32234" y="871538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4450" y="571500"/>
            <a:ext cx="7086600" cy="285750"/>
            <a:chOff x="0" y="0"/>
            <a:chExt cx="9448800" cy="38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48800" cy="381000"/>
            </a:xfrm>
            <a:custGeom>
              <a:avLst/>
              <a:gdLst/>
              <a:ahLst/>
              <a:cxnLst/>
              <a:rect r="r" b="b" t="t" l="l"/>
              <a:pathLst>
                <a:path h="381000" w="9448800">
                  <a:moveTo>
                    <a:pt x="0" y="0"/>
                  </a:moveTo>
                  <a:lnTo>
                    <a:pt x="9448800" y="0"/>
                  </a:lnTo>
                  <a:lnTo>
                    <a:pt x="94488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3228" r="0" b="-43322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4488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Conclusiones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4450" y="763127"/>
            <a:ext cx="8436769" cy="665623"/>
            <a:chOff x="0" y="0"/>
            <a:chExt cx="9658350" cy="76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58350" cy="762000"/>
            </a:xfrm>
            <a:custGeom>
              <a:avLst/>
              <a:gdLst/>
              <a:ahLst/>
              <a:cxnLst/>
              <a:rect r="r" b="b" t="t" l="l"/>
              <a:pathLst>
                <a:path h="762000" w="9658350">
                  <a:moveTo>
                    <a:pt x="0" y="0"/>
                  </a:moveTo>
                  <a:lnTo>
                    <a:pt x="9658350" y="0"/>
                  </a:lnTo>
                  <a:lnTo>
                    <a:pt x="96583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972" r="0" b="-1969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965835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Hallazgos: Predicción de Costo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1500" y="1543050"/>
            <a:ext cx="17259300" cy="342900"/>
            <a:chOff x="0" y="0"/>
            <a:chExt cx="230124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230124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El problema es DATA, no MODELO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69119" y="2169319"/>
            <a:ext cx="8434388" cy="5319712"/>
          </a:xfrm>
          <a:custGeom>
            <a:avLst/>
            <a:gdLst/>
            <a:ahLst/>
            <a:cxnLst/>
            <a:rect r="r" b="b" t="t" l="l"/>
            <a:pathLst>
              <a:path h="5319712" w="8434388">
                <a:moveTo>
                  <a:pt x="0" y="0"/>
                </a:moveTo>
                <a:lnTo>
                  <a:pt x="8434387" y="0"/>
                </a:lnTo>
                <a:lnTo>
                  <a:pt x="8434387" y="5319712"/>
                </a:lnTo>
                <a:lnTo>
                  <a:pt x="0" y="53197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07256" y="2543175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00150" y="2471738"/>
            <a:ext cx="7629525" cy="400050"/>
            <a:chOff x="0" y="0"/>
            <a:chExt cx="101727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727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172700">
                  <a:moveTo>
                    <a:pt x="0" y="0"/>
                  </a:moveTo>
                  <a:lnTo>
                    <a:pt x="10172700" y="0"/>
                  </a:lnTo>
                  <a:lnTo>
                    <a:pt x="10172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1607" r="0" b="-32160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01727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Hallazgos Clave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69156" y="3098006"/>
            <a:ext cx="7834312" cy="1404938"/>
          </a:xfrm>
          <a:custGeom>
            <a:avLst/>
            <a:gdLst/>
            <a:ahLst/>
            <a:cxnLst/>
            <a:rect r="r" b="b" t="t" l="l"/>
            <a:pathLst>
              <a:path h="1404938" w="7834312">
                <a:moveTo>
                  <a:pt x="0" y="0"/>
                </a:moveTo>
                <a:lnTo>
                  <a:pt x="7834313" y="0"/>
                </a:lnTo>
                <a:lnTo>
                  <a:pt x="7834313" y="1404938"/>
                </a:lnTo>
                <a:lnTo>
                  <a:pt x="0" y="14049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114425" y="3343275"/>
            <a:ext cx="457200" cy="457200"/>
            <a:chOff x="0" y="0"/>
            <a:chExt cx="60960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6467">
                <a:alpha val="3922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91571" y="3371850"/>
            <a:ext cx="228600" cy="400050"/>
            <a:chOff x="0" y="0"/>
            <a:chExt cx="304800" cy="53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4800" cy="533400"/>
            </a:xfrm>
            <a:custGeom>
              <a:avLst/>
              <a:gdLst/>
              <a:ahLst/>
              <a:cxnLst/>
              <a:rect r="r" b="b" t="t" l="l"/>
              <a:pathLst>
                <a:path h="5334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74531" t="0" r="-17453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3048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F646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43075" y="3343275"/>
            <a:ext cx="6815138" cy="285750"/>
            <a:chOff x="0" y="0"/>
            <a:chExt cx="9086850" cy="38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86850" cy="381000"/>
            </a:xfrm>
            <a:custGeom>
              <a:avLst/>
              <a:gdLst/>
              <a:ahLst/>
              <a:cxnLst/>
              <a:rect r="r" b="b" t="t" l="l"/>
              <a:pathLst>
                <a:path h="381000" w="9086850">
                  <a:moveTo>
                    <a:pt x="0" y="0"/>
                  </a:moveTo>
                  <a:lnTo>
                    <a:pt x="9086850" y="0"/>
                  </a:lnTo>
                  <a:lnTo>
                    <a:pt x="90868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4718" r="0" b="-41471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0868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Bajo R² Consistente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43075" y="3686175"/>
            <a:ext cx="6815138" cy="571500"/>
            <a:chOff x="0" y="0"/>
            <a:chExt cx="9086850" cy="762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086850" cy="762000"/>
            </a:xfrm>
            <a:custGeom>
              <a:avLst/>
              <a:gdLst/>
              <a:ahLst/>
              <a:cxnLst/>
              <a:rect r="r" b="b" t="t" l="l"/>
              <a:pathLst>
                <a:path h="762000" w="9086850">
                  <a:moveTo>
                    <a:pt x="0" y="0"/>
                  </a:moveTo>
                  <a:lnTo>
                    <a:pt x="9086850" y="0"/>
                  </a:lnTo>
                  <a:lnTo>
                    <a:pt x="90868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2359" r="0" b="-18235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08685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Los tres modelos presentan </a:t>
              </a: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R² ≈ 0.18</a:t>
              </a: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, explicando solo el 18% de la variabilidad del costo.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69156" y="4726781"/>
            <a:ext cx="7834312" cy="1119188"/>
          </a:xfrm>
          <a:custGeom>
            <a:avLst/>
            <a:gdLst/>
            <a:ahLst/>
            <a:cxnLst/>
            <a:rect r="r" b="b" t="t" l="l"/>
            <a:pathLst>
              <a:path h="1119188" w="7834312">
                <a:moveTo>
                  <a:pt x="0" y="0"/>
                </a:moveTo>
                <a:lnTo>
                  <a:pt x="7834313" y="0"/>
                </a:lnTo>
                <a:lnTo>
                  <a:pt x="7834313" y="1119188"/>
                </a:lnTo>
                <a:lnTo>
                  <a:pt x="0" y="11191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114425" y="4972050"/>
            <a:ext cx="457200" cy="457200"/>
            <a:chOff x="0" y="0"/>
            <a:chExt cx="609600" cy="60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6467">
                <a:alpha val="3922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8244" y="5000625"/>
            <a:ext cx="271462" cy="400050"/>
            <a:chOff x="0" y="0"/>
            <a:chExt cx="361950" cy="533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1950" cy="533400"/>
            </a:xfrm>
            <a:custGeom>
              <a:avLst/>
              <a:gdLst/>
              <a:ahLst/>
              <a:cxnLst/>
              <a:rect r="r" b="b" t="t" l="l"/>
              <a:pathLst>
                <a:path h="533400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9078" t="0" r="-139078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3619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F646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43075" y="4972050"/>
            <a:ext cx="6786562" cy="285750"/>
            <a:chOff x="0" y="0"/>
            <a:chExt cx="9048750" cy="381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048750" cy="381000"/>
            </a:xfrm>
            <a:custGeom>
              <a:avLst/>
              <a:gdLst/>
              <a:ahLst/>
              <a:cxnLst/>
              <a:rect r="r" b="b" t="t" l="l"/>
              <a:pathLst>
                <a:path h="381000" w="9048750">
                  <a:moveTo>
                    <a:pt x="0" y="0"/>
                  </a:moveTo>
                  <a:lnTo>
                    <a:pt x="9048750" y="0"/>
                  </a:lnTo>
                  <a:lnTo>
                    <a:pt x="90487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0487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Rendimiento Idéntico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56122" y="5446345"/>
            <a:ext cx="7331869" cy="308710"/>
            <a:chOff x="0" y="0"/>
            <a:chExt cx="9048750" cy="381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048750" cy="381000"/>
            </a:xfrm>
            <a:custGeom>
              <a:avLst/>
              <a:gdLst/>
              <a:ahLst/>
              <a:cxnLst/>
              <a:rect r="r" b="b" t="t" l="l"/>
              <a:pathLst>
                <a:path h="381000" w="9048750">
                  <a:moveTo>
                    <a:pt x="0" y="0"/>
                  </a:moveTo>
                  <a:lnTo>
                    <a:pt x="9048750" y="0"/>
                  </a:lnTo>
                  <a:lnTo>
                    <a:pt x="90487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0487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Linear, Ridge y Lasso tienen </a:t>
              </a: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el mismo rendimiento</a:t>
              </a: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(MAE=36.4, RMSE=43.8).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869156" y="6069806"/>
            <a:ext cx="7834312" cy="1119188"/>
          </a:xfrm>
          <a:custGeom>
            <a:avLst/>
            <a:gdLst/>
            <a:ahLst/>
            <a:cxnLst/>
            <a:rect r="r" b="b" t="t" l="l"/>
            <a:pathLst>
              <a:path h="1119188" w="7834312">
                <a:moveTo>
                  <a:pt x="0" y="0"/>
                </a:moveTo>
                <a:lnTo>
                  <a:pt x="7834313" y="0"/>
                </a:lnTo>
                <a:lnTo>
                  <a:pt x="7834313" y="1119188"/>
                </a:lnTo>
                <a:lnTo>
                  <a:pt x="0" y="11191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114425" y="6315075"/>
            <a:ext cx="457200" cy="457200"/>
            <a:chOff x="0" y="0"/>
            <a:chExt cx="60960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152400" y="0"/>
                  </a:moveTo>
                  <a:lnTo>
                    <a:pt x="457200" y="0"/>
                  </a:lnTo>
                  <a:cubicBezTo>
                    <a:pt x="541274" y="0"/>
                    <a:pt x="609600" y="68326"/>
                    <a:pt x="609600" y="152400"/>
                  </a:cubicBezTo>
                  <a:lnTo>
                    <a:pt x="609600" y="457200"/>
                  </a:lnTo>
                  <a:cubicBezTo>
                    <a:pt x="609600" y="541274"/>
                    <a:pt x="541274" y="609600"/>
                    <a:pt x="457200" y="609600"/>
                  </a:cubicBezTo>
                  <a:lnTo>
                    <a:pt x="152400" y="609600"/>
                  </a:lnTo>
                  <a:cubicBezTo>
                    <a:pt x="68326" y="609600"/>
                    <a:pt x="0" y="541274"/>
                    <a:pt x="0" y="4572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6467">
                <a:alpha val="3922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67120" y="6343650"/>
            <a:ext cx="285750" cy="400050"/>
            <a:chOff x="0" y="0"/>
            <a:chExt cx="381000" cy="533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1000" cy="533400"/>
            </a:xfrm>
            <a:custGeom>
              <a:avLst/>
              <a:gdLst/>
              <a:ahLst/>
              <a:cxnLst/>
              <a:rect r="r" b="b" t="t" l="l"/>
              <a:pathLst>
                <a:path h="5334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29625" t="0" r="-129625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3810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F6467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43075" y="6315075"/>
            <a:ext cx="6557962" cy="285750"/>
            <a:chOff x="0" y="0"/>
            <a:chExt cx="8743950" cy="381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743950" cy="381000"/>
            </a:xfrm>
            <a:custGeom>
              <a:avLst/>
              <a:gdLst/>
              <a:ahLst/>
              <a:cxnLst/>
              <a:rect r="r" b="b" t="t" l="l"/>
              <a:pathLst>
                <a:path h="381000" w="8743950">
                  <a:moveTo>
                    <a:pt x="0" y="0"/>
                  </a:moveTo>
                  <a:lnTo>
                    <a:pt x="8743950" y="0"/>
                  </a:lnTo>
                  <a:lnTo>
                    <a:pt x="87439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7181" r="0" b="-39718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87439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No es Overfitting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4425" y="6731512"/>
            <a:ext cx="7573566" cy="534694"/>
            <a:chOff x="0" y="0"/>
            <a:chExt cx="8743950" cy="61732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743950" cy="617323"/>
            </a:xfrm>
            <a:custGeom>
              <a:avLst/>
              <a:gdLst/>
              <a:ahLst/>
              <a:cxnLst/>
              <a:rect r="r" b="b" t="t" l="l"/>
              <a:pathLst>
                <a:path h="617323" w="8743950">
                  <a:moveTo>
                    <a:pt x="0" y="0"/>
                  </a:moveTo>
                  <a:lnTo>
                    <a:pt x="8743950" y="0"/>
                  </a:lnTo>
                  <a:lnTo>
                    <a:pt x="8743950" y="617323"/>
                  </a:lnTo>
                  <a:lnTo>
                    <a:pt x="0" y="61732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5132" r="0" b="-20685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8743950" cy="655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El problema no es overfitting o underfitting clásico, sino </a:t>
              </a: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feature relevance</a:t>
              </a: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.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569119" y="7712869"/>
            <a:ext cx="8434388" cy="1804988"/>
          </a:xfrm>
          <a:custGeom>
            <a:avLst/>
            <a:gdLst/>
            <a:ahLst/>
            <a:cxnLst/>
            <a:rect r="r" b="b" t="t" l="l"/>
            <a:pathLst>
              <a:path h="1804988" w="8434388">
                <a:moveTo>
                  <a:pt x="0" y="0"/>
                </a:moveTo>
                <a:lnTo>
                  <a:pt x="8434387" y="0"/>
                </a:lnTo>
                <a:lnTo>
                  <a:pt x="8434387" y="1804987"/>
                </a:lnTo>
                <a:lnTo>
                  <a:pt x="0" y="180498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842962" y="8072438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265339" y="8015288"/>
            <a:ext cx="7529512" cy="285750"/>
            <a:chOff x="0" y="0"/>
            <a:chExt cx="10039350" cy="381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039350" cy="381000"/>
            </a:xfrm>
            <a:custGeom>
              <a:avLst/>
              <a:gdLst/>
              <a:ahLst/>
              <a:cxnLst/>
              <a:rect r="r" b="b" t="t" l="l"/>
              <a:pathLst>
                <a:path h="381000" w="10039350">
                  <a:moveTo>
                    <a:pt x="0" y="0"/>
                  </a:moveTo>
                  <a:lnTo>
                    <a:pt x="10039350" y="0"/>
                  </a:lnTo>
                  <a:lnTo>
                    <a:pt x="10039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63430" r="0" b="-46343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039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Diagnóstico Principal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65339" y="8358188"/>
            <a:ext cx="7529512" cy="857250"/>
            <a:chOff x="0" y="0"/>
            <a:chExt cx="10039350" cy="1143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03935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039350">
                  <a:moveTo>
                    <a:pt x="0" y="0"/>
                  </a:moveTo>
                  <a:lnTo>
                    <a:pt x="10039350" y="0"/>
                  </a:lnTo>
                  <a:lnTo>
                    <a:pt x="1003935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143" r="0" b="-1211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003935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El dataset está </a:t>
              </a: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incompleto conceptualmente</a:t>
              </a: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. Las variables disponibles (warehouse, shipment mode, customer rating) no contienen información suficiente para explicar el costo del producto.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9284494" y="2169319"/>
            <a:ext cx="8434388" cy="7548562"/>
          </a:xfrm>
          <a:custGeom>
            <a:avLst/>
            <a:gdLst/>
            <a:ahLst/>
            <a:cxnLst/>
            <a:rect r="r" b="b" t="t" l="l"/>
            <a:pathLst>
              <a:path h="7548562" w="8434388">
                <a:moveTo>
                  <a:pt x="0" y="0"/>
                </a:moveTo>
                <a:lnTo>
                  <a:pt x="8434387" y="0"/>
                </a:lnTo>
                <a:lnTo>
                  <a:pt x="8434387" y="7548562"/>
                </a:lnTo>
                <a:lnTo>
                  <a:pt x="0" y="754856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9654778" y="2543175"/>
            <a:ext cx="192881" cy="257175"/>
          </a:xfrm>
          <a:custGeom>
            <a:avLst/>
            <a:gdLst/>
            <a:ahLst/>
            <a:cxnLst/>
            <a:rect r="r" b="b" t="t" l="l"/>
            <a:pathLst>
              <a:path h="257175" w="192881">
                <a:moveTo>
                  <a:pt x="0" y="0"/>
                </a:moveTo>
                <a:lnTo>
                  <a:pt x="192881" y="0"/>
                </a:lnTo>
                <a:lnTo>
                  <a:pt x="192881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9915525" y="2471738"/>
            <a:ext cx="7629525" cy="400050"/>
            <a:chOff x="0" y="0"/>
            <a:chExt cx="10172700" cy="533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172700" cy="533400"/>
            </a:xfrm>
            <a:custGeom>
              <a:avLst/>
              <a:gdLst/>
              <a:ahLst/>
              <a:cxnLst/>
              <a:rect r="r" b="b" t="t" l="l"/>
              <a:pathLst>
                <a:path h="533400" w="10172700">
                  <a:moveTo>
                    <a:pt x="0" y="0"/>
                  </a:moveTo>
                  <a:lnTo>
                    <a:pt x="10172700" y="0"/>
                  </a:lnTo>
                  <a:lnTo>
                    <a:pt x="101727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1607" r="0" b="-32160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101727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Recomendaciones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9584531" y="3098006"/>
            <a:ext cx="7834312" cy="1519238"/>
          </a:xfrm>
          <a:custGeom>
            <a:avLst/>
            <a:gdLst/>
            <a:ahLst/>
            <a:cxnLst/>
            <a:rect r="r" b="b" t="t" l="l"/>
            <a:pathLst>
              <a:path h="1519238" w="7834312">
                <a:moveTo>
                  <a:pt x="0" y="0"/>
                </a:moveTo>
                <a:lnTo>
                  <a:pt x="7834313" y="0"/>
                </a:lnTo>
                <a:lnTo>
                  <a:pt x="7834313" y="1519238"/>
                </a:lnTo>
                <a:lnTo>
                  <a:pt x="0" y="151923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9858375" y="3371850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0229850" y="3269907"/>
            <a:ext cx="3321844" cy="359118"/>
            <a:chOff x="0" y="0"/>
            <a:chExt cx="3524250" cy="3810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524250" cy="381000"/>
            </a:xfrm>
            <a:custGeom>
              <a:avLst/>
              <a:gdLst/>
              <a:ahLst/>
              <a:cxnLst/>
              <a:rect r="r" b="b" t="t" l="l"/>
              <a:pathLst>
                <a:path h="381000" w="3524250">
                  <a:moveTo>
                    <a:pt x="0" y="0"/>
                  </a:moveTo>
                  <a:lnTo>
                    <a:pt x="3524250" y="0"/>
                  </a:lnTo>
                  <a:lnTo>
                    <a:pt x="3524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5242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NO cambiar hiperparámetros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829800" y="3800475"/>
            <a:ext cx="7443788" cy="571500"/>
            <a:chOff x="0" y="0"/>
            <a:chExt cx="9925050" cy="762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925050" cy="762000"/>
            </a:xfrm>
            <a:custGeom>
              <a:avLst/>
              <a:gdLst/>
              <a:ahLst/>
              <a:cxnLst/>
              <a:rect r="r" b="b" t="t" l="l"/>
              <a:pathLst>
                <a:path h="762000" w="9925050">
                  <a:moveTo>
                    <a:pt x="0" y="0"/>
                  </a:moveTo>
                  <a:lnTo>
                    <a:pt x="9925050" y="0"/>
                  </a:lnTo>
                  <a:lnTo>
                    <a:pt x="99250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3792" r="0" b="-20379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992505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Ya se probaron Linear, Ridge y Lasso con resultados idénticos. Ajustar hiperparámetros no mejorará el rendimiento.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9584531" y="4841081"/>
            <a:ext cx="7834312" cy="2833688"/>
          </a:xfrm>
          <a:custGeom>
            <a:avLst/>
            <a:gdLst/>
            <a:ahLst/>
            <a:cxnLst/>
            <a:rect r="r" b="b" t="t" l="l"/>
            <a:pathLst>
              <a:path h="2833688" w="7834312">
                <a:moveTo>
                  <a:pt x="0" y="0"/>
                </a:moveTo>
                <a:lnTo>
                  <a:pt x="7834313" y="0"/>
                </a:lnTo>
                <a:lnTo>
                  <a:pt x="7834313" y="2833688"/>
                </a:lnTo>
                <a:lnTo>
                  <a:pt x="0" y="2833688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9858375" y="5114925"/>
            <a:ext cx="228600" cy="228600"/>
            <a:chOff x="0" y="0"/>
            <a:chExt cx="304800" cy="304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05DF72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0229850" y="5000625"/>
            <a:ext cx="3046095" cy="371475"/>
            <a:chOff x="0" y="0"/>
            <a:chExt cx="3124200" cy="381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4200" cy="381000"/>
            </a:xfrm>
            <a:custGeom>
              <a:avLst/>
              <a:gdLst/>
              <a:ahLst/>
              <a:cxnLst/>
              <a:rect r="r" b="b" t="t" l="l"/>
              <a:pathLst>
                <a:path h="3810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31242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SÍ incluir nuevas variables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851231" y="5600700"/>
            <a:ext cx="171450" cy="171450"/>
            <a:chOff x="0" y="0"/>
            <a:chExt cx="228600" cy="2286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158412" y="5435162"/>
            <a:ext cx="3429000" cy="394138"/>
            <a:chOff x="0" y="0"/>
            <a:chExt cx="3314700" cy="3810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314700" cy="381000"/>
            </a:xfrm>
            <a:custGeom>
              <a:avLst/>
              <a:gdLst/>
              <a:ahLst/>
              <a:cxnLst/>
              <a:rect r="r" b="b" t="t" l="l"/>
              <a:pathLst>
                <a:path h="3810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9519" r="0" b="-119519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33147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Categoría/tipo de producto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851231" y="6000750"/>
            <a:ext cx="171450" cy="171450"/>
            <a:chOff x="0" y="0"/>
            <a:chExt cx="228600" cy="2286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0158412" y="5872906"/>
            <a:ext cx="2619865" cy="356444"/>
            <a:chOff x="0" y="0"/>
            <a:chExt cx="2800350" cy="3810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800350" cy="381000"/>
            </a:xfrm>
            <a:custGeom>
              <a:avLst/>
              <a:gdLst/>
              <a:ahLst/>
              <a:cxnLst/>
              <a:rect r="r" b="b" t="t" l="l"/>
              <a:pathLst>
                <a:path h="381000" w="2800350">
                  <a:moveTo>
                    <a:pt x="0" y="0"/>
                  </a:moveTo>
                  <a:lnTo>
                    <a:pt x="2800350" y="0"/>
                  </a:lnTo>
                  <a:lnTo>
                    <a:pt x="2800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3215" r="0" b="-93215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800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Proveedor o fabricante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851231" y="6400800"/>
            <a:ext cx="171450" cy="171450"/>
            <a:chOff x="0" y="0"/>
            <a:chExt cx="228600" cy="2286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158412" y="6296025"/>
            <a:ext cx="3900488" cy="333375"/>
            <a:chOff x="0" y="0"/>
            <a:chExt cx="4457700" cy="3810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457700" cy="381000"/>
            </a:xfrm>
            <a:custGeom>
              <a:avLst/>
              <a:gdLst/>
              <a:ahLst/>
              <a:cxnLst/>
              <a:rect r="r" b="b" t="t" l="l"/>
              <a:pathLst>
                <a:path h="3810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77974" r="0" b="-17797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44577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Origen y destino del envío (distancia)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851231" y="6800850"/>
            <a:ext cx="171450" cy="171450"/>
            <a:chOff x="0" y="0"/>
            <a:chExt cx="228600" cy="2286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0158412" y="6696075"/>
            <a:ext cx="4000500" cy="333375"/>
            <a:chOff x="0" y="0"/>
            <a:chExt cx="4572000" cy="3810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572000" cy="381000"/>
            </a:xfrm>
            <a:custGeom>
              <a:avLst/>
              <a:gdLst/>
              <a:ahLst/>
              <a:cxnLst/>
              <a:rect r="r" b="b" t="t" l="l"/>
              <a:pathLst>
                <a:path h="3810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4572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Variaciones de precios por temporada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851231" y="7200900"/>
            <a:ext cx="171450" cy="171450"/>
            <a:chOff x="0" y="0"/>
            <a:chExt cx="228600" cy="2286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28575"/>
              <a:ext cx="228600" cy="171577"/>
            </a:xfrm>
            <a:custGeom>
              <a:avLst/>
              <a:gdLst/>
              <a:ahLst/>
              <a:cxnLst/>
              <a:rect r="r" b="b" t="t" l="l"/>
              <a:pathLst>
                <a:path h="171577" w="228600">
                  <a:moveTo>
                    <a:pt x="224409" y="95758"/>
                  </a:moveTo>
                  <a:cubicBezTo>
                    <a:pt x="229997" y="90170"/>
                    <a:pt x="229997" y="81153"/>
                    <a:pt x="224409" y="75565"/>
                  </a:cubicBezTo>
                  <a:lnTo>
                    <a:pt x="152908" y="4191"/>
                  </a:lnTo>
                  <a:cubicBezTo>
                    <a:pt x="147320" y="-1397"/>
                    <a:pt x="138303" y="-1397"/>
                    <a:pt x="132715" y="4191"/>
                  </a:cubicBezTo>
                  <a:cubicBezTo>
                    <a:pt x="127127" y="9779"/>
                    <a:pt x="127127" y="18796"/>
                    <a:pt x="132715" y="24384"/>
                  </a:cubicBezTo>
                  <a:lnTo>
                    <a:pt x="179832" y="71501"/>
                  </a:lnTo>
                  <a:lnTo>
                    <a:pt x="14351" y="71501"/>
                  </a:lnTo>
                  <a:cubicBezTo>
                    <a:pt x="6350" y="71374"/>
                    <a:pt x="0" y="77851"/>
                    <a:pt x="0" y="85725"/>
                  </a:cubicBezTo>
                  <a:cubicBezTo>
                    <a:pt x="0" y="93599"/>
                    <a:pt x="6350" y="100076"/>
                    <a:pt x="14351" y="100076"/>
                  </a:cubicBezTo>
                  <a:lnTo>
                    <a:pt x="179832" y="100076"/>
                  </a:lnTo>
                  <a:lnTo>
                    <a:pt x="132715" y="147193"/>
                  </a:lnTo>
                  <a:cubicBezTo>
                    <a:pt x="127127" y="152781"/>
                    <a:pt x="127127" y="161798"/>
                    <a:pt x="132715" y="167386"/>
                  </a:cubicBezTo>
                  <a:cubicBezTo>
                    <a:pt x="138303" y="172974"/>
                    <a:pt x="147320" y="172974"/>
                    <a:pt x="152908" y="167386"/>
                  </a:cubicBezTo>
                  <a:lnTo>
                    <a:pt x="224409" y="95885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158412" y="7096125"/>
            <a:ext cx="4350544" cy="333375"/>
            <a:chOff x="0" y="0"/>
            <a:chExt cx="4972050" cy="3810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972050" cy="381000"/>
            </a:xfrm>
            <a:custGeom>
              <a:avLst/>
              <a:gdLst/>
              <a:ahLst/>
              <a:cxnLst/>
              <a:rect r="r" b="b" t="t" l="l"/>
              <a:pathLst>
                <a:path h="38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279" r="0" b="-20427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9720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Atributos del producto (material, tamaño)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714375"/>
            <a:ext cx="571500" cy="571500"/>
            <a:chOff x="0" y="0"/>
            <a:chExt cx="762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152400" y="0"/>
                  </a:moveTo>
                  <a:lnTo>
                    <a:pt x="609600" y="0"/>
                  </a:lnTo>
                  <a:cubicBezTo>
                    <a:pt x="693674" y="0"/>
                    <a:pt x="762000" y="68326"/>
                    <a:pt x="762000" y="152400"/>
                  </a:cubicBezTo>
                  <a:lnTo>
                    <a:pt x="762000" y="609600"/>
                  </a:lnTo>
                  <a:cubicBezTo>
                    <a:pt x="762000" y="693674"/>
                    <a:pt x="693674" y="762000"/>
                    <a:pt x="6096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64381" y="871538"/>
            <a:ext cx="192881" cy="257175"/>
          </a:xfrm>
          <a:custGeom>
            <a:avLst/>
            <a:gdLst/>
            <a:ahLst/>
            <a:cxnLst/>
            <a:rect r="r" b="b" t="t" l="l"/>
            <a:pathLst>
              <a:path h="257175" w="192881">
                <a:moveTo>
                  <a:pt x="0" y="0"/>
                </a:moveTo>
                <a:lnTo>
                  <a:pt x="192881" y="0"/>
                </a:lnTo>
                <a:lnTo>
                  <a:pt x="192881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14450" y="571500"/>
            <a:ext cx="7043738" cy="285750"/>
            <a:chOff x="0" y="0"/>
            <a:chExt cx="9391650" cy="381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91650" cy="381000"/>
            </a:xfrm>
            <a:custGeom>
              <a:avLst/>
              <a:gdLst/>
              <a:ahLst/>
              <a:cxnLst/>
              <a:rect r="r" b="b" t="t" l="l"/>
              <a:pathLst>
                <a:path h="381000" w="9391650">
                  <a:moveTo>
                    <a:pt x="0" y="0"/>
                  </a:moveTo>
                  <a:lnTo>
                    <a:pt x="9391650" y="0"/>
                  </a:lnTo>
                  <a:lnTo>
                    <a:pt x="93916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0306" r="0" b="-43030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916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Resumen Ejecutivo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14450" y="711184"/>
            <a:ext cx="7829550" cy="863632"/>
            <a:chOff x="0" y="0"/>
            <a:chExt cx="10439400" cy="11515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39400" cy="1151509"/>
            </a:xfrm>
            <a:custGeom>
              <a:avLst/>
              <a:gdLst/>
              <a:ahLst/>
              <a:cxnLst/>
              <a:rect r="r" b="b" t="t" l="l"/>
              <a:pathLst>
                <a:path h="1151509" w="10439400">
                  <a:moveTo>
                    <a:pt x="0" y="0"/>
                  </a:moveTo>
                  <a:lnTo>
                    <a:pt x="10439400" y="0"/>
                  </a:lnTo>
                  <a:lnTo>
                    <a:pt x="10439400" y="1151509"/>
                  </a:lnTo>
                  <a:lnTo>
                    <a:pt x="0" y="115150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77" r="8029" b="-9555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10439400" cy="1103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Conclusiones del Caso Estudio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69119" y="1826419"/>
            <a:ext cx="8434388" cy="6148388"/>
          </a:xfrm>
          <a:custGeom>
            <a:avLst/>
            <a:gdLst/>
            <a:ahLst/>
            <a:cxnLst/>
            <a:rect r="r" b="b" t="t" l="l"/>
            <a:pathLst>
              <a:path h="6148388" w="8434388">
                <a:moveTo>
                  <a:pt x="0" y="0"/>
                </a:moveTo>
                <a:lnTo>
                  <a:pt x="8434387" y="0"/>
                </a:lnTo>
                <a:lnTo>
                  <a:pt x="8434387" y="6148387"/>
                </a:lnTo>
                <a:lnTo>
                  <a:pt x="0" y="6148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28688" y="2185988"/>
            <a:ext cx="800100" cy="800100"/>
            <a:chOff x="0" y="0"/>
            <a:chExt cx="1066800" cy="1066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6467">
                <a:alpha val="3922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57288" y="2414588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900238" y="2214562"/>
            <a:ext cx="1943100" cy="457200"/>
            <a:chOff x="0" y="0"/>
            <a:chExt cx="25908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90800" cy="609600"/>
            </a:xfrm>
            <a:custGeom>
              <a:avLst/>
              <a:gdLst/>
              <a:ahLst/>
              <a:cxnLst/>
              <a:rect r="r" b="b" t="t" l="l"/>
              <a:pathLst>
                <a:path h="609600" w="2590800">
                  <a:moveTo>
                    <a:pt x="0" y="0"/>
                  </a:moveTo>
                  <a:lnTo>
                    <a:pt x="2590800" y="0"/>
                  </a:lnTo>
                  <a:lnTo>
                    <a:pt x="2590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5908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Regresión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00238" y="2612350"/>
            <a:ext cx="2260813" cy="345162"/>
            <a:chOff x="0" y="0"/>
            <a:chExt cx="2495550" cy="38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95550" cy="381000"/>
            </a:xfrm>
            <a:custGeom>
              <a:avLst/>
              <a:gdLst/>
              <a:ahLst/>
              <a:cxnLst/>
              <a:rect r="r" b="b" t="t" l="l"/>
              <a:pathLst>
                <a:path h="381000" w="2495550">
                  <a:moveTo>
                    <a:pt x="0" y="0"/>
                  </a:moveTo>
                  <a:lnTo>
                    <a:pt x="2495550" y="0"/>
                  </a:lnTo>
                  <a:lnTo>
                    <a:pt x="24955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7627" r="0" b="-7762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4955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Predicción de Costo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964406" y="3328988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421606" y="3271838"/>
            <a:ext cx="5214938" cy="285750"/>
            <a:chOff x="0" y="0"/>
            <a:chExt cx="6953250" cy="38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53250" cy="381000"/>
            </a:xfrm>
            <a:custGeom>
              <a:avLst/>
              <a:gdLst/>
              <a:ahLst/>
              <a:cxnLst/>
              <a:rect r="r" b="b" t="t" l="l"/>
              <a:pathLst>
                <a:path h="381000" w="6953250">
                  <a:moveTo>
                    <a:pt x="0" y="0"/>
                  </a:moveTo>
                  <a:lnTo>
                    <a:pt x="6953250" y="0"/>
                  </a:lnTo>
                  <a:lnTo>
                    <a:pt x="6953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5601" r="0" b="-30560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9532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R² bajo (0.18)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21606" y="3565950"/>
            <a:ext cx="6105302" cy="334537"/>
            <a:chOff x="0" y="0"/>
            <a:chExt cx="6953250" cy="38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53250" cy="381000"/>
            </a:xfrm>
            <a:custGeom>
              <a:avLst/>
              <a:gdLst/>
              <a:ahLst/>
              <a:cxnLst/>
              <a:rect r="r" b="b" t="t" l="l"/>
              <a:pathLst>
                <a:path h="381000" w="6953250">
                  <a:moveTo>
                    <a:pt x="0" y="0"/>
                  </a:moveTo>
                  <a:lnTo>
                    <a:pt x="6953250" y="0"/>
                  </a:lnTo>
                  <a:lnTo>
                    <a:pt x="69532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5601" r="0" b="-3056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69532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Las variables disponibles </a:t>
              </a: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no explican</a:t>
              </a: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el costo del producto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0475" y="4186238"/>
            <a:ext cx="225028" cy="257175"/>
            <a:chOff x="0" y="0"/>
            <a:chExt cx="300038" cy="3429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85725"/>
              <a:ext cx="300101" cy="171450"/>
            </a:xfrm>
            <a:custGeom>
              <a:avLst/>
              <a:gdLst/>
              <a:ahLst/>
              <a:cxnLst/>
              <a:rect r="r" b="b" t="t" l="l"/>
              <a:pathLst>
                <a:path h="171450" w="300101">
                  <a:moveTo>
                    <a:pt x="21463" y="0"/>
                  </a:moveTo>
                  <a:cubicBezTo>
                    <a:pt x="9525" y="0"/>
                    <a:pt x="0" y="9525"/>
                    <a:pt x="0" y="21463"/>
                  </a:cubicBezTo>
                  <a:cubicBezTo>
                    <a:pt x="0" y="33401"/>
                    <a:pt x="9525" y="42926"/>
                    <a:pt x="21463" y="42926"/>
                  </a:cubicBezTo>
                  <a:lnTo>
                    <a:pt x="278638" y="42926"/>
                  </a:lnTo>
                  <a:cubicBezTo>
                    <a:pt x="290449" y="42926"/>
                    <a:pt x="300101" y="33401"/>
                    <a:pt x="300101" y="21463"/>
                  </a:cubicBezTo>
                  <a:cubicBezTo>
                    <a:pt x="300101" y="9525"/>
                    <a:pt x="290576" y="0"/>
                    <a:pt x="278638" y="0"/>
                  </a:cubicBezTo>
                  <a:lnTo>
                    <a:pt x="21463" y="0"/>
                  </a:lnTo>
                  <a:close/>
                  <a:moveTo>
                    <a:pt x="21463" y="128524"/>
                  </a:moveTo>
                  <a:cubicBezTo>
                    <a:pt x="9652" y="128524"/>
                    <a:pt x="0" y="138049"/>
                    <a:pt x="0" y="149987"/>
                  </a:cubicBezTo>
                  <a:cubicBezTo>
                    <a:pt x="0" y="161925"/>
                    <a:pt x="9525" y="171450"/>
                    <a:pt x="21463" y="171450"/>
                  </a:cubicBezTo>
                  <a:lnTo>
                    <a:pt x="278638" y="171450"/>
                  </a:lnTo>
                  <a:cubicBezTo>
                    <a:pt x="290449" y="171450"/>
                    <a:pt x="300101" y="161925"/>
                    <a:pt x="300101" y="149987"/>
                  </a:cubicBezTo>
                  <a:cubicBezTo>
                    <a:pt x="300101" y="138049"/>
                    <a:pt x="290576" y="128524"/>
                    <a:pt x="278638" y="128524"/>
                  </a:cubicBezTo>
                  <a:lnTo>
                    <a:pt x="21463" y="128524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21606" y="4129088"/>
            <a:ext cx="4343400" cy="285750"/>
            <a:chOff x="0" y="0"/>
            <a:chExt cx="5791200" cy="381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91200" cy="381000"/>
            </a:xfrm>
            <a:custGeom>
              <a:avLst/>
              <a:gdLst/>
              <a:ahLst/>
              <a:cxnLst/>
              <a:rect r="r" b="b" t="t" l="l"/>
              <a:pathLst>
                <a:path h="3810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7912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Mismo rendimiento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21606" y="4397284"/>
            <a:ext cx="5478889" cy="360453"/>
            <a:chOff x="0" y="0"/>
            <a:chExt cx="5791200" cy="381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791200" cy="381000"/>
            </a:xfrm>
            <a:custGeom>
              <a:avLst/>
              <a:gdLst/>
              <a:ahLst/>
              <a:cxnLst/>
              <a:rect r="r" b="b" t="t" l="l"/>
              <a:pathLst>
                <a:path h="381000" w="5791200">
                  <a:moveTo>
                    <a:pt x="0" y="0"/>
                  </a:moveTo>
                  <a:lnTo>
                    <a:pt x="5791200" y="0"/>
                  </a:lnTo>
                  <a:lnTo>
                    <a:pt x="5791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6172" r="0" b="-24617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7912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Linear, Ridge y Lasso tienen </a:t>
              </a: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resultados idénticos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80475" y="5043488"/>
            <a:ext cx="225028" cy="257175"/>
          </a:xfrm>
          <a:custGeom>
            <a:avLst/>
            <a:gdLst/>
            <a:ahLst/>
            <a:cxnLst/>
            <a:rect r="r" b="b" t="t" l="l"/>
            <a:pathLst>
              <a:path h="257175" w="225028">
                <a:moveTo>
                  <a:pt x="0" y="0"/>
                </a:moveTo>
                <a:lnTo>
                  <a:pt x="225028" y="0"/>
                </a:lnTo>
                <a:lnTo>
                  <a:pt x="225028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421606" y="4986338"/>
            <a:ext cx="4000500" cy="285750"/>
            <a:chOff x="0" y="0"/>
            <a:chExt cx="5334000" cy="381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34000" cy="381000"/>
            </a:xfrm>
            <a:custGeom>
              <a:avLst/>
              <a:gdLst/>
              <a:ahLst/>
              <a:cxnLst/>
              <a:rect r="r" b="b" t="t" l="l"/>
              <a:pathLst>
                <a:path h="381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334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Problema: DATA, no MODELO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21606" y="5242492"/>
            <a:ext cx="5214938" cy="372496"/>
            <a:chOff x="0" y="0"/>
            <a:chExt cx="5334000" cy="381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334000" cy="381000"/>
            </a:xfrm>
            <a:custGeom>
              <a:avLst/>
              <a:gdLst/>
              <a:ahLst/>
              <a:cxnLst/>
              <a:rect r="r" b="b" t="t" l="l"/>
              <a:pathLst>
                <a:path h="381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334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El dataset está </a:t>
              </a: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incompleto conceptualmente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43000" y="6057900"/>
            <a:ext cx="228600" cy="228600"/>
            <a:chOff x="0" y="0"/>
            <a:chExt cx="304800" cy="304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38068"/>
              <a:ext cx="304832" cy="228616"/>
            </a:xfrm>
            <a:custGeom>
              <a:avLst/>
              <a:gdLst/>
              <a:ahLst/>
              <a:cxnLst/>
              <a:rect r="r" b="b" t="t" l="l"/>
              <a:pathLst>
                <a:path h="228616" w="304832">
                  <a:moveTo>
                    <a:pt x="299212" y="127794"/>
                  </a:moveTo>
                  <a:cubicBezTo>
                    <a:pt x="306705" y="120301"/>
                    <a:pt x="306705" y="108236"/>
                    <a:pt x="299212" y="100870"/>
                  </a:cubicBezTo>
                  <a:lnTo>
                    <a:pt x="203962" y="5620"/>
                  </a:lnTo>
                  <a:cubicBezTo>
                    <a:pt x="196469" y="-1873"/>
                    <a:pt x="184404" y="-1873"/>
                    <a:pt x="177038" y="5620"/>
                  </a:cubicBezTo>
                  <a:cubicBezTo>
                    <a:pt x="169672" y="13113"/>
                    <a:pt x="169545" y="25178"/>
                    <a:pt x="177038" y="32544"/>
                  </a:cubicBezTo>
                  <a:lnTo>
                    <a:pt x="239776" y="95282"/>
                  </a:lnTo>
                  <a:lnTo>
                    <a:pt x="19050" y="95282"/>
                  </a:lnTo>
                  <a:cubicBezTo>
                    <a:pt x="8509" y="95282"/>
                    <a:pt x="0" y="103791"/>
                    <a:pt x="0" y="114332"/>
                  </a:cubicBezTo>
                  <a:cubicBezTo>
                    <a:pt x="0" y="124873"/>
                    <a:pt x="8509" y="133382"/>
                    <a:pt x="19050" y="133382"/>
                  </a:cubicBezTo>
                  <a:lnTo>
                    <a:pt x="239776" y="133382"/>
                  </a:lnTo>
                  <a:lnTo>
                    <a:pt x="177038" y="196120"/>
                  </a:lnTo>
                  <a:cubicBezTo>
                    <a:pt x="169545" y="203613"/>
                    <a:pt x="169545" y="215678"/>
                    <a:pt x="177038" y="223044"/>
                  </a:cubicBezTo>
                  <a:cubicBezTo>
                    <a:pt x="184531" y="230410"/>
                    <a:pt x="196596" y="230537"/>
                    <a:pt x="203962" y="223044"/>
                  </a:cubicBezTo>
                  <a:lnTo>
                    <a:pt x="299212" y="127794"/>
                  </a:lnTo>
                  <a:close/>
                </a:path>
              </a:pathLst>
            </a:custGeom>
            <a:solidFill>
              <a:srgbClr val="05DF7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514475" y="5968797"/>
            <a:ext cx="5124908" cy="346278"/>
            <a:chOff x="0" y="0"/>
            <a:chExt cx="5638800" cy="381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38800" cy="381000"/>
            </a:xfrm>
            <a:custGeom>
              <a:avLst/>
              <a:gdLst/>
              <a:ahLst/>
              <a:cxnLst/>
              <a:rect r="r" b="b" t="t" l="l"/>
              <a:pathLst>
                <a:path h="381000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6388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Acción:</a:t>
              </a: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Incorporar nuevas variables predictivas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9284494" y="1826419"/>
            <a:ext cx="8434388" cy="6148388"/>
          </a:xfrm>
          <a:custGeom>
            <a:avLst/>
            <a:gdLst/>
            <a:ahLst/>
            <a:cxnLst/>
            <a:rect r="r" b="b" t="t" l="l"/>
            <a:pathLst>
              <a:path h="6148388" w="8434388">
                <a:moveTo>
                  <a:pt x="0" y="0"/>
                </a:moveTo>
                <a:lnTo>
                  <a:pt x="8434387" y="0"/>
                </a:lnTo>
                <a:lnTo>
                  <a:pt x="8434387" y="6148387"/>
                </a:lnTo>
                <a:lnTo>
                  <a:pt x="0" y="61483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9872662" y="2414588"/>
            <a:ext cx="342900" cy="342900"/>
            <a:chOff x="0" y="0"/>
            <a:chExt cx="457200" cy="457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457200"/>
                  </a:moveTo>
                  <a:cubicBezTo>
                    <a:pt x="354711" y="457200"/>
                    <a:pt x="457200" y="354711"/>
                    <a:pt x="457200" y="228600"/>
                  </a:cubicBezTo>
                  <a:cubicBezTo>
                    <a:pt x="457200" y="102489"/>
                    <a:pt x="354711" y="0"/>
                    <a:pt x="228600" y="0"/>
                  </a:cubicBezTo>
                  <a:cubicBezTo>
                    <a:pt x="102489" y="0"/>
                    <a:pt x="0" y="102489"/>
                    <a:pt x="0" y="228600"/>
                  </a:cubicBezTo>
                  <a:cubicBezTo>
                    <a:pt x="0" y="354711"/>
                    <a:pt x="102489" y="457200"/>
                    <a:pt x="228600" y="457200"/>
                  </a:cubicBezTo>
                  <a:close/>
                  <a:moveTo>
                    <a:pt x="303911" y="189992"/>
                  </a:moveTo>
                  <a:lnTo>
                    <a:pt x="232537" y="304292"/>
                  </a:lnTo>
                  <a:cubicBezTo>
                    <a:pt x="228727" y="310261"/>
                    <a:pt x="222377" y="314071"/>
                    <a:pt x="215265" y="314325"/>
                  </a:cubicBezTo>
                  <a:cubicBezTo>
                    <a:pt x="208153" y="314579"/>
                    <a:pt x="201422" y="311404"/>
                    <a:pt x="197231" y="305689"/>
                  </a:cubicBezTo>
                  <a:lnTo>
                    <a:pt x="154432" y="248539"/>
                  </a:lnTo>
                  <a:cubicBezTo>
                    <a:pt x="147320" y="239014"/>
                    <a:pt x="149225" y="225679"/>
                    <a:pt x="158750" y="218567"/>
                  </a:cubicBezTo>
                  <a:cubicBezTo>
                    <a:pt x="168275" y="211455"/>
                    <a:pt x="181610" y="213360"/>
                    <a:pt x="188722" y="222885"/>
                  </a:cubicBezTo>
                  <a:lnTo>
                    <a:pt x="212852" y="255016"/>
                  </a:lnTo>
                  <a:lnTo>
                    <a:pt x="267716" y="167259"/>
                  </a:lnTo>
                  <a:cubicBezTo>
                    <a:pt x="273939" y="157226"/>
                    <a:pt x="287147" y="154178"/>
                    <a:pt x="297307" y="160528"/>
                  </a:cubicBezTo>
                  <a:cubicBezTo>
                    <a:pt x="307467" y="166878"/>
                    <a:pt x="310388" y="179959"/>
                    <a:pt x="304038" y="190119"/>
                  </a:cubicBezTo>
                  <a:close/>
                </a:path>
              </a:pathLst>
            </a:custGeom>
            <a:solidFill>
              <a:srgbClr val="FF6467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615612" y="2047746"/>
            <a:ext cx="2886075" cy="624016"/>
            <a:chOff x="0" y="0"/>
            <a:chExt cx="2819400" cy="609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819400" cy="609600"/>
            </a:xfrm>
            <a:custGeom>
              <a:avLst/>
              <a:gdLst/>
              <a:ahLst/>
              <a:cxnLst/>
              <a:rect r="r" b="b" t="t" l="l"/>
              <a:pathLst>
                <a:path h="609600" w="2819400">
                  <a:moveTo>
                    <a:pt x="0" y="0"/>
                  </a:moveTo>
                  <a:lnTo>
                    <a:pt x="2819400" y="0"/>
                  </a:lnTo>
                  <a:lnTo>
                    <a:pt x="2819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0118" r="0" b="-4011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8194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Clasificación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615612" y="2671762"/>
            <a:ext cx="2043112" cy="285750"/>
            <a:chOff x="0" y="0"/>
            <a:chExt cx="2724150" cy="381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724150" cy="381000"/>
            </a:xfrm>
            <a:custGeom>
              <a:avLst/>
              <a:gdLst/>
              <a:ahLst/>
              <a:cxnLst/>
              <a:rect r="r" b="b" t="t" l="l"/>
              <a:pathLst>
                <a:path h="381000" w="2724150">
                  <a:moveTo>
                    <a:pt x="0" y="0"/>
                  </a:moveTo>
                  <a:lnTo>
                    <a:pt x="2724150" y="0"/>
                  </a:lnTo>
                  <a:lnTo>
                    <a:pt x="2724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9318" r="0" b="-8931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7241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Entregas a Tiempo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9679781" y="3328988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0136981" y="3207097"/>
            <a:ext cx="3364706" cy="350490"/>
            <a:chOff x="0" y="0"/>
            <a:chExt cx="3657600" cy="381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0" cy="381000"/>
            </a:xfrm>
            <a:custGeom>
              <a:avLst/>
              <a:gdLst/>
              <a:ahLst/>
              <a:cxnLst/>
              <a:rect r="r" b="b" t="t" l="l"/>
              <a:pathLst>
                <a:path h="3810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6576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Random Forest: 67% accuracy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569119" y="8255794"/>
            <a:ext cx="17149762" cy="1462088"/>
          </a:xfrm>
          <a:custGeom>
            <a:avLst/>
            <a:gdLst/>
            <a:ahLst/>
            <a:cxnLst/>
            <a:rect r="r" b="b" t="t" l="l"/>
            <a:pathLst>
              <a:path h="1462088" w="17149762">
                <a:moveTo>
                  <a:pt x="0" y="0"/>
                </a:moveTo>
                <a:lnTo>
                  <a:pt x="17149762" y="0"/>
                </a:lnTo>
                <a:lnTo>
                  <a:pt x="17149762" y="1462087"/>
                </a:lnTo>
                <a:lnTo>
                  <a:pt x="0" y="146208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892969" y="8615362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528762" y="8558212"/>
            <a:ext cx="14173200" cy="400050"/>
            <a:chOff x="0" y="0"/>
            <a:chExt cx="18897600" cy="533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8897600" cy="533400"/>
            </a:xfrm>
            <a:custGeom>
              <a:avLst/>
              <a:gdLst/>
              <a:ahLst/>
              <a:cxnLst/>
              <a:rect r="r" b="b" t="t" l="l"/>
              <a:pathLst>
                <a:path h="533400" w="18897600">
                  <a:moveTo>
                    <a:pt x="0" y="0"/>
                  </a:moveTo>
                  <a:lnTo>
                    <a:pt x="18897600" y="0"/>
                  </a:lnTo>
                  <a:lnTo>
                    <a:pt x="188976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40327" r="0" b="-64032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188976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Métrica Clave de Negocio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514475" y="8986838"/>
            <a:ext cx="15377183" cy="1085850"/>
            <a:chOff x="0" y="0"/>
            <a:chExt cx="18878550" cy="133309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878550" cy="1333097"/>
            </a:xfrm>
            <a:custGeom>
              <a:avLst/>
              <a:gdLst/>
              <a:ahLst/>
              <a:cxnLst/>
              <a:rect r="r" b="b" t="t" l="l"/>
              <a:pathLst>
                <a:path h="1333097" w="18878550">
                  <a:moveTo>
                    <a:pt x="0" y="0"/>
                  </a:moveTo>
                  <a:lnTo>
                    <a:pt x="18878550" y="0"/>
                  </a:lnTo>
                  <a:lnTo>
                    <a:pt x="18878550" y="1333097"/>
                  </a:lnTo>
                  <a:lnTo>
                    <a:pt x="0" y="13330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8787" r="0" b="-19308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18878550" cy="1399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El 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análisis sugiere que e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dat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as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et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pres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enta una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señ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al p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red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i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c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tiv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a moderada, donde la mayor parte de la información relevante p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r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ovi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ne de:</a:t>
              </a:r>
            </a:p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el desc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u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en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t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o ofre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ci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do y el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peso de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pr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o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du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c</a:t>
              </a: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to.</a:t>
              </a:r>
            </a:p>
            <a:p>
              <a:pPr algn="l">
                <a:lnSpc>
                  <a:spcPts val="2808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41681" y="2185988"/>
            <a:ext cx="800100" cy="800100"/>
            <a:chOff x="0" y="0"/>
            <a:chExt cx="1066800" cy="1066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228600" y="0"/>
                  </a:moveTo>
                  <a:lnTo>
                    <a:pt x="838200" y="0"/>
                  </a:lnTo>
                  <a:cubicBezTo>
                    <a:pt x="964311" y="0"/>
                    <a:pt x="1066800" y="102489"/>
                    <a:pt x="1066800" y="228600"/>
                  </a:cubicBezTo>
                  <a:lnTo>
                    <a:pt x="1066800" y="838200"/>
                  </a:lnTo>
                  <a:cubicBezTo>
                    <a:pt x="1066800" y="964311"/>
                    <a:pt x="964311" y="1066800"/>
                    <a:pt x="838200" y="1066800"/>
                  </a:cubicBezTo>
                  <a:lnTo>
                    <a:pt x="228600" y="1066800"/>
                  </a:lnTo>
                  <a:cubicBezTo>
                    <a:pt x="102489" y="1066800"/>
                    <a:pt x="0" y="964311"/>
                    <a:pt x="0" y="8382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6467">
                <a:alpha val="3922"/>
              </a:srgbClr>
            </a:solidFill>
          </p:spPr>
        </p:sp>
      </p:grpSp>
      <p:sp>
        <p:nvSpPr>
          <p:cNvPr name="Freeform 71" id="71"/>
          <p:cNvSpPr/>
          <p:nvPr/>
        </p:nvSpPr>
        <p:spPr>
          <a:xfrm flipH="false" flipV="false" rot="0">
            <a:off x="9641681" y="4186238"/>
            <a:ext cx="225028" cy="257175"/>
          </a:xfrm>
          <a:custGeom>
            <a:avLst/>
            <a:gdLst/>
            <a:ahLst/>
            <a:cxnLst/>
            <a:rect r="r" b="b" t="t" l="l"/>
            <a:pathLst>
              <a:path h="257175" w="225028">
                <a:moveTo>
                  <a:pt x="0" y="0"/>
                </a:moveTo>
                <a:lnTo>
                  <a:pt x="225028" y="0"/>
                </a:lnTo>
                <a:lnTo>
                  <a:pt x="225028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10082813" y="4129088"/>
            <a:ext cx="4000500" cy="285750"/>
            <a:chOff x="0" y="0"/>
            <a:chExt cx="5334000" cy="381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334000" cy="381000"/>
            </a:xfrm>
            <a:custGeom>
              <a:avLst/>
              <a:gdLst/>
              <a:ahLst/>
              <a:cxnLst/>
              <a:rect r="r" b="b" t="t" l="l"/>
              <a:pathLst>
                <a:path h="381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5334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Problema: DATA, no MODELO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082813" y="4385242"/>
            <a:ext cx="5214938" cy="372496"/>
            <a:chOff x="0" y="0"/>
            <a:chExt cx="5334000" cy="381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34000" cy="381000"/>
            </a:xfrm>
            <a:custGeom>
              <a:avLst/>
              <a:gdLst/>
              <a:ahLst/>
              <a:cxnLst/>
              <a:rect r="r" b="b" t="t" l="l"/>
              <a:pathLst>
                <a:path h="381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3340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El dataset está </a:t>
              </a: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incompleto conceptualmente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641681" y="5094490"/>
            <a:ext cx="228600" cy="228600"/>
            <a:chOff x="0" y="0"/>
            <a:chExt cx="304800" cy="304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38068"/>
              <a:ext cx="304832" cy="228616"/>
            </a:xfrm>
            <a:custGeom>
              <a:avLst/>
              <a:gdLst/>
              <a:ahLst/>
              <a:cxnLst/>
              <a:rect r="r" b="b" t="t" l="l"/>
              <a:pathLst>
                <a:path h="228616" w="304832">
                  <a:moveTo>
                    <a:pt x="299212" y="127794"/>
                  </a:moveTo>
                  <a:cubicBezTo>
                    <a:pt x="306705" y="120301"/>
                    <a:pt x="306705" y="108236"/>
                    <a:pt x="299212" y="100870"/>
                  </a:cubicBezTo>
                  <a:lnTo>
                    <a:pt x="203962" y="5620"/>
                  </a:lnTo>
                  <a:cubicBezTo>
                    <a:pt x="196469" y="-1873"/>
                    <a:pt x="184404" y="-1873"/>
                    <a:pt x="177038" y="5620"/>
                  </a:cubicBezTo>
                  <a:cubicBezTo>
                    <a:pt x="169672" y="13113"/>
                    <a:pt x="169545" y="25178"/>
                    <a:pt x="177038" y="32544"/>
                  </a:cubicBezTo>
                  <a:lnTo>
                    <a:pt x="239776" y="95282"/>
                  </a:lnTo>
                  <a:lnTo>
                    <a:pt x="19050" y="95282"/>
                  </a:lnTo>
                  <a:cubicBezTo>
                    <a:pt x="8509" y="95282"/>
                    <a:pt x="0" y="103791"/>
                    <a:pt x="0" y="114332"/>
                  </a:cubicBezTo>
                  <a:cubicBezTo>
                    <a:pt x="0" y="124873"/>
                    <a:pt x="8509" y="133382"/>
                    <a:pt x="19050" y="133382"/>
                  </a:cubicBezTo>
                  <a:lnTo>
                    <a:pt x="239776" y="133382"/>
                  </a:lnTo>
                  <a:lnTo>
                    <a:pt x="177038" y="196120"/>
                  </a:lnTo>
                  <a:cubicBezTo>
                    <a:pt x="169545" y="203613"/>
                    <a:pt x="169545" y="215678"/>
                    <a:pt x="177038" y="223044"/>
                  </a:cubicBezTo>
                  <a:cubicBezTo>
                    <a:pt x="184531" y="230410"/>
                    <a:pt x="196596" y="230537"/>
                    <a:pt x="203962" y="223044"/>
                  </a:cubicBezTo>
                  <a:lnTo>
                    <a:pt x="299212" y="127794"/>
                  </a:lnTo>
                  <a:close/>
                </a:path>
              </a:pathLst>
            </a:custGeom>
            <a:solidFill>
              <a:srgbClr val="05DF72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013156" y="5005388"/>
            <a:ext cx="5124908" cy="346278"/>
            <a:chOff x="0" y="0"/>
            <a:chExt cx="5638800" cy="3810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638800" cy="381000"/>
            </a:xfrm>
            <a:custGeom>
              <a:avLst/>
              <a:gdLst/>
              <a:ahLst/>
              <a:cxnLst/>
              <a:rect r="r" b="b" t="t" l="l"/>
              <a:pathLst>
                <a:path h="381000" w="5638800">
                  <a:moveTo>
                    <a:pt x="0" y="0"/>
                  </a:moveTo>
                  <a:lnTo>
                    <a:pt x="5638800" y="0"/>
                  </a:lnTo>
                  <a:lnTo>
                    <a:pt x="56388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8378" r="0" b="-23837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563880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Acción:</a:t>
              </a: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 Incorporar nuevas variables predictivas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towardsdatascience.com/0e162d4443b8e19021083b139188b04155696080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0" t="-16167" r="0" b="-1616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191919">
                    <a:alpha val="95000"/>
                  </a:srgbClr>
                </a:gs>
                <a:gs pos="50000">
                  <a:srgbClr val="191919">
                    <a:alpha val="90000"/>
                  </a:srgbClr>
                </a:gs>
                <a:gs pos="100000">
                  <a:srgbClr val="191919">
                    <a:alpha val="95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657225"/>
            <a:ext cx="685800" cy="685800"/>
            <a:chOff x="0" y="0"/>
            <a:chExt cx="9144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228600" y="0"/>
                  </a:moveTo>
                  <a:lnTo>
                    <a:pt x="685800" y="0"/>
                  </a:lnTo>
                  <a:cubicBezTo>
                    <a:pt x="811911" y="0"/>
                    <a:pt x="914400" y="102489"/>
                    <a:pt x="914400" y="228600"/>
                  </a:cubicBezTo>
                  <a:lnTo>
                    <a:pt x="914400" y="685800"/>
                  </a:lnTo>
                  <a:cubicBezTo>
                    <a:pt x="914400" y="811911"/>
                    <a:pt x="811911" y="914400"/>
                    <a:pt x="685800" y="914400"/>
                  </a:cubicBezTo>
                  <a:lnTo>
                    <a:pt x="228600" y="914400"/>
                  </a:lnTo>
                  <a:cubicBezTo>
                    <a:pt x="102489" y="914400"/>
                    <a:pt x="0" y="811911"/>
                    <a:pt x="0" y="68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6366F1">
                <a:alpha val="3922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1519" y="828675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428750" y="571500"/>
            <a:ext cx="4300538" cy="285750"/>
            <a:chOff x="0" y="0"/>
            <a:chExt cx="5734050" cy="38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34050" cy="381000"/>
            </a:xfrm>
            <a:custGeom>
              <a:avLst/>
              <a:gdLst/>
              <a:ahLst/>
              <a:cxnLst/>
              <a:rect r="r" b="b" t="t" l="l"/>
              <a:pathLst>
                <a:path h="381000" w="5734050">
                  <a:moveTo>
                    <a:pt x="0" y="0"/>
                  </a:moveTo>
                  <a:lnTo>
                    <a:pt x="5734050" y="0"/>
                  </a:lnTo>
                  <a:lnTo>
                    <a:pt x="57340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3249" r="0" b="-24324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7340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b="true" sz="1575" spc="79">
                  <a:solidFill>
                    <a:srgbClr val="8F8F8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Tecnología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8750" y="781233"/>
            <a:ext cx="5050631" cy="647517"/>
            <a:chOff x="0" y="0"/>
            <a:chExt cx="5943600" cy="762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43600" cy="762000"/>
            </a:xfrm>
            <a:custGeom>
              <a:avLst/>
              <a:gdLst/>
              <a:ahLst/>
              <a:cxnLst/>
              <a:rect r="r" b="b" t="t" l="l"/>
              <a:pathLst>
                <a:path h="7620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5943600" cy="714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Stack Tecnológico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1500" y="1657350"/>
            <a:ext cx="17259300" cy="342900"/>
            <a:chOff x="0" y="0"/>
            <a:chExt cx="230124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30124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Herramientas y librerías utilizadas en el análisis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69119" y="2359857"/>
            <a:ext cx="4119562" cy="3205162"/>
          </a:xfrm>
          <a:custGeom>
            <a:avLst/>
            <a:gdLst/>
            <a:ahLst/>
            <a:cxnLst/>
            <a:rect r="r" b="b" t="t" l="l"/>
            <a:pathLst>
              <a:path h="3205162" w="4119562">
                <a:moveTo>
                  <a:pt x="0" y="0"/>
                </a:moveTo>
                <a:lnTo>
                  <a:pt x="4119562" y="0"/>
                </a:lnTo>
                <a:lnTo>
                  <a:pt x="4119562" y="3205162"/>
                </a:lnTo>
                <a:lnTo>
                  <a:pt x="0" y="32051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55472" y="2662276"/>
            <a:ext cx="375047" cy="428625"/>
          </a:xfrm>
          <a:custGeom>
            <a:avLst/>
            <a:gdLst/>
            <a:ahLst/>
            <a:cxnLst/>
            <a:rect r="r" b="b" t="t" l="l"/>
            <a:pathLst>
              <a:path h="428625" w="375047">
                <a:moveTo>
                  <a:pt x="0" y="0"/>
                </a:moveTo>
                <a:lnTo>
                  <a:pt x="375047" y="0"/>
                </a:lnTo>
                <a:lnTo>
                  <a:pt x="375047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578769" y="2676563"/>
            <a:ext cx="757238" cy="400050"/>
            <a:chOff x="0" y="0"/>
            <a:chExt cx="1009650" cy="533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9650" cy="533400"/>
            </a:xfrm>
            <a:custGeom>
              <a:avLst/>
              <a:gdLst/>
              <a:ahLst/>
              <a:cxnLst/>
              <a:rect r="r" b="b" t="t" l="l"/>
              <a:pathLst>
                <a:path h="533400" w="1009650">
                  <a:moveTo>
                    <a:pt x="0" y="0"/>
                  </a:moveTo>
                  <a:lnTo>
                    <a:pt x="1009650" y="0"/>
                  </a:lnTo>
                  <a:lnTo>
                    <a:pt x="10096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7783" t="0" r="-1778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0096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Core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69156" y="3317119"/>
            <a:ext cx="3519488" cy="890588"/>
          </a:xfrm>
          <a:custGeom>
            <a:avLst/>
            <a:gdLst/>
            <a:ahLst/>
            <a:cxnLst/>
            <a:rect r="r" b="b" t="t" l="l"/>
            <a:pathLst>
              <a:path h="890588" w="3519488">
                <a:moveTo>
                  <a:pt x="0" y="0"/>
                </a:moveTo>
                <a:lnTo>
                  <a:pt x="3519488" y="0"/>
                </a:lnTo>
                <a:lnTo>
                  <a:pt x="3519488" y="890588"/>
                </a:lnTo>
                <a:lnTo>
                  <a:pt x="0" y="890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57275" y="3505238"/>
            <a:ext cx="3243262" cy="285750"/>
            <a:chOff x="0" y="0"/>
            <a:chExt cx="4324350" cy="38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243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24350">
                  <a:moveTo>
                    <a:pt x="0" y="0"/>
                  </a:moveTo>
                  <a:lnTo>
                    <a:pt x="4324350" y="0"/>
                  </a:lnTo>
                  <a:lnTo>
                    <a:pt x="4324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1155" r="0" b="-17115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324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pandas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57275" y="3790988"/>
            <a:ext cx="3228975" cy="228600"/>
            <a:chOff x="0" y="0"/>
            <a:chExt cx="4305300" cy="304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05300" cy="304800"/>
            </a:xfrm>
            <a:custGeom>
              <a:avLst/>
              <a:gdLst/>
              <a:ahLst/>
              <a:cxnLst/>
              <a:rect r="r" b="b" t="t" l="l"/>
              <a:pathLst>
                <a:path h="30480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5226" r="0" b="-22522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3053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Manipulación de datos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869156" y="4374394"/>
            <a:ext cx="3519488" cy="890588"/>
          </a:xfrm>
          <a:custGeom>
            <a:avLst/>
            <a:gdLst/>
            <a:ahLst/>
            <a:cxnLst/>
            <a:rect r="r" b="b" t="t" l="l"/>
            <a:pathLst>
              <a:path h="890588" w="3519488">
                <a:moveTo>
                  <a:pt x="0" y="0"/>
                </a:moveTo>
                <a:lnTo>
                  <a:pt x="3519488" y="0"/>
                </a:lnTo>
                <a:lnTo>
                  <a:pt x="3519488" y="890588"/>
                </a:lnTo>
                <a:lnTo>
                  <a:pt x="0" y="890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057275" y="4562513"/>
            <a:ext cx="3243262" cy="285750"/>
            <a:chOff x="0" y="0"/>
            <a:chExt cx="4324350" cy="38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243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24350">
                  <a:moveTo>
                    <a:pt x="0" y="0"/>
                  </a:moveTo>
                  <a:lnTo>
                    <a:pt x="4324350" y="0"/>
                  </a:lnTo>
                  <a:lnTo>
                    <a:pt x="4324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1155" r="0" b="-17115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324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numpy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57275" y="4848263"/>
            <a:ext cx="3228975" cy="228600"/>
            <a:chOff x="0" y="0"/>
            <a:chExt cx="4305300" cy="304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05300" cy="304800"/>
            </a:xfrm>
            <a:custGeom>
              <a:avLst/>
              <a:gdLst/>
              <a:ahLst/>
              <a:cxnLst/>
              <a:rect r="r" b="b" t="t" l="l"/>
              <a:pathLst>
                <a:path h="30480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5226" r="0" b="-22522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3053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Operaciones numéricas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4912519" y="2359857"/>
            <a:ext cx="4119562" cy="3205162"/>
          </a:xfrm>
          <a:custGeom>
            <a:avLst/>
            <a:gdLst/>
            <a:ahLst/>
            <a:cxnLst/>
            <a:rect r="r" b="b" t="t" l="l"/>
            <a:pathLst>
              <a:path h="3205162" w="4119562">
                <a:moveTo>
                  <a:pt x="0" y="0"/>
                </a:moveTo>
                <a:lnTo>
                  <a:pt x="4119562" y="0"/>
                </a:lnTo>
                <a:lnTo>
                  <a:pt x="4119562" y="3205162"/>
                </a:lnTo>
                <a:lnTo>
                  <a:pt x="0" y="32051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218509" y="2662276"/>
            <a:ext cx="535781" cy="428625"/>
          </a:xfrm>
          <a:custGeom>
            <a:avLst/>
            <a:gdLst/>
            <a:ahLst/>
            <a:cxnLst/>
            <a:rect r="r" b="b" t="t" l="l"/>
            <a:pathLst>
              <a:path h="428625" w="535781">
                <a:moveTo>
                  <a:pt x="0" y="0"/>
                </a:moveTo>
                <a:lnTo>
                  <a:pt x="535782" y="0"/>
                </a:lnTo>
                <a:lnTo>
                  <a:pt x="535782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5922169" y="2676563"/>
            <a:ext cx="557212" cy="400050"/>
            <a:chOff x="0" y="0"/>
            <a:chExt cx="742950" cy="533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42950" cy="533400"/>
            </a:xfrm>
            <a:custGeom>
              <a:avLst/>
              <a:gdLst/>
              <a:ahLst/>
              <a:cxnLst/>
              <a:rect r="r" b="b" t="t" l="l"/>
              <a:pathLst>
                <a:path h="53340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2115" t="0" r="-42115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7429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ML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5212556" y="3317119"/>
            <a:ext cx="3519488" cy="890588"/>
          </a:xfrm>
          <a:custGeom>
            <a:avLst/>
            <a:gdLst/>
            <a:ahLst/>
            <a:cxnLst/>
            <a:rect r="r" b="b" t="t" l="l"/>
            <a:pathLst>
              <a:path h="890588" w="3519488">
                <a:moveTo>
                  <a:pt x="0" y="0"/>
                </a:moveTo>
                <a:lnTo>
                  <a:pt x="3519488" y="0"/>
                </a:lnTo>
                <a:lnTo>
                  <a:pt x="3519488" y="890588"/>
                </a:lnTo>
                <a:lnTo>
                  <a:pt x="0" y="890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5400675" y="3505238"/>
            <a:ext cx="3243262" cy="285750"/>
            <a:chOff x="0" y="0"/>
            <a:chExt cx="4324350" cy="381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243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24350">
                  <a:moveTo>
                    <a:pt x="0" y="0"/>
                  </a:moveTo>
                  <a:lnTo>
                    <a:pt x="4324350" y="0"/>
                  </a:lnTo>
                  <a:lnTo>
                    <a:pt x="4324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1155" r="0" b="-17115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324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scikit-learn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400675" y="3790988"/>
            <a:ext cx="3228975" cy="228600"/>
            <a:chOff x="0" y="0"/>
            <a:chExt cx="4305300" cy="304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05300" cy="304800"/>
            </a:xfrm>
            <a:custGeom>
              <a:avLst/>
              <a:gdLst/>
              <a:ahLst/>
              <a:cxnLst/>
              <a:rect r="r" b="b" t="t" l="l"/>
              <a:pathLst>
                <a:path h="30480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5226" r="0" b="-22522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43053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Modelos y métricas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5212556" y="4374394"/>
            <a:ext cx="3519488" cy="890588"/>
          </a:xfrm>
          <a:custGeom>
            <a:avLst/>
            <a:gdLst/>
            <a:ahLst/>
            <a:cxnLst/>
            <a:rect r="r" b="b" t="t" l="l"/>
            <a:pathLst>
              <a:path h="890588" w="3519488">
                <a:moveTo>
                  <a:pt x="0" y="0"/>
                </a:moveTo>
                <a:lnTo>
                  <a:pt x="3519488" y="0"/>
                </a:lnTo>
                <a:lnTo>
                  <a:pt x="3519488" y="890588"/>
                </a:lnTo>
                <a:lnTo>
                  <a:pt x="0" y="890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5400675" y="4562513"/>
            <a:ext cx="3243262" cy="285750"/>
            <a:chOff x="0" y="0"/>
            <a:chExt cx="4324350" cy="381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243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24350">
                  <a:moveTo>
                    <a:pt x="0" y="0"/>
                  </a:moveTo>
                  <a:lnTo>
                    <a:pt x="4324350" y="0"/>
                  </a:lnTo>
                  <a:lnTo>
                    <a:pt x="4324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1155" r="0" b="-17115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324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Pipeline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00675" y="4848263"/>
            <a:ext cx="3228975" cy="228600"/>
            <a:chOff x="0" y="0"/>
            <a:chExt cx="4305300" cy="304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05300" cy="304800"/>
            </a:xfrm>
            <a:custGeom>
              <a:avLst/>
              <a:gdLst/>
              <a:ahLst/>
              <a:cxnLst/>
              <a:rect r="r" b="b" t="t" l="l"/>
              <a:pathLst>
                <a:path h="30480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5226" r="0" b="-22522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43053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Flujo de trabajo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9255919" y="2359857"/>
            <a:ext cx="4119562" cy="3205162"/>
          </a:xfrm>
          <a:custGeom>
            <a:avLst/>
            <a:gdLst/>
            <a:ahLst/>
            <a:cxnLst/>
            <a:rect r="r" b="b" t="t" l="l"/>
            <a:pathLst>
              <a:path h="3205162" w="4119562">
                <a:moveTo>
                  <a:pt x="0" y="0"/>
                </a:moveTo>
                <a:lnTo>
                  <a:pt x="4119562" y="0"/>
                </a:lnTo>
                <a:lnTo>
                  <a:pt x="4119562" y="3205162"/>
                </a:lnTo>
                <a:lnTo>
                  <a:pt x="0" y="32051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9615488" y="2662276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4" y="0"/>
                </a:lnTo>
                <a:lnTo>
                  <a:pt x="428624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0265569" y="2662276"/>
            <a:ext cx="547517" cy="414338"/>
            <a:chOff x="0" y="0"/>
            <a:chExt cx="704850" cy="533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4850" cy="533400"/>
            </a:xfrm>
            <a:custGeom>
              <a:avLst/>
              <a:gdLst/>
              <a:ahLst/>
              <a:cxnLst/>
              <a:rect r="r" b="b" t="t" l="l"/>
              <a:pathLst>
                <a:path h="533400" w="704850">
                  <a:moveTo>
                    <a:pt x="0" y="0"/>
                  </a:moveTo>
                  <a:lnTo>
                    <a:pt x="704850" y="0"/>
                  </a:lnTo>
                  <a:lnTo>
                    <a:pt x="704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7094" t="0" r="-47094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70485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Viz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9555956" y="3317119"/>
            <a:ext cx="3519488" cy="890588"/>
          </a:xfrm>
          <a:custGeom>
            <a:avLst/>
            <a:gdLst/>
            <a:ahLst/>
            <a:cxnLst/>
            <a:rect r="r" b="b" t="t" l="l"/>
            <a:pathLst>
              <a:path h="890588" w="3519488">
                <a:moveTo>
                  <a:pt x="0" y="0"/>
                </a:moveTo>
                <a:lnTo>
                  <a:pt x="3519488" y="0"/>
                </a:lnTo>
                <a:lnTo>
                  <a:pt x="3519488" y="890588"/>
                </a:lnTo>
                <a:lnTo>
                  <a:pt x="0" y="890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9744075" y="3505238"/>
            <a:ext cx="3243262" cy="285750"/>
            <a:chOff x="0" y="0"/>
            <a:chExt cx="4324350" cy="381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243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24350">
                  <a:moveTo>
                    <a:pt x="0" y="0"/>
                  </a:moveTo>
                  <a:lnTo>
                    <a:pt x="4324350" y="0"/>
                  </a:lnTo>
                  <a:lnTo>
                    <a:pt x="4324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1155" r="0" b="-17115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324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matplotlib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744075" y="3790988"/>
            <a:ext cx="3228975" cy="228600"/>
            <a:chOff x="0" y="0"/>
            <a:chExt cx="4305300" cy="304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305300" cy="304800"/>
            </a:xfrm>
            <a:custGeom>
              <a:avLst/>
              <a:gdLst/>
              <a:ahLst/>
              <a:cxnLst/>
              <a:rect r="r" b="b" t="t" l="l"/>
              <a:pathLst>
                <a:path h="30480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5226" r="0" b="-22522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43053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Visualización básica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9555956" y="4374394"/>
            <a:ext cx="3519488" cy="890588"/>
          </a:xfrm>
          <a:custGeom>
            <a:avLst/>
            <a:gdLst/>
            <a:ahLst/>
            <a:cxnLst/>
            <a:rect r="r" b="b" t="t" l="l"/>
            <a:pathLst>
              <a:path h="890588" w="3519488">
                <a:moveTo>
                  <a:pt x="0" y="0"/>
                </a:moveTo>
                <a:lnTo>
                  <a:pt x="3519488" y="0"/>
                </a:lnTo>
                <a:lnTo>
                  <a:pt x="3519488" y="890588"/>
                </a:lnTo>
                <a:lnTo>
                  <a:pt x="0" y="890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9744075" y="4562513"/>
            <a:ext cx="3243262" cy="285750"/>
            <a:chOff x="0" y="0"/>
            <a:chExt cx="4324350" cy="3810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243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24350">
                  <a:moveTo>
                    <a:pt x="0" y="0"/>
                  </a:moveTo>
                  <a:lnTo>
                    <a:pt x="4324350" y="0"/>
                  </a:lnTo>
                  <a:lnTo>
                    <a:pt x="4324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1155" r="0" b="-17115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324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seaborn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744075" y="4848263"/>
            <a:ext cx="3228975" cy="228600"/>
            <a:chOff x="0" y="0"/>
            <a:chExt cx="4305300" cy="304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305300" cy="304800"/>
            </a:xfrm>
            <a:custGeom>
              <a:avLst/>
              <a:gdLst/>
              <a:ahLst/>
              <a:cxnLst/>
              <a:rect r="r" b="b" t="t" l="l"/>
              <a:pathLst>
                <a:path h="30480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5226" r="0" b="-22522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43053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Visualización estadística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13599319" y="2359857"/>
            <a:ext cx="4119562" cy="3205162"/>
          </a:xfrm>
          <a:custGeom>
            <a:avLst/>
            <a:gdLst/>
            <a:ahLst/>
            <a:cxnLst/>
            <a:rect r="r" b="b" t="t" l="l"/>
            <a:pathLst>
              <a:path h="3205162" w="4119562">
                <a:moveTo>
                  <a:pt x="0" y="0"/>
                </a:moveTo>
                <a:lnTo>
                  <a:pt x="4119562" y="0"/>
                </a:lnTo>
                <a:lnTo>
                  <a:pt x="4119562" y="3205162"/>
                </a:lnTo>
                <a:lnTo>
                  <a:pt x="0" y="32051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3905309" y="2662276"/>
            <a:ext cx="535781" cy="428625"/>
          </a:xfrm>
          <a:custGeom>
            <a:avLst/>
            <a:gdLst/>
            <a:ahLst/>
            <a:cxnLst/>
            <a:rect r="r" b="b" t="t" l="l"/>
            <a:pathLst>
              <a:path h="428625" w="535781">
                <a:moveTo>
                  <a:pt x="0" y="0"/>
                </a:moveTo>
                <a:lnTo>
                  <a:pt x="535782" y="0"/>
                </a:lnTo>
                <a:lnTo>
                  <a:pt x="535782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4608969" y="2676563"/>
            <a:ext cx="1143000" cy="400050"/>
            <a:chOff x="0" y="0"/>
            <a:chExt cx="1524000" cy="533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524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1524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Preproc</a:t>
              </a:r>
            </a:p>
          </p:txBody>
        </p:sp>
      </p:grpSp>
      <p:sp>
        <p:nvSpPr>
          <p:cNvPr name="Freeform 80" id="80"/>
          <p:cNvSpPr/>
          <p:nvPr/>
        </p:nvSpPr>
        <p:spPr>
          <a:xfrm flipH="false" flipV="false" rot="0">
            <a:off x="13899356" y="3317119"/>
            <a:ext cx="3519488" cy="890588"/>
          </a:xfrm>
          <a:custGeom>
            <a:avLst/>
            <a:gdLst/>
            <a:ahLst/>
            <a:cxnLst/>
            <a:rect r="r" b="b" t="t" l="l"/>
            <a:pathLst>
              <a:path h="890588" w="3519488">
                <a:moveTo>
                  <a:pt x="0" y="0"/>
                </a:moveTo>
                <a:lnTo>
                  <a:pt x="3519488" y="0"/>
                </a:lnTo>
                <a:lnTo>
                  <a:pt x="3519488" y="890588"/>
                </a:lnTo>
                <a:lnTo>
                  <a:pt x="0" y="890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14087475" y="3505238"/>
            <a:ext cx="3243262" cy="285750"/>
            <a:chOff x="0" y="0"/>
            <a:chExt cx="4324350" cy="3810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3243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24350">
                  <a:moveTo>
                    <a:pt x="0" y="0"/>
                  </a:moveTo>
                  <a:lnTo>
                    <a:pt x="4324350" y="0"/>
                  </a:lnTo>
                  <a:lnTo>
                    <a:pt x="4324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1155" r="0" b="-17115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4324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StandardScaler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087475" y="3790988"/>
            <a:ext cx="3228975" cy="228600"/>
            <a:chOff x="0" y="0"/>
            <a:chExt cx="4305300" cy="304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305300" cy="304800"/>
            </a:xfrm>
            <a:custGeom>
              <a:avLst/>
              <a:gdLst/>
              <a:ahLst/>
              <a:cxnLst/>
              <a:rect r="r" b="b" t="t" l="l"/>
              <a:pathLst>
                <a:path h="30480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5226" r="0" b="-22522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43053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Normalización</a:t>
              </a: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13899356" y="4374394"/>
            <a:ext cx="3519488" cy="890588"/>
          </a:xfrm>
          <a:custGeom>
            <a:avLst/>
            <a:gdLst/>
            <a:ahLst/>
            <a:cxnLst/>
            <a:rect r="r" b="b" t="t" l="l"/>
            <a:pathLst>
              <a:path h="890588" w="3519488">
                <a:moveTo>
                  <a:pt x="0" y="0"/>
                </a:moveTo>
                <a:lnTo>
                  <a:pt x="3519488" y="0"/>
                </a:lnTo>
                <a:lnTo>
                  <a:pt x="3519488" y="890588"/>
                </a:lnTo>
                <a:lnTo>
                  <a:pt x="0" y="8905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14087475" y="4562513"/>
            <a:ext cx="3243262" cy="285750"/>
            <a:chOff x="0" y="0"/>
            <a:chExt cx="4324350" cy="3810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324350" cy="381000"/>
            </a:xfrm>
            <a:custGeom>
              <a:avLst/>
              <a:gdLst/>
              <a:ahLst/>
              <a:cxnLst/>
              <a:rect r="r" b="b" t="t" l="l"/>
              <a:pathLst>
                <a:path h="381000" w="4324350">
                  <a:moveTo>
                    <a:pt x="0" y="0"/>
                  </a:moveTo>
                  <a:lnTo>
                    <a:pt x="4324350" y="0"/>
                  </a:lnTo>
                  <a:lnTo>
                    <a:pt x="4324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1155" r="0" b="-17115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4324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ColumnTransformer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087475" y="4848263"/>
            <a:ext cx="3228975" cy="228600"/>
            <a:chOff x="0" y="0"/>
            <a:chExt cx="4305300" cy="3048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305300" cy="304800"/>
            </a:xfrm>
            <a:custGeom>
              <a:avLst/>
              <a:gdLst/>
              <a:ahLst/>
              <a:cxnLst/>
              <a:rect r="r" b="b" t="t" l="l"/>
              <a:pathLst>
                <a:path h="30480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25226" r="0" b="-22522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43053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Transformación</a:t>
              </a:r>
            </a:p>
          </p:txBody>
        </p:sp>
      </p:grpSp>
      <p:sp>
        <p:nvSpPr>
          <p:cNvPr name="Freeform 94" id="94"/>
          <p:cNvSpPr/>
          <p:nvPr/>
        </p:nvSpPr>
        <p:spPr>
          <a:xfrm flipH="false" flipV="false" rot="0">
            <a:off x="569119" y="5922131"/>
            <a:ext cx="17149762" cy="2119312"/>
          </a:xfrm>
          <a:custGeom>
            <a:avLst/>
            <a:gdLst/>
            <a:ahLst/>
            <a:cxnLst/>
            <a:rect r="r" b="b" t="t" l="l"/>
            <a:pathLst>
              <a:path h="2119312" w="17149762">
                <a:moveTo>
                  <a:pt x="0" y="0"/>
                </a:moveTo>
                <a:lnTo>
                  <a:pt x="17149762" y="0"/>
                </a:lnTo>
                <a:lnTo>
                  <a:pt x="17149762" y="2119312"/>
                </a:lnTo>
                <a:lnTo>
                  <a:pt x="0" y="211931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907256" y="6295987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6" id="96"/>
          <p:cNvGrpSpPr/>
          <p:nvPr/>
        </p:nvGrpSpPr>
        <p:grpSpPr>
          <a:xfrm rot="0">
            <a:off x="1200150" y="6224549"/>
            <a:ext cx="16344900" cy="400050"/>
            <a:chOff x="0" y="0"/>
            <a:chExt cx="21793200" cy="5334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1793200" cy="533400"/>
            </a:xfrm>
            <a:custGeom>
              <a:avLst/>
              <a:gdLst/>
              <a:ahLst/>
              <a:cxnLst/>
              <a:rect r="r" b="b" t="t" l="l"/>
              <a:pathLst>
                <a:path h="533400" w="21793200">
                  <a:moveTo>
                    <a:pt x="0" y="0"/>
                  </a:moveTo>
                  <a:lnTo>
                    <a:pt x="21793200" y="0"/>
                  </a:lnTo>
                  <a:lnTo>
                    <a:pt x="217932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46102" r="0" b="-746102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66675"/>
              <a:ext cx="217932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Modelos Implementados</a:t>
              </a:r>
            </a:p>
          </p:txBody>
        </p:sp>
      </p:grpSp>
      <p:sp>
        <p:nvSpPr>
          <p:cNvPr name="Freeform 99" id="99"/>
          <p:cNvSpPr/>
          <p:nvPr/>
        </p:nvSpPr>
        <p:spPr>
          <a:xfrm flipH="false" flipV="false" rot="0">
            <a:off x="869156" y="6850818"/>
            <a:ext cx="3176588" cy="890588"/>
          </a:xfrm>
          <a:custGeom>
            <a:avLst/>
            <a:gdLst/>
            <a:ahLst/>
            <a:cxnLst/>
            <a:rect r="r" b="b" t="t" l="l"/>
            <a:pathLst>
              <a:path h="890588" w="3176588">
                <a:moveTo>
                  <a:pt x="0" y="0"/>
                </a:moveTo>
                <a:lnTo>
                  <a:pt x="3176588" y="0"/>
                </a:lnTo>
                <a:lnTo>
                  <a:pt x="3176588" y="890588"/>
                </a:lnTo>
                <a:lnTo>
                  <a:pt x="0" y="89058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1007269" y="7038937"/>
            <a:ext cx="2900362" cy="285750"/>
            <a:chOff x="0" y="0"/>
            <a:chExt cx="3867150" cy="3810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8671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LinearRegression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14412" y="7324687"/>
            <a:ext cx="2886075" cy="228600"/>
            <a:chOff x="0" y="0"/>
            <a:chExt cx="3848100" cy="3048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38481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48100">
                  <a:moveTo>
                    <a:pt x="0" y="0"/>
                  </a:moveTo>
                  <a:lnTo>
                    <a:pt x="3848100" y="0"/>
                  </a:lnTo>
                  <a:lnTo>
                    <a:pt x="38481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38481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Regresión</a:t>
              </a:r>
            </a:p>
          </p:txBody>
        </p:sp>
      </p:grpSp>
      <p:sp>
        <p:nvSpPr>
          <p:cNvPr name="Freeform 106" id="106"/>
          <p:cNvSpPr/>
          <p:nvPr/>
        </p:nvSpPr>
        <p:spPr>
          <a:xfrm flipH="false" flipV="false" rot="0">
            <a:off x="4212431" y="6850818"/>
            <a:ext cx="3176588" cy="890588"/>
          </a:xfrm>
          <a:custGeom>
            <a:avLst/>
            <a:gdLst/>
            <a:ahLst/>
            <a:cxnLst/>
            <a:rect r="r" b="b" t="t" l="l"/>
            <a:pathLst>
              <a:path h="890588" w="3176588">
                <a:moveTo>
                  <a:pt x="0" y="0"/>
                </a:moveTo>
                <a:lnTo>
                  <a:pt x="3176588" y="0"/>
                </a:lnTo>
                <a:lnTo>
                  <a:pt x="3176588" y="890588"/>
                </a:lnTo>
                <a:lnTo>
                  <a:pt x="0" y="89058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7" id="107"/>
          <p:cNvGrpSpPr/>
          <p:nvPr/>
        </p:nvGrpSpPr>
        <p:grpSpPr>
          <a:xfrm rot="0">
            <a:off x="4350544" y="7038937"/>
            <a:ext cx="2900362" cy="285750"/>
            <a:chOff x="0" y="0"/>
            <a:chExt cx="3867150" cy="3810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38671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Ridge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4357688" y="7324687"/>
            <a:ext cx="2886075" cy="228600"/>
            <a:chOff x="0" y="0"/>
            <a:chExt cx="3848100" cy="3048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8481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48100">
                  <a:moveTo>
                    <a:pt x="0" y="0"/>
                  </a:moveTo>
                  <a:lnTo>
                    <a:pt x="3848100" y="0"/>
                  </a:lnTo>
                  <a:lnTo>
                    <a:pt x="38481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8481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L2</a:t>
              </a:r>
            </a:p>
          </p:txBody>
        </p:sp>
      </p:grpSp>
      <p:sp>
        <p:nvSpPr>
          <p:cNvPr name="Freeform 113" id="113"/>
          <p:cNvSpPr/>
          <p:nvPr/>
        </p:nvSpPr>
        <p:spPr>
          <a:xfrm flipH="false" flipV="false" rot="0">
            <a:off x="7555706" y="6850818"/>
            <a:ext cx="3176588" cy="890588"/>
          </a:xfrm>
          <a:custGeom>
            <a:avLst/>
            <a:gdLst/>
            <a:ahLst/>
            <a:cxnLst/>
            <a:rect r="r" b="b" t="t" l="l"/>
            <a:pathLst>
              <a:path h="890588" w="3176588">
                <a:moveTo>
                  <a:pt x="0" y="0"/>
                </a:moveTo>
                <a:lnTo>
                  <a:pt x="3176588" y="0"/>
                </a:lnTo>
                <a:lnTo>
                  <a:pt x="3176588" y="890588"/>
                </a:lnTo>
                <a:lnTo>
                  <a:pt x="0" y="89058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4" id="114"/>
          <p:cNvGrpSpPr/>
          <p:nvPr/>
        </p:nvGrpSpPr>
        <p:grpSpPr>
          <a:xfrm rot="0">
            <a:off x="7693819" y="7038937"/>
            <a:ext cx="2900362" cy="285750"/>
            <a:chOff x="0" y="0"/>
            <a:chExt cx="3867150" cy="3810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38671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Lasso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7700962" y="7324687"/>
            <a:ext cx="2886075" cy="228600"/>
            <a:chOff x="0" y="0"/>
            <a:chExt cx="3848100" cy="3048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8481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48100">
                  <a:moveTo>
                    <a:pt x="0" y="0"/>
                  </a:moveTo>
                  <a:lnTo>
                    <a:pt x="3848100" y="0"/>
                  </a:lnTo>
                  <a:lnTo>
                    <a:pt x="38481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38481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L1</a:t>
              </a:r>
            </a:p>
          </p:txBody>
        </p:sp>
      </p:grpSp>
      <p:sp>
        <p:nvSpPr>
          <p:cNvPr name="Freeform 120" id="120"/>
          <p:cNvSpPr/>
          <p:nvPr/>
        </p:nvSpPr>
        <p:spPr>
          <a:xfrm flipH="false" flipV="false" rot="0">
            <a:off x="10898981" y="6850818"/>
            <a:ext cx="3176588" cy="890588"/>
          </a:xfrm>
          <a:custGeom>
            <a:avLst/>
            <a:gdLst/>
            <a:ahLst/>
            <a:cxnLst/>
            <a:rect r="r" b="b" t="t" l="l"/>
            <a:pathLst>
              <a:path h="890588" w="3176588">
                <a:moveTo>
                  <a:pt x="0" y="0"/>
                </a:moveTo>
                <a:lnTo>
                  <a:pt x="3176588" y="0"/>
                </a:lnTo>
                <a:lnTo>
                  <a:pt x="3176588" y="890588"/>
                </a:lnTo>
                <a:lnTo>
                  <a:pt x="0" y="89058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1" id="121"/>
          <p:cNvGrpSpPr/>
          <p:nvPr/>
        </p:nvGrpSpPr>
        <p:grpSpPr>
          <a:xfrm rot="0">
            <a:off x="11037094" y="7038937"/>
            <a:ext cx="2900362" cy="285750"/>
            <a:chOff x="0" y="0"/>
            <a:chExt cx="3867150" cy="38100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38671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DecisionTree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1044238" y="7324687"/>
            <a:ext cx="2886075" cy="228600"/>
            <a:chOff x="0" y="0"/>
            <a:chExt cx="3848100" cy="3048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8481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48100">
                  <a:moveTo>
                    <a:pt x="0" y="0"/>
                  </a:moveTo>
                  <a:lnTo>
                    <a:pt x="3848100" y="0"/>
                  </a:lnTo>
                  <a:lnTo>
                    <a:pt x="38481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38481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Clasificación</a:t>
              </a:r>
            </a:p>
          </p:txBody>
        </p:sp>
      </p:grpSp>
      <p:sp>
        <p:nvSpPr>
          <p:cNvPr name="Freeform 127" id="127"/>
          <p:cNvSpPr/>
          <p:nvPr/>
        </p:nvSpPr>
        <p:spPr>
          <a:xfrm flipH="false" flipV="false" rot="0">
            <a:off x="14242256" y="6850818"/>
            <a:ext cx="3176588" cy="890588"/>
          </a:xfrm>
          <a:custGeom>
            <a:avLst/>
            <a:gdLst/>
            <a:ahLst/>
            <a:cxnLst/>
            <a:rect r="r" b="b" t="t" l="l"/>
            <a:pathLst>
              <a:path h="890588" w="3176588">
                <a:moveTo>
                  <a:pt x="0" y="0"/>
                </a:moveTo>
                <a:lnTo>
                  <a:pt x="3176588" y="0"/>
                </a:lnTo>
                <a:lnTo>
                  <a:pt x="3176588" y="890588"/>
                </a:lnTo>
                <a:lnTo>
                  <a:pt x="0" y="89058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8" id="128"/>
          <p:cNvGrpSpPr/>
          <p:nvPr/>
        </p:nvGrpSpPr>
        <p:grpSpPr>
          <a:xfrm rot="0">
            <a:off x="14380369" y="7038937"/>
            <a:ext cx="2900362" cy="285750"/>
            <a:chOff x="0" y="0"/>
            <a:chExt cx="3867150" cy="3810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38671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RandomForest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4387512" y="7324687"/>
            <a:ext cx="2886075" cy="228600"/>
            <a:chOff x="0" y="0"/>
            <a:chExt cx="3848100" cy="3048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848100" cy="304800"/>
            </a:xfrm>
            <a:custGeom>
              <a:avLst/>
              <a:gdLst/>
              <a:ahLst/>
              <a:cxnLst/>
              <a:rect r="r" b="b" t="t" l="l"/>
              <a:pathLst>
                <a:path h="304800" w="3848100">
                  <a:moveTo>
                    <a:pt x="0" y="0"/>
                  </a:moveTo>
                  <a:lnTo>
                    <a:pt x="3848100" y="0"/>
                  </a:lnTo>
                  <a:lnTo>
                    <a:pt x="3848100" y="304800"/>
                  </a:lnTo>
                  <a:lnTo>
                    <a:pt x="0" y="3048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9525"/>
              <a:ext cx="3848100" cy="31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82"/>
                </a:lnSpc>
              </a:pPr>
              <a:r>
                <a:rPr lang="en-US" sz="135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Ensemble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485775" y="8401050"/>
            <a:ext cx="17316450" cy="457200"/>
            <a:chOff x="0" y="0"/>
            <a:chExt cx="23088600" cy="6096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3088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3088600">
                  <a:moveTo>
                    <a:pt x="0" y="0"/>
                  </a:moveTo>
                  <a:lnTo>
                    <a:pt x="23088600" y="0"/>
                  </a:lnTo>
                  <a:lnTo>
                    <a:pt x="23088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87995" r="0" b="-687995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28575"/>
              <a:ext cx="2308860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EFEFEF"/>
                  </a:solidFill>
                  <a:latin typeface="Literata Bold"/>
                  <a:ea typeface="Literata Bold"/>
                  <a:cs typeface="Literata Bold"/>
                  <a:sym typeface="Literata Bold"/>
                </a:rPr>
                <a:t>¡Gracias!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514350" y="8972550"/>
            <a:ext cx="17259300" cy="342900"/>
            <a:chOff x="0" y="0"/>
            <a:chExt cx="23012400" cy="4572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3012400" cy="457200"/>
            </a:xfrm>
            <a:custGeom>
              <a:avLst/>
              <a:gdLst/>
              <a:ahLst/>
              <a:cxnLst/>
              <a:rect r="r" b="b" t="t" l="l"/>
              <a:pathLst>
                <a:path h="457200" w="23012400">
                  <a:moveTo>
                    <a:pt x="0" y="0"/>
                  </a:moveTo>
                  <a:lnTo>
                    <a:pt x="23012400" y="0"/>
                  </a:lnTo>
                  <a:lnTo>
                    <a:pt x="230124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0746" r="0" b="-93074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66675"/>
              <a:ext cx="23012400" cy="523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Análisis Predictivo de Entregas - Customer Analytics Case Study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521494" y="9429750"/>
            <a:ext cx="17245012" cy="285750"/>
            <a:chOff x="0" y="0"/>
            <a:chExt cx="22993350" cy="3810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2993350" cy="381000"/>
            </a:xfrm>
            <a:custGeom>
              <a:avLst/>
              <a:gdLst/>
              <a:ahLst/>
              <a:cxnLst/>
              <a:rect r="r" b="b" t="t" l="l"/>
              <a:pathLst>
                <a:path h="381000" w="22993350">
                  <a:moveTo>
                    <a:pt x="0" y="0"/>
                  </a:moveTo>
                  <a:lnTo>
                    <a:pt x="22993350" y="0"/>
                  </a:lnTo>
                  <a:lnTo>
                    <a:pt x="229933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25922" r="0" b="-112592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22993350" cy="419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8F8F8F"/>
                  </a:solidFill>
                  <a:latin typeface="Literata"/>
                  <a:ea typeface="Literata"/>
                  <a:cs typeface="Literata"/>
                  <a:sym typeface="Literata"/>
                </a:rPr>
                <a:t>Marzo 2026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DAHDrTtI0I0</dc:identifier>
  <dcterms:modified xsi:type="dcterms:W3CDTF">2011-08-01T06:04:30Z</dcterms:modified>
  <cp:revision>1</cp:revision>
  <dc:title>Análisis Predictivo de Entregas.pptx</dc:title>
</cp:coreProperties>
</file>