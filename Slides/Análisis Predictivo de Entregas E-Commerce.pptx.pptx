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3"/>
    </p:embeddedFont>
    <p:embeddedFont>
      <p:font typeface="Arimo" charset="1" panose="020B0604020202020204"/>
      <p:regular r:id="rId24"/>
    </p:embeddedFont>
    <p:embeddedFont>
      <p:font typeface="Quattrocento" charset="1" panose="02020502030000000404"/>
      <p:regular r:id="rId27"/>
    </p:embeddedFont>
    <p:embeddedFont>
      <p:font typeface="Quattrocento Bold" charset="1" panose="020208020300000004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jpe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.jpe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2.jpe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57.png" Type="http://schemas.openxmlformats.org/officeDocument/2006/relationships/image"/><Relationship Id="rId21" Target="../media/image58.svg" Type="http://schemas.openxmlformats.org/officeDocument/2006/relationships/image"/><Relationship Id="rId22" Target="../media/image59.png" Type="http://schemas.openxmlformats.org/officeDocument/2006/relationships/image"/><Relationship Id="rId23" Target="../media/image60.svg" Type="http://schemas.openxmlformats.org/officeDocument/2006/relationships/image"/><Relationship Id="rId24" Target="../media/image61.png" Type="http://schemas.openxmlformats.org/officeDocument/2006/relationships/image"/><Relationship Id="rId25" Target="../media/image62.svg" Type="http://schemas.openxmlformats.org/officeDocument/2006/relationships/image"/><Relationship Id="rId26" Target="../media/image63.png" Type="http://schemas.openxmlformats.org/officeDocument/2006/relationships/image"/><Relationship Id="rId27" Target="../media/image64.svg" Type="http://schemas.openxmlformats.org/officeDocument/2006/relationships/image"/><Relationship Id="rId28" Target="../media/image65.png" Type="http://schemas.openxmlformats.org/officeDocument/2006/relationships/image"/><Relationship Id="rId29" Target="../media/image66.svg" Type="http://schemas.openxmlformats.org/officeDocument/2006/relationships/image"/><Relationship Id="rId3" Target="../media/image41.png" Type="http://schemas.openxmlformats.org/officeDocument/2006/relationships/image"/><Relationship Id="rId30" Target="../media/image67.png" Type="http://schemas.openxmlformats.org/officeDocument/2006/relationships/image"/><Relationship Id="rId31" Target="../media/image68.svg" Type="http://schemas.openxmlformats.org/officeDocument/2006/relationships/image"/><Relationship Id="rId32" Target="../media/image69.png" Type="http://schemas.openxmlformats.org/officeDocument/2006/relationships/image"/><Relationship Id="rId33" Target="../media/image70.svg" Type="http://schemas.openxmlformats.org/officeDocument/2006/relationships/image"/><Relationship Id="rId34" Target="../media/image71.png" Type="http://schemas.openxmlformats.org/officeDocument/2006/relationships/image"/><Relationship Id="rId35" Target="../media/image72.svg" Type="http://schemas.openxmlformats.org/officeDocument/2006/relationships/image"/><Relationship Id="rId36" Target="../media/image73.png" Type="http://schemas.openxmlformats.org/officeDocument/2006/relationships/image"/><Relationship Id="rId37" Target="../media/image74.svg" Type="http://schemas.openxmlformats.org/officeDocument/2006/relationships/image"/><Relationship Id="rId38" Target="../media/image75.png" Type="http://schemas.openxmlformats.org/officeDocument/2006/relationships/image"/><Relationship Id="rId39" Target="../media/image76.svg" Type="http://schemas.openxmlformats.org/officeDocument/2006/relationships/image"/><Relationship Id="rId4" Target="../media/image42.svg" Type="http://schemas.openxmlformats.org/officeDocument/2006/relationships/image"/><Relationship Id="rId40" Target="../media/image77.png" Type="http://schemas.openxmlformats.org/officeDocument/2006/relationships/image"/><Relationship Id="rId41" Target="../media/image78.svg" Type="http://schemas.openxmlformats.org/officeDocument/2006/relationships/image"/><Relationship Id="rId42" Target="../media/image79.png" Type="http://schemas.openxmlformats.org/officeDocument/2006/relationships/image"/><Relationship Id="rId43" Target="../media/image80.svg" Type="http://schemas.openxmlformats.org/officeDocument/2006/relationships/image"/><Relationship Id="rId44" Target="../media/image81.png" Type="http://schemas.openxmlformats.org/officeDocument/2006/relationships/image"/><Relationship Id="rId45" Target="../media/image82.svg" Type="http://schemas.openxmlformats.org/officeDocument/2006/relationships/image"/><Relationship Id="rId5" Target="../media/image2.jpe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93.png" Type="http://schemas.openxmlformats.org/officeDocument/2006/relationships/image"/><Relationship Id="rId15" Target="../media/image94.svg" Type="http://schemas.openxmlformats.org/officeDocument/2006/relationships/image"/><Relationship Id="rId16" Target="../media/image95.png" Type="http://schemas.openxmlformats.org/officeDocument/2006/relationships/image"/><Relationship Id="rId17" Target="../media/image96.svg" Type="http://schemas.openxmlformats.org/officeDocument/2006/relationships/image"/><Relationship Id="rId18" Target="../media/image97.png" Type="http://schemas.openxmlformats.org/officeDocument/2006/relationships/image"/><Relationship Id="rId19" Target="../media/image98.sv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99.png" Type="http://schemas.openxmlformats.org/officeDocument/2006/relationships/image"/><Relationship Id="rId21" Target="../media/image100.svg" Type="http://schemas.openxmlformats.org/officeDocument/2006/relationships/image"/><Relationship Id="rId22" Target="../media/image101.png" Type="http://schemas.openxmlformats.org/officeDocument/2006/relationships/image"/><Relationship Id="rId23" Target="../media/image102.svg" Type="http://schemas.openxmlformats.org/officeDocument/2006/relationships/image"/><Relationship Id="rId24" Target="../media/image103.png" Type="http://schemas.openxmlformats.org/officeDocument/2006/relationships/image"/><Relationship Id="rId25" Target="../media/image104.svg" Type="http://schemas.openxmlformats.org/officeDocument/2006/relationships/image"/><Relationship Id="rId26" Target="../media/image105.png" Type="http://schemas.openxmlformats.org/officeDocument/2006/relationships/image"/><Relationship Id="rId27" Target="../media/image106.svg" Type="http://schemas.openxmlformats.org/officeDocument/2006/relationships/image"/><Relationship Id="rId28" Target="../media/image107.png" Type="http://schemas.openxmlformats.org/officeDocument/2006/relationships/image"/><Relationship Id="rId29" Target="../media/image108.svg" Type="http://schemas.openxmlformats.org/officeDocument/2006/relationships/image"/><Relationship Id="rId3" Target="../media/image83.png" Type="http://schemas.openxmlformats.org/officeDocument/2006/relationships/image"/><Relationship Id="rId30" Target="../media/image109.png" Type="http://schemas.openxmlformats.org/officeDocument/2006/relationships/image"/><Relationship Id="rId31" Target="../media/image110.svg" Type="http://schemas.openxmlformats.org/officeDocument/2006/relationships/image"/><Relationship Id="rId32" Target="../media/image111.png" Type="http://schemas.openxmlformats.org/officeDocument/2006/relationships/image"/><Relationship Id="rId33" Target="../media/image112.svg" Type="http://schemas.openxmlformats.org/officeDocument/2006/relationships/image"/><Relationship Id="rId34" Target="../media/image113.png" Type="http://schemas.openxmlformats.org/officeDocument/2006/relationships/image"/><Relationship Id="rId35" Target="../media/image114.svg" Type="http://schemas.openxmlformats.org/officeDocument/2006/relationships/image"/><Relationship Id="rId36" Target="../media/image115.png" Type="http://schemas.openxmlformats.org/officeDocument/2006/relationships/image"/><Relationship Id="rId37" Target="../media/image116.svg" Type="http://schemas.openxmlformats.org/officeDocument/2006/relationships/image"/><Relationship Id="rId38" Target="../media/image117.png" Type="http://schemas.openxmlformats.org/officeDocument/2006/relationships/image"/><Relationship Id="rId39" Target="../media/image118.svg" Type="http://schemas.openxmlformats.org/officeDocument/2006/relationships/image"/><Relationship Id="rId4" Target="../media/image84.svg" Type="http://schemas.openxmlformats.org/officeDocument/2006/relationships/image"/><Relationship Id="rId40" Target="../media/image119.png" Type="http://schemas.openxmlformats.org/officeDocument/2006/relationships/image"/><Relationship Id="rId41" Target="../media/image120.svg" Type="http://schemas.openxmlformats.org/officeDocument/2006/relationships/image"/><Relationship Id="rId42" Target="../media/image121.png" Type="http://schemas.openxmlformats.org/officeDocument/2006/relationships/image"/><Relationship Id="rId43" Target="../media/image122.svg" Type="http://schemas.openxmlformats.org/officeDocument/2006/relationships/image"/><Relationship Id="rId44" Target="../media/image123.png" Type="http://schemas.openxmlformats.org/officeDocument/2006/relationships/image"/><Relationship Id="rId45" Target="../media/image124.svg" Type="http://schemas.openxmlformats.org/officeDocument/2006/relationships/image"/><Relationship Id="rId46" Target="../media/image125.png" Type="http://schemas.openxmlformats.org/officeDocument/2006/relationships/image"/><Relationship Id="rId47" Target="../media/image126.svg" Type="http://schemas.openxmlformats.org/officeDocument/2006/relationships/image"/><Relationship Id="rId48" Target="../media/image127.png" Type="http://schemas.openxmlformats.org/officeDocument/2006/relationships/image"/><Relationship Id="rId49" Target="../media/image128.svg" Type="http://schemas.openxmlformats.org/officeDocument/2006/relationships/image"/><Relationship Id="rId5" Target="../media/image2.jpe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5.png" Type="http://schemas.openxmlformats.org/officeDocument/2006/relationships/image"/><Relationship Id="rId11" Target="../media/image136.svg" Type="http://schemas.openxmlformats.org/officeDocument/2006/relationships/image"/><Relationship Id="rId12" Target="../media/image137.png" Type="http://schemas.openxmlformats.org/officeDocument/2006/relationships/image"/><Relationship Id="rId13" Target="../media/image138.svg" Type="http://schemas.openxmlformats.org/officeDocument/2006/relationships/image"/><Relationship Id="rId14" Target="../media/image139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29.png" Type="http://schemas.openxmlformats.org/officeDocument/2006/relationships/image"/><Relationship Id="rId4" Target="../media/image130.svg" Type="http://schemas.openxmlformats.org/officeDocument/2006/relationships/image"/><Relationship Id="rId5" Target="../media/image2.jpeg" Type="http://schemas.openxmlformats.org/officeDocument/2006/relationships/image"/><Relationship Id="rId6" Target="../media/image131.png" Type="http://schemas.openxmlformats.org/officeDocument/2006/relationships/image"/><Relationship Id="rId7" Target="../media/image132.svg" Type="http://schemas.openxmlformats.org/officeDocument/2006/relationships/image"/><Relationship Id="rId8" Target="../media/image133.png" Type="http://schemas.openxmlformats.org/officeDocument/2006/relationships/image"/><Relationship Id="rId9" Target="../media/image1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svg" Type="http://schemas.openxmlformats.org/officeDocument/2006/relationships/image"/><Relationship Id="rId12" Target="../media/image146.png" Type="http://schemas.openxmlformats.org/officeDocument/2006/relationships/image"/><Relationship Id="rId13" Target="../media/image147.svg" Type="http://schemas.openxmlformats.org/officeDocument/2006/relationships/image"/><Relationship Id="rId14" Target="../media/image148.png" Type="http://schemas.openxmlformats.org/officeDocument/2006/relationships/image"/><Relationship Id="rId15" Target="../media/image149.svg" Type="http://schemas.openxmlformats.org/officeDocument/2006/relationships/image"/><Relationship Id="rId16" Target="../media/image150.png" Type="http://schemas.openxmlformats.org/officeDocument/2006/relationships/image"/><Relationship Id="rId17" Target="../media/image151.svg" Type="http://schemas.openxmlformats.org/officeDocument/2006/relationships/image"/><Relationship Id="rId18" Target="../media/image152.png" Type="http://schemas.openxmlformats.org/officeDocument/2006/relationships/image"/><Relationship Id="rId19" Target="../media/image153.sv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154.png" Type="http://schemas.openxmlformats.org/officeDocument/2006/relationships/image"/><Relationship Id="rId21" Target="../media/image155.svg" Type="http://schemas.openxmlformats.org/officeDocument/2006/relationships/image"/><Relationship Id="rId22" Target="../media/image156.png" Type="http://schemas.openxmlformats.org/officeDocument/2006/relationships/image"/><Relationship Id="rId23" Target="../media/image157.svg" Type="http://schemas.openxmlformats.org/officeDocument/2006/relationships/image"/><Relationship Id="rId3" Target="../media/image129.png" Type="http://schemas.openxmlformats.org/officeDocument/2006/relationships/image"/><Relationship Id="rId4" Target="../media/image130.svg" Type="http://schemas.openxmlformats.org/officeDocument/2006/relationships/image"/><Relationship Id="rId5" Target="../media/image2.jpeg" Type="http://schemas.openxmlformats.org/officeDocument/2006/relationships/image"/><Relationship Id="rId6" Target="../media/image140.png" Type="http://schemas.openxmlformats.org/officeDocument/2006/relationships/image"/><Relationship Id="rId7" Target="../media/image141.svg" Type="http://schemas.openxmlformats.org/officeDocument/2006/relationships/image"/><Relationship Id="rId8" Target="../media/image142.png" Type="http://schemas.openxmlformats.org/officeDocument/2006/relationships/image"/><Relationship Id="rId9" Target="../media/image14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4.png" Type="http://schemas.openxmlformats.org/officeDocument/2006/relationships/image"/><Relationship Id="rId11" Target="../media/image165.svg" Type="http://schemas.openxmlformats.org/officeDocument/2006/relationships/image"/><Relationship Id="rId12" Target="../media/image166.png" Type="http://schemas.openxmlformats.org/officeDocument/2006/relationships/image"/><Relationship Id="rId13" Target="../media/image167.svg" Type="http://schemas.openxmlformats.org/officeDocument/2006/relationships/image"/><Relationship Id="rId14" Target="../media/image168.png" Type="http://schemas.openxmlformats.org/officeDocument/2006/relationships/image"/><Relationship Id="rId15" Target="../media/image169.svg" Type="http://schemas.openxmlformats.org/officeDocument/2006/relationships/image"/><Relationship Id="rId16" Target="../media/image170.png" Type="http://schemas.openxmlformats.org/officeDocument/2006/relationships/image"/><Relationship Id="rId17" Target="../media/image171.svg" Type="http://schemas.openxmlformats.org/officeDocument/2006/relationships/image"/><Relationship Id="rId18" Target="../media/image172.png" Type="http://schemas.openxmlformats.org/officeDocument/2006/relationships/image"/><Relationship Id="rId19" Target="../media/image173.sv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74.png" Type="http://schemas.openxmlformats.org/officeDocument/2006/relationships/image"/><Relationship Id="rId21" Target="../media/image175.svg" Type="http://schemas.openxmlformats.org/officeDocument/2006/relationships/image"/><Relationship Id="rId22" Target="../media/image176.png" Type="http://schemas.openxmlformats.org/officeDocument/2006/relationships/image"/><Relationship Id="rId23" Target="../media/image177.svg" Type="http://schemas.openxmlformats.org/officeDocument/2006/relationships/image"/><Relationship Id="rId24" Target="../media/image178.png" Type="http://schemas.openxmlformats.org/officeDocument/2006/relationships/image"/><Relationship Id="rId25" Target="../media/image179.svg" Type="http://schemas.openxmlformats.org/officeDocument/2006/relationships/image"/><Relationship Id="rId26" Target="../media/image180.png" Type="http://schemas.openxmlformats.org/officeDocument/2006/relationships/image"/><Relationship Id="rId27" Target="../media/image181.svg" Type="http://schemas.openxmlformats.org/officeDocument/2006/relationships/image"/><Relationship Id="rId28" Target="../media/image182.png" Type="http://schemas.openxmlformats.org/officeDocument/2006/relationships/image"/><Relationship Id="rId29" Target="../media/image183.svg" Type="http://schemas.openxmlformats.org/officeDocument/2006/relationships/image"/><Relationship Id="rId3" Target="../media/image158.png" Type="http://schemas.openxmlformats.org/officeDocument/2006/relationships/image"/><Relationship Id="rId30" Target="../media/image184.png" Type="http://schemas.openxmlformats.org/officeDocument/2006/relationships/image"/><Relationship Id="rId31" Target="../media/image185.svg" Type="http://schemas.openxmlformats.org/officeDocument/2006/relationships/image"/><Relationship Id="rId32" Target="../media/image186.png" Type="http://schemas.openxmlformats.org/officeDocument/2006/relationships/image"/><Relationship Id="rId33" Target="../media/image187.svg" Type="http://schemas.openxmlformats.org/officeDocument/2006/relationships/image"/><Relationship Id="rId4" Target="../media/image159.svg" Type="http://schemas.openxmlformats.org/officeDocument/2006/relationships/image"/><Relationship Id="rId5" Target="../media/image2.jpeg" Type="http://schemas.openxmlformats.org/officeDocument/2006/relationships/image"/><Relationship Id="rId6" Target="../media/image160.png" Type="http://schemas.openxmlformats.org/officeDocument/2006/relationships/image"/><Relationship Id="rId7" Target="../media/image161.svg" Type="http://schemas.openxmlformats.org/officeDocument/2006/relationships/image"/><Relationship Id="rId8" Target="../media/image162.png" Type="http://schemas.openxmlformats.org/officeDocument/2006/relationships/image"/><Relationship Id="rId9" Target="../media/image16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4.png" Type="http://schemas.openxmlformats.org/officeDocument/2006/relationships/image"/><Relationship Id="rId11" Target="../media/image195.svg" Type="http://schemas.openxmlformats.org/officeDocument/2006/relationships/image"/><Relationship Id="rId12" Target="../media/image196.png" Type="http://schemas.openxmlformats.org/officeDocument/2006/relationships/image"/><Relationship Id="rId13" Target="../media/image197.svg" Type="http://schemas.openxmlformats.org/officeDocument/2006/relationships/image"/><Relationship Id="rId14" Target="../media/image198.png" Type="http://schemas.openxmlformats.org/officeDocument/2006/relationships/image"/><Relationship Id="rId15" Target="../media/image199.svg" Type="http://schemas.openxmlformats.org/officeDocument/2006/relationships/image"/><Relationship Id="rId16" Target="../media/image200.png" Type="http://schemas.openxmlformats.org/officeDocument/2006/relationships/image"/><Relationship Id="rId17" Target="../media/image201.svg" Type="http://schemas.openxmlformats.org/officeDocument/2006/relationships/image"/><Relationship Id="rId18" Target="../media/image202.png" Type="http://schemas.openxmlformats.org/officeDocument/2006/relationships/image"/><Relationship Id="rId19" Target="../media/image203.sv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204.png" Type="http://schemas.openxmlformats.org/officeDocument/2006/relationships/image"/><Relationship Id="rId21" Target="../media/image205.svg" Type="http://schemas.openxmlformats.org/officeDocument/2006/relationships/image"/><Relationship Id="rId22" Target="../media/image206.png" Type="http://schemas.openxmlformats.org/officeDocument/2006/relationships/image"/><Relationship Id="rId23" Target="../media/image207.svg" Type="http://schemas.openxmlformats.org/officeDocument/2006/relationships/image"/><Relationship Id="rId24" Target="../media/image208.png" Type="http://schemas.openxmlformats.org/officeDocument/2006/relationships/image"/><Relationship Id="rId25" Target="../media/image209.svg" Type="http://schemas.openxmlformats.org/officeDocument/2006/relationships/image"/><Relationship Id="rId26" Target="../media/image210.png" Type="http://schemas.openxmlformats.org/officeDocument/2006/relationships/image"/><Relationship Id="rId27" Target="../media/image211.svg" Type="http://schemas.openxmlformats.org/officeDocument/2006/relationships/image"/><Relationship Id="rId28" Target="../media/image212.png" Type="http://schemas.openxmlformats.org/officeDocument/2006/relationships/image"/><Relationship Id="rId29" Target="../media/image213.svg" Type="http://schemas.openxmlformats.org/officeDocument/2006/relationships/image"/><Relationship Id="rId3" Target="../media/image188.png" Type="http://schemas.openxmlformats.org/officeDocument/2006/relationships/image"/><Relationship Id="rId30" Target="../media/image214.png" Type="http://schemas.openxmlformats.org/officeDocument/2006/relationships/image"/><Relationship Id="rId31" Target="../media/image215.svg" Type="http://schemas.openxmlformats.org/officeDocument/2006/relationships/image"/><Relationship Id="rId32" Target="../media/image216.png" Type="http://schemas.openxmlformats.org/officeDocument/2006/relationships/image"/><Relationship Id="rId33" Target="../media/image217.svg" Type="http://schemas.openxmlformats.org/officeDocument/2006/relationships/image"/><Relationship Id="rId34" Target="../media/image218.png" Type="http://schemas.openxmlformats.org/officeDocument/2006/relationships/image"/><Relationship Id="rId35" Target="../media/image219.svg" Type="http://schemas.openxmlformats.org/officeDocument/2006/relationships/image"/><Relationship Id="rId36" Target="../media/image220.png" Type="http://schemas.openxmlformats.org/officeDocument/2006/relationships/image"/><Relationship Id="rId37" Target="../media/image221.svg" Type="http://schemas.openxmlformats.org/officeDocument/2006/relationships/image"/><Relationship Id="rId38" Target="../media/image222.png" Type="http://schemas.openxmlformats.org/officeDocument/2006/relationships/image"/><Relationship Id="rId39" Target="../media/image223.svg" Type="http://schemas.openxmlformats.org/officeDocument/2006/relationships/image"/><Relationship Id="rId4" Target="../media/image189.svg" Type="http://schemas.openxmlformats.org/officeDocument/2006/relationships/image"/><Relationship Id="rId40" Target="../media/image224.png" Type="http://schemas.openxmlformats.org/officeDocument/2006/relationships/image"/><Relationship Id="rId41" Target="../media/image225.svg" Type="http://schemas.openxmlformats.org/officeDocument/2006/relationships/image"/><Relationship Id="rId42" Target="../media/image226.png" Type="http://schemas.openxmlformats.org/officeDocument/2006/relationships/image"/><Relationship Id="rId43" Target="../media/image227.svg" Type="http://schemas.openxmlformats.org/officeDocument/2006/relationships/image"/><Relationship Id="rId44" Target="../media/image228.png" Type="http://schemas.openxmlformats.org/officeDocument/2006/relationships/image"/><Relationship Id="rId45" Target="../media/image229.svg" Type="http://schemas.openxmlformats.org/officeDocument/2006/relationships/image"/><Relationship Id="rId5" Target="../media/image2.jpeg" Type="http://schemas.openxmlformats.org/officeDocument/2006/relationships/image"/><Relationship Id="rId6" Target="../media/image190.png" Type="http://schemas.openxmlformats.org/officeDocument/2006/relationships/image"/><Relationship Id="rId7" Target="../media/image191.svg" Type="http://schemas.openxmlformats.org/officeDocument/2006/relationships/image"/><Relationship Id="rId8" Target="../media/image192.png" Type="http://schemas.openxmlformats.org/officeDocument/2006/relationships/image"/><Relationship Id="rId9" Target="../media/image19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4.png" Type="http://schemas.openxmlformats.org/officeDocument/2006/relationships/image"/><Relationship Id="rId11" Target="../media/image235.svg" Type="http://schemas.openxmlformats.org/officeDocument/2006/relationships/image"/><Relationship Id="rId12" Target="../media/image236.png" Type="http://schemas.openxmlformats.org/officeDocument/2006/relationships/image"/><Relationship Id="rId13" Target="../media/image237.svg" Type="http://schemas.openxmlformats.org/officeDocument/2006/relationships/image"/><Relationship Id="rId14" Target="../media/image238.png" Type="http://schemas.openxmlformats.org/officeDocument/2006/relationships/image"/><Relationship Id="rId15" Target="../media/image239.svg" Type="http://schemas.openxmlformats.org/officeDocument/2006/relationships/image"/><Relationship Id="rId16" Target="../media/image220.png" Type="http://schemas.openxmlformats.org/officeDocument/2006/relationships/image"/><Relationship Id="rId17" Target="../media/image221.svg" Type="http://schemas.openxmlformats.org/officeDocument/2006/relationships/image"/><Relationship Id="rId18" Target="../media/image222.png" Type="http://schemas.openxmlformats.org/officeDocument/2006/relationships/image"/><Relationship Id="rId19" Target="../media/image223.sv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224.png" Type="http://schemas.openxmlformats.org/officeDocument/2006/relationships/image"/><Relationship Id="rId21" Target="../media/image225.svg" Type="http://schemas.openxmlformats.org/officeDocument/2006/relationships/image"/><Relationship Id="rId22" Target="../media/image226.png" Type="http://schemas.openxmlformats.org/officeDocument/2006/relationships/image"/><Relationship Id="rId23" Target="../media/image227.svg" Type="http://schemas.openxmlformats.org/officeDocument/2006/relationships/image"/><Relationship Id="rId24" Target="../media/image228.png" Type="http://schemas.openxmlformats.org/officeDocument/2006/relationships/image"/><Relationship Id="rId25" Target="../media/image229.svg" Type="http://schemas.openxmlformats.org/officeDocument/2006/relationships/image"/><Relationship Id="rId26" Target="../media/image240.png" Type="http://schemas.openxmlformats.org/officeDocument/2006/relationships/image"/><Relationship Id="rId27" Target="../media/image241.svg" Type="http://schemas.openxmlformats.org/officeDocument/2006/relationships/image"/><Relationship Id="rId28" Target="../media/image242.png" Type="http://schemas.openxmlformats.org/officeDocument/2006/relationships/image"/><Relationship Id="rId29" Target="../media/image243.svg" Type="http://schemas.openxmlformats.org/officeDocument/2006/relationships/image"/><Relationship Id="rId3" Target="../media/image158.png" Type="http://schemas.openxmlformats.org/officeDocument/2006/relationships/image"/><Relationship Id="rId30" Target="../media/image168.png" Type="http://schemas.openxmlformats.org/officeDocument/2006/relationships/image"/><Relationship Id="rId31" Target="../media/image169.svg" Type="http://schemas.openxmlformats.org/officeDocument/2006/relationships/image"/><Relationship Id="rId32" Target="../media/image244.png" Type="http://schemas.openxmlformats.org/officeDocument/2006/relationships/image"/><Relationship Id="rId33" Target="../media/image245.svg" Type="http://schemas.openxmlformats.org/officeDocument/2006/relationships/image"/><Relationship Id="rId34" Target="../media/image59.png" Type="http://schemas.openxmlformats.org/officeDocument/2006/relationships/image"/><Relationship Id="rId35" Target="../media/image60.svg" Type="http://schemas.openxmlformats.org/officeDocument/2006/relationships/image"/><Relationship Id="rId36" Target="../media/image246.png" Type="http://schemas.openxmlformats.org/officeDocument/2006/relationships/image"/><Relationship Id="rId37" Target="../media/image247.svg" Type="http://schemas.openxmlformats.org/officeDocument/2006/relationships/image"/><Relationship Id="rId38" Target="../media/image248.png" Type="http://schemas.openxmlformats.org/officeDocument/2006/relationships/image"/><Relationship Id="rId39" Target="../media/image249.svg" Type="http://schemas.openxmlformats.org/officeDocument/2006/relationships/image"/><Relationship Id="rId4" Target="../media/image159.svg" Type="http://schemas.openxmlformats.org/officeDocument/2006/relationships/image"/><Relationship Id="rId5" Target="../media/image2.jpeg" Type="http://schemas.openxmlformats.org/officeDocument/2006/relationships/image"/><Relationship Id="rId6" Target="../media/image230.png" Type="http://schemas.openxmlformats.org/officeDocument/2006/relationships/image"/><Relationship Id="rId7" Target="../media/image231.svg" Type="http://schemas.openxmlformats.org/officeDocument/2006/relationships/image"/><Relationship Id="rId8" Target="../media/image232.png" Type="http://schemas.openxmlformats.org/officeDocument/2006/relationships/image"/><Relationship Id="rId9" Target="../media/image2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6.png" Type="http://schemas.openxmlformats.org/officeDocument/2006/relationships/image"/><Relationship Id="rId11" Target="../media/image257.svg" Type="http://schemas.openxmlformats.org/officeDocument/2006/relationships/image"/><Relationship Id="rId12" Target="../media/image258.png" Type="http://schemas.openxmlformats.org/officeDocument/2006/relationships/image"/><Relationship Id="rId13" Target="../media/image259.svg" Type="http://schemas.openxmlformats.org/officeDocument/2006/relationships/image"/><Relationship Id="rId14" Target="../media/image260.png" Type="http://schemas.openxmlformats.org/officeDocument/2006/relationships/image"/><Relationship Id="rId15" Target="../media/image261.svg" Type="http://schemas.openxmlformats.org/officeDocument/2006/relationships/image"/><Relationship Id="rId16" Target="../media/image262.png" Type="http://schemas.openxmlformats.org/officeDocument/2006/relationships/image"/><Relationship Id="rId17" Target="../media/image263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50.png" Type="http://schemas.openxmlformats.org/officeDocument/2006/relationships/image"/><Relationship Id="rId4" Target="../media/image251.svg" Type="http://schemas.openxmlformats.org/officeDocument/2006/relationships/image"/><Relationship Id="rId5" Target="../media/image2.jpeg" Type="http://schemas.openxmlformats.org/officeDocument/2006/relationships/image"/><Relationship Id="rId6" Target="../media/image252.png" Type="http://schemas.openxmlformats.org/officeDocument/2006/relationships/image"/><Relationship Id="rId7" Target="../media/image253.svg" Type="http://schemas.openxmlformats.org/officeDocument/2006/relationships/image"/><Relationship Id="rId8" Target="../media/image254.png" Type="http://schemas.openxmlformats.org/officeDocument/2006/relationships/image"/><Relationship Id="rId9" Target="../media/image25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8.png" Type="http://schemas.openxmlformats.org/officeDocument/2006/relationships/image"/><Relationship Id="rId11" Target="../media/image269.svg" Type="http://schemas.openxmlformats.org/officeDocument/2006/relationships/image"/><Relationship Id="rId12" Target="../media/image270.png" Type="http://schemas.openxmlformats.org/officeDocument/2006/relationships/image"/><Relationship Id="rId13" Target="../media/image271.svg" Type="http://schemas.openxmlformats.org/officeDocument/2006/relationships/image"/><Relationship Id="rId14" Target="../media/image272.png" Type="http://schemas.openxmlformats.org/officeDocument/2006/relationships/image"/><Relationship Id="rId15" Target="../media/image273.svg" Type="http://schemas.openxmlformats.org/officeDocument/2006/relationships/image"/><Relationship Id="rId16" Target="../media/image274.png" Type="http://schemas.openxmlformats.org/officeDocument/2006/relationships/image"/><Relationship Id="rId17" Target="../media/image275.svg" Type="http://schemas.openxmlformats.org/officeDocument/2006/relationships/image"/><Relationship Id="rId18" Target="../media/image276.png" Type="http://schemas.openxmlformats.org/officeDocument/2006/relationships/image"/><Relationship Id="rId19" Target="../media/image277.sv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278.png" Type="http://schemas.openxmlformats.org/officeDocument/2006/relationships/image"/><Relationship Id="rId21" Target="../media/image279.svg" Type="http://schemas.openxmlformats.org/officeDocument/2006/relationships/image"/><Relationship Id="rId22" Target="../media/image280.png" Type="http://schemas.openxmlformats.org/officeDocument/2006/relationships/image"/><Relationship Id="rId23" Target="../media/image281.svg" Type="http://schemas.openxmlformats.org/officeDocument/2006/relationships/image"/><Relationship Id="rId24" Target="../media/image282.png" Type="http://schemas.openxmlformats.org/officeDocument/2006/relationships/image"/><Relationship Id="rId25" Target="../media/image283.svg" Type="http://schemas.openxmlformats.org/officeDocument/2006/relationships/image"/><Relationship Id="rId26" Target="../media/image284.png" Type="http://schemas.openxmlformats.org/officeDocument/2006/relationships/image"/><Relationship Id="rId27" Target="../media/image285.svg" Type="http://schemas.openxmlformats.org/officeDocument/2006/relationships/image"/><Relationship Id="rId28" Target="../media/image286.png" Type="http://schemas.openxmlformats.org/officeDocument/2006/relationships/image"/><Relationship Id="rId29" Target="../media/image287.svg" Type="http://schemas.openxmlformats.org/officeDocument/2006/relationships/image"/><Relationship Id="rId3" Target="../media/image41.png" Type="http://schemas.openxmlformats.org/officeDocument/2006/relationships/image"/><Relationship Id="rId30" Target="../media/image288.png" Type="http://schemas.openxmlformats.org/officeDocument/2006/relationships/image"/><Relationship Id="rId31" Target="../media/image289.svg" Type="http://schemas.openxmlformats.org/officeDocument/2006/relationships/image"/><Relationship Id="rId32" Target="../media/image290.png" Type="http://schemas.openxmlformats.org/officeDocument/2006/relationships/image"/><Relationship Id="rId33" Target="../media/image291.svg" Type="http://schemas.openxmlformats.org/officeDocument/2006/relationships/image"/><Relationship Id="rId34" Target="../media/image292.png" Type="http://schemas.openxmlformats.org/officeDocument/2006/relationships/image"/><Relationship Id="rId35" Target="../media/image293.svg" Type="http://schemas.openxmlformats.org/officeDocument/2006/relationships/image"/><Relationship Id="rId36" Target="../media/image294.png" Type="http://schemas.openxmlformats.org/officeDocument/2006/relationships/image"/><Relationship Id="rId37" Target="../media/image295.svg" Type="http://schemas.openxmlformats.org/officeDocument/2006/relationships/image"/><Relationship Id="rId38" Target="../media/image296.png" Type="http://schemas.openxmlformats.org/officeDocument/2006/relationships/image"/><Relationship Id="rId39" Target="../media/image297.svg" Type="http://schemas.openxmlformats.org/officeDocument/2006/relationships/image"/><Relationship Id="rId4" Target="../media/image42.svg" Type="http://schemas.openxmlformats.org/officeDocument/2006/relationships/image"/><Relationship Id="rId5" Target="../media/image2.jpeg" Type="http://schemas.openxmlformats.org/officeDocument/2006/relationships/image"/><Relationship Id="rId6" Target="../media/image264.png" Type="http://schemas.openxmlformats.org/officeDocument/2006/relationships/image"/><Relationship Id="rId7" Target="../media/image265.svg" Type="http://schemas.openxmlformats.org/officeDocument/2006/relationships/image"/><Relationship Id="rId8" Target="../media/image266.png" Type="http://schemas.openxmlformats.org/officeDocument/2006/relationships/image"/><Relationship Id="rId9" Target="../media/image26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98.jpe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mages.stockcake.com/93a78905d0524207f8ad31925a86b1fbf815c2ad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83" t="0" r="-18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1117">
                    <a:alpha val="95000"/>
                  </a:srgbClr>
                </a:gs>
                <a:gs pos="50000">
                  <a:srgbClr val="0F1117">
                    <a:alpha val="85000"/>
                  </a:srgbClr>
                </a:gs>
                <a:gs pos="100000">
                  <a:srgbClr val="00D4FF">
                    <a:alpha val="2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4325" y="2428875"/>
            <a:ext cx="17659350" cy="2571750"/>
            <a:chOff x="0" y="0"/>
            <a:chExt cx="23545800" cy="342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458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23545800">
                  <a:moveTo>
                    <a:pt x="0" y="0"/>
                  </a:moveTo>
                  <a:lnTo>
                    <a:pt x="23545800" y="0"/>
                  </a:lnTo>
                  <a:lnTo>
                    <a:pt x="235458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545800" cy="3457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Análisis Predictivo de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Entregas E-Commerce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5775" y="5343525"/>
            <a:ext cx="17316450" cy="457200"/>
            <a:chOff x="0" y="0"/>
            <a:chExt cx="23088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88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3088600">
                  <a:moveTo>
                    <a:pt x="0" y="0"/>
                  </a:moveTo>
                  <a:lnTo>
                    <a:pt x="23088600" y="0"/>
                  </a:lnTo>
                  <a:lnTo>
                    <a:pt x="23088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7995" r="0" b="-6879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088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Regresión y Clasificación con Metodología CRISP-DM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71219" y="6329362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6"/>
                </a:lnTo>
                <a:lnTo>
                  <a:pt x="0" y="257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906975" y="6257925"/>
            <a:ext cx="5100638" cy="400050"/>
            <a:chOff x="0" y="0"/>
            <a:chExt cx="680085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00850" cy="533400"/>
            </a:xfrm>
            <a:custGeom>
              <a:avLst/>
              <a:gdLst/>
              <a:ahLst/>
              <a:cxnLst/>
              <a:rect r="r" b="b" t="t" l="l"/>
              <a:pathLst>
                <a:path h="53340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6800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Universidad Católica Boliviana "San Pablo"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17035" y="6329362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6"/>
                </a:lnTo>
                <a:lnTo>
                  <a:pt x="0" y="257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768870" y="6257925"/>
            <a:ext cx="3043238" cy="400050"/>
            <a:chOff x="0" y="0"/>
            <a:chExt cx="40576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7650" cy="533400"/>
            </a:xfrm>
            <a:custGeom>
              <a:avLst/>
              <a:gdLst/>
              <a:ahLst/>
              <a:cxnLst/>
              <a:rect r="r" b="b" t="t" l="l"/>
              <a:pathLst>
                <a:path h="533400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225" r="0" b="-982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0576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Machine Learning | 2026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9119" y="7970044"/>
            <a:ext cx="17149762" cy="1747838"/>
          </a:xfrm>
          <a:custGeom>
            <a:avLst/>
            <a:gdLst/>
            <a:ahLst/>
            <a:cxnLst/>
            <a:rect r="r" b="b" t="t" l="l"/>
            <a:pathLst>
              <a:path h="1747838" w="17149762">
                <a:moveTo>
                  <a:pt x="0" y="0"/>
                </a:moveTo>
                <a:lnTo>
                  <a:pt x="17149762" y="0"/>
                </a:lnTo>
                <a:lnTo>
                  <a:pt x="17149762" y="1747837"/>
                </a:lnTo>
                <a:lnTo>
                  <a:pt x="0" y="1747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28688" y="8329612"/>
            <a:ext cx="16530638" cy="285750"/>
            <a:chOff x="0" y="0"/>
            <a:chExt cx="22040850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40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040850">
                  <a:moveTo>
                    <a:pt x="0" y="0"/>
                  </a:moveTo>
                  <a:lnTo>
                    <a:pt x="22040850" y="0"/>
                  </a:lnTo>
                  <a:lnTo>
                    <a:pt x="22040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7209" r="0" b="-10772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20408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Integrantes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688" y="9015412"/>
            <a:ext cx="114300" cy="114300"/>
            <a:chOff x="0" y="0"/>
            <a:chExt cx="152400" cy="15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7288" y="8929688"/>
            <a:ext cx="2671762" cy="285750"/>
            <a:chOff x="0" y="0"/>
            <a:chExt cx="3562350" cy="38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62350" cy="381000"/>
            </a:xfrm>
            <a:custGeom>
              <a:avLst/>
              <a:gdLst/>
              <a:ahLst/>
              <a:cxnLst/>
              <a:rect r="r" b="b" t="t" l="l"/>
              <a:pathLst>
                <a:path h="3810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185" r="0" b="-13218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5623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Jean Marco Fernandez Silva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60466" y="9015412"/>
            <a:ext cx="114300" cy="114300"/>
            <a:chOff x="0" y="0"/>
            <a:chExt cx="152400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489066" y="8929688"/>
            <a:ext cx="2757488" cy="285750"/>
            <a:chOff x="0" y="0"/>
            <a:chExt cx="3676650" cy="38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76650" cy="381000"/>
            </a:xfrm>
            <a:custGeom>
              <a:avLst/>
              <a:gdLst/>
              <a:ahLst/>
              <a:cxnLst/>
              <a:rect r="r" b="b" t="t" l="l"/>
              <a:pathLst>
                <a:path h="381000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030" r="0" b="-1380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6766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Sergio Alejandro Arias Mayta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92358" y="9015412"/>
            <a:ext cx="114300" cy="114300"/>
            <a:chOff x="0" y="0"/>
            <a:chExt cx="152400" cy="152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820958" y="8929688"/>
            <a:ext cx="2600325" cy="319688"/>
            <a:chOff x="0" y="0"/>
            <a:chExt cx="3467100" cy="426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67100" cy="426250"/>
            </a:xfrm>
            <a:custGeom>
              <a:avLst/>
              <a:gdLst/>
              <a:ahLst/>
              <a:cxnLst/>
              <a:rect r="r" b="b" t="t" l="l"/>
              <a:pathLst>
                <a:path h="426250" w="3467100">
                  <a:moveTo>
                    <a:pt x="0" y="0"/>
                  </a:moveTo>
                  <a:lnTo>
                    <a:pt x="3467100" y="0"/>
                  </a:lnTo>
                  <a:lnTo>
                    <a:pt x="3467100" y="426250"/>
                  </a:lnTo>
                  <a:lnTo>
                    <a:pt x="0" y="426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798" r="0" b="-1031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467100" cy="47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Marvin Mollo Ramirez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24137" y="9015412"/>
            <a:ext cx="114300" cy="114300"/>
            <a:chOff x="0" y="0"/>
            <a:chExt cx="152400" cy="152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52737" y="8929688"/>
            <a:ext cx="2828925" cy="285750"/>
            <a:chOff x="0" y="0"/>
            <a:chExt cx="3771900" cy="381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71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7719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Jaime Ignacio Huaycho Clavel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256020" y="9015412"/>
            <a:ext cx="100012" cy="114300"/>
            <a:chOff x="0" y="0"/>
            <a:chExt cx="133350" cy="152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3350" cy="152400"/>
            </a:xfrm>
            <a:custGeom>
              <a:avLst/>
              <a:gdLst/>
              <a:ahLst/>
              <a:cxnLst/>
              <a:rect r="r" b="b" t="t" l="l"/>
              <a:pathLst>
                <a:path h="152400" w="133350">
                  <a:moveTo>
                    <a:pt x="66675" y="0"/>
                  </a:moveTo>
                  <a:cubicBezTo>
                    <a:pt x="103505" y="0"/>
                    <a:pt x="133350" y="29845"/>
                    <a:pt x="133350" y="66675"/>
                  </a:cubicBezTo>
                  <a:lnTo>
                    <a:pt x="133350" y="85725"/>
                  </a:lnTo>
                  <a:cubicBezTo>
                    <a:pt x="133350" y="122555"/>
                    <a:pt x="103505" y="152400"/>
                    <a:pt x="66675" y="152400"/>
                  </a:cubicBezTo>
                  <a:cubicBezTo>
                    <a:pt x="29845" y="152400"/>
                    <a:pt x="0" y="122555"/>
                    <a:pt x="0" y="85725"/>
                  </a:cubicBezTo>
                  <a:lnTo>
                    <a:pt x="0" y="66675"/>
                  </a:lnTo>
                  <a:cubicBezTo>
                    <a:pt x="0" y="29845"/>
                    <a:pt x="29845" y="0"/>
                    <a:pt x="66675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472342" y="8786812"/>
            <a:ext cx="2986088" cy="571500"/>
            <a:chOff x="0" y="0"/>
            <a:chExt cx="3981450" cy="76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81450" cy="762000"/>
            </a:xfrm>
            <a:custGeom>
              <a:avLst/>
              <a:gdLst/>
              <a:ahLst/>
              <a:cxnLst/>
              <a:rect r="r" b="b" t="t" l="l"/>
              <a:pathLst>
                <a:path h="7620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809" r="0" b="-518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98145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Sergio Alexander Mendoza Choque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119" y="569119"/>
            <a:ext cx="1876425" cy="376238"/>
          </a:xfrm>
          <a:custGeom>
            <a:avLst/>
            <a:gdLst/>
            <a:ahLst/>
            <a:cxnLst/>
            <a:rect r="r" b="b" t="t" l="l"/>
            <a:pathLst>
              <a:path h="376238" w="1876425">
                <a:moveTo>
                  <a:pt x="0" y="0"/>
                </a:moveTo>
                <a:lnTo>
                  <a:pt x="1876425" y="0"/>
                </a:lnTo>
                <a:lnTo>
                  <a:pt x="1876425" y="376237"/>
                </a:lnTo>
                <a:lnTo>
                  <a:pt x="0" y="376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1500" y="571500"/>
            <a:ext cx="1928812" cy="342900"/>
            <a:chOff x="0" y="0"/>
            <a:chExt cx="2571750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71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7175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12936" y="614362"/>
            <a:ext cx="2314575" cy="285750"/>
            <a:chOff x="0" y="0"/>
            <a:chExt cx="3086100" cy="38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6100" cy="381000"/>
            </a:xfrm>
            <a:custGeom>
              <a:avLst/>
              <a:gdLst/>
              <a:ahLst/>
              <a:cxnLst/>
              <a:rect r="r" b="b" t="t" l="l"/>
              <a:pathLst>
                <a:path h="3810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0861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Business Understanding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1500" y="1171575"/>
            <a:ext cx="17402175" cy="571500"/>
            <a:chOff x="0" y="0"/>
            <a:chExt cx="232029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32029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Comprensión del Negocio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9119" y="1969294"/>
            <a:ext cx="8462962" cy="6619875"/>
          </a:xfrm>
          <a:custGeom>
            <a:avLst/>
            <a:gdLst/>
            <a:ahLst/>
            <a:cxnLst/>
            <a:rect r="r" b="b" t="t" l="l"/>
            <a:pathLst>
              <a:path h="6619875" w="8462962">
                <a:moveTo>
                  <a:pt x="0" y="0"/>
                </a:moveTo>
                <a:lnTo>
                  <a:pt x="8462962" y="0"/>
                </a:lnTo>
                <a:lnTo>
                  <a:pt x="8462962" y="6619875"/>
                </a:lnTo>
                <a:lnTo>
                  <a:pt x="0" y="6619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" y="230028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1612" y="2271712"/>
            <a:ext cx="2243138" cy="400050"/>
            <a:chOff x="0" y="0"/>
            <a:chExt cx="29908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90850" cy="533400"/>
            </a:xfrm>
            <a:custGeom>
              <a:avLst/>
              <a:gdLst/>
              <a:ahLst/>
              <a:cxnLst/>
              <a:rect r="r" b="b" t="t" l="l"/>
              <a:pathLst>
                <a:path h="533400" w="2990850">
                  <a:moveTo>
                    <a:pt x="0" y="0"/>
                  </a:moveTo>
                  <a:lnTo>
                    <a:pt x="2990850" y="0"/>
                  </a:lnTo>
                  <a:lnTo>
                    <a:pt x="2990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255" r="0" b="-592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9908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Contexto Actual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1538" y="2843212"/>
            <a:ext cx="7858125" cy="1200150"/>
            <a:chOff x="0" y="0"/>
            <a:chExt cx="10477500" cy="160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775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0477500">
                  <a:moveTo>
                    <a:pt x="152400" y="0"/>
                  </a:moveTo>
                  <a:lnTo>
                    <a:pt x="10325100" y="0"/>
                  </a:lnTo>
                  <a:cubicBezTo>
                    <a:pt x="10409301" y="0"/>
                    <a:pt x="10477500" y="68199"/>
                    <a:pt x="10477500" y="152400"/>
                  </a:cubicBezTo>
                  <a:lnTo>
                    <a:pt x="10477500" y="1447800"/>
                  </a:lnTo>
                  <a:cubicBezTo>
                    <a:pt x="10477500" y="1532001"/>
                    <a:pt x="10409301" y="1600200"/>
                    <a:pt x="103251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6B35">
                <a:alpha val="784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00138" y="3071812"/>
            <a:ext cx="7515225" cy="745922"/>
            <a:chOff x="0" y="0"/>
            <a:chExt cx="10020300" cy="9945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20300" cy="994563"/>
            </a:xfrm>
            <a:custGeom>
              <a:avLst/>
              <a:gdLst/>
              <a:ahLst/>
              <a:cxnLst/>
              <a:rect r="r" b="b" t="t" l="l"/>
              <a:pathLst>
                <a:path h="994563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994563"/>
                  </a:lnTo>
                  <a:lnTo>
                    <a:pt x="0" y="994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12" r="0" b="-1461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0020300" cy="10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La empresa internacional de e-commerce opera bajo un modelo </a:t>
              </a:r>
              <a:r>
                <a:rPr lang="en-US" sz="1800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reactivo </a:t>
              </a:r>
              <a:r>
                <a:rPr lang="en-US" sz="18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: los problemas se gestionan una vez que el retraso ya ocurrió.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0112" y="4257675"/>
            <a:ext cx="200025" cy="200025"/>
            <a:chOff x="0" y="0"/>
            <a:chExt cx="266700" cy="266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33369"/>
              <a:ext cx="266605" cy="199961"/>
            </a:xfrm>
            <a:custGeom>
              <a:avLst/>
              <a:gdLst/>
              <a:ahLst/>
              <a:cxnLst/>
              <a:rect r="r" b="b" t="t" l="l"/>
              <a:pathLst>
                <a:path h="199961" w="266605">
                  <a:moveTo>
                    <a:pt x="261747" y="111792"/>
                  </a:moveTo>
                  <a:cubicBezTo>
                    <a:pt x="268224" y="105315"/>
                    <a:pt x="268224" y="94647"/>
                    <a:pt x="261747" y="88170"/>
                  </a:cubicBezTo>
                  <a:lnTo>
                    <a:pt x="178435" y="4858"/>
                  </a:lnTo>
                  <a:cubicBezTo>
                    <a:pt x="171958" y="-1619"/>
                    <a:pt x="161290" y="-1619"/>
                    <a:pt x="154813" y="4858"/>
                  </a:cubicBezTo>
                  <a:cubicBezTo>
                    <a:pt x="148336" y="11335"/>
                    <a:pt x="148336" y="22003"/>
                    <a:pt x="154813" y="28480"/>
                  </a:cubicBezTo>
                  <a:lnTo>
                    <a:pt x="209677" y="83344"/>
                  </a:lnTo>
                  <a:lnTo>
                    <a:pt x="16637" y="83344"/>
                  </a:lnTo>
                  <a:cubicBezTo>
                    <a:pt x="7493" y="83344"/>
                    <a:pt x="0" y="90710"/>
                    <a:pt x="0" y="99981"/>
                  </a:cubicBezTo>
                  <a:cubicBezTo>
                    <a:pt x="0" y="109252"/>
                    <a:pt x="7493" y="116618"/>
                    <a:pt x="16637" y="116618"/>
                  </a:cubicBezTo>
                  <a:lnTo>
                    <a:pt x="209677" y="116618"/>
                  </a:lnTo>
                  <a:lnTo>
                    <a:pt x="154813" y="171482"/>
                  </a:lnTo>
                  <a:cubicBezTo>
                    <a:pt x="148336" y="177959"/>
                    <a:pt x="148336" y="188627"/>
                    <a:pt x="154813" y="195104"/>
                  </a:cubicBezTo>
                  <a:cubicBezTo>
                    <a:pt x="161290" y="201581"/>
                    <a:pt x="171958" y="201581"/>
                    <a:pt x="178435" y="195104"/>
                  </a:cubicBezTo>
                  <a:lnTo>
                    <a:pt x="261747" y="111792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5869" y="4214812"/>
            <a:ext cx="4357688" cy="285750"/>
            <a:chOff x="0" y="0"/>
            <a:chExt cx="5810250" cy="38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10250" cy="381000"/>
            </a:xfrm>
            <a:custGeom>
              <a:avLst/>
              <a:gdLst/>
              <a:ahLst/>
              <a:cxnLst/>
              <a:rect r="r" b="b" t="t" l="l"/>
              <a:pathLst>
                <a:path h="381000" w="5810250">
                  <a:moveTo>
                    <a:pt x="0" y="0"/>
                  </a:moveTo>
                  <a:lnTo>
                    <a:pt x="5810250" y="0"/>
                  </a:lnTo>
                  <a:lnTo>
                    <a:pt x="5810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8102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Este proyecto busca transitar hacia un modelo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69156" y="4612481"/>
            <a:ext cx="7862888" cy="719138"/>
          </a:xfrm>
          <a:custGeom>
            <a:avLst/>
            <a:gdLst/>
            <a:ahLst/>
            <a:cxnLst/>
            <a:rect r="r" b="b" t="t" l="l"/>
            <a:pathLst>
              <a:path h="719138" w="7862888">
                <a:moveTo>
                  <a:pt x="0" y="0"/>
                </a:moveTo>
                <a:lnTo>
                  <a:pt x="7862888" y="0"/>
                </a:lnTo>
                <a:lnTo>
                  <a:pt x="7862888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085850" y="4872038"/>
            <a:ext cx="228600" cy="228600"/>
            <a:chOff x="0" y="0"/>
            <a:chExt cx="3048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8750" y="4800600"/>
            <a:ext cx="7229475" cy="342900"/>
            <a:chOff x="0" y="0"/>
            <a:chExt cx="96393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93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0809" r="0" b="-3608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96393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predictivo y proactivo mediante Machine Learning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255919" y="1969294"/>
            <a:ext cx="8462962" cy="6619875"/>
          </a:xfrm>
          <a:custGeom>
            <a:avLst/>
            <a:gdLst/>
            <a:ahLst/>
            <a:cxnLst/>
            <a:rect r="r" b="b" t="t" l="l"/>
            <a:pathLst>
              <a:path h="6619875" w="8462962">
                <a:moveTo>
                  <a:pt x="0" y="0"/>
                </a:moveTo>
                <a:lnTo>
                  <a:pt x="8462962" y="0"/>
                </a:lnTo>
                <a:lnTo>
                  <a:pt x="8462962" y="6619875"/>
                </a:lnTo>
                <a:lnTo>
                  <a:pt x="0" y="6619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594056" y="23288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915525" y="2271712"/>
            <a:ext cx="7643812" cy="400050"/>
            <a:chOff x="0" y="0"/>
            <a:chExt cx="10191750" cy="53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917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303" r="0" b="-3223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01917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Objetivos Analíticos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86912" y="2900362"/>
            <a:ext cx="7829550" cy="1685925"/>
            <a:chOff x="0" y="0"/>
            <a:chExt cx="10439400" cy="2247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39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0439400">
                  <a:moveTo>
                    <a:pt x="762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2095500"/>
                  </a:lnTo>
                  <a:cubicBezTo>
                    <a:pt x="10439400" y="2179701"/>
                    <a:pt x="10371201" y="2247900"/>
                    <a:pt x="10287000" y="2247900"/>
                  </a:cubicBez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>
                <a:alpha val="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86912" y="2900362"/>
            <a:ext cx="57150" cy="1685925"/>
            <a:chOff x="0" y="0"/>
            <a:chExt cx="76200" cy="2247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76200">
                  <a:moveTo>
                    <a:pt x="76200" y="0"/>
                  </a:move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44088" y="3071812"/>
            <a:ext cx="2014538" cy="522288"/>
            <a:chOff x="0" y="0"/>
            <a:chExt cx="20574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57400" cy="533400"/>
            </a:xfrm>
            <a:custGeom>
              <a:avLst/>
              <a:gdLst/>
              <a:ahLst/>
              <a:cxnLst/>
              <a:rect r="r" b="b" t="t" l="l"/>
              <a:pathLst>
                <a:path h="53340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2057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REGRESIÓN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44088" y="3700462"/>
            <a:ext cx="7443788" cy="657225"/>
            <a:chOff x="0" y="0"/>
            <a:chExt cx="9925050" cy="8763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25050" cy="876300"/>
            </a:xfrm>
            <a:custGeom>
              <a:avLst/>
              <a:gdLst/>
              <a:ahLst/>
              <a:cxnLst/>
              <a:rect r="r" b="b" t="t" l="l"/>
              <a:pathLst>
                <a:path h="8763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689" r="0" b="-17068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85725"/>
              <a:ext cx="992505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Predecir el Costo del Producto:</a:t>
              </a: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Estimar </a:t>
              </a:r>
              <a:r>
                <a:rPr lang="en-US" sz="1575">
                  <a:solidFill>
                    <a:srgbClr val="00D4FF"/>
                  </a:solidFill>
                  <a:latin typeface="Arimo"/>
                  <a:ea typeface="Arimo"/>
                  <a:cs typeface="Arimo"/>
                  <a:sym typeface="Arimo"/>
                </a:rPr>
                <a:t>Cost_of_the_Product </a:t>
              </a: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usando características logísticas y del cliente. </a:t>
              </a: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Target: numérico continuo.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86912" y="4757738"/>
            <a:ext cx="7829550" cy="1685925"/>
            <a:chOff x="0" y="0"/>
            <a:chExt cx="10439400" cy="2247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39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0439400">
                  <a:moveTo>
                    <a:pt x="762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2095500"/>
                  </a:lnTo>
                  <a:cubicBezTo>
                    <a:pt x="10439400" y="2179701"/>
                    <a:pt x="10371201" y="2247900"/>
                    <a:pt x="10287000" y="2247900"/>
                  </a:cubicBez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86912" y="4757738"/>
            <a:ext cx="57150" cy="1685925"/>
            <a:chOff x="0" y="0"/>
            <a:chExt cx="76200" cy="22479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76200">
                  <a:moveTo>
                    <a:pt x="76200" y="0"/>
                  </a:move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915525" y="4986338"/>
            <a:ext cx="2014538" cy="400050"/>
            <a:chOff x="0" y="0"/>
            <a:chExt cx="2686050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86050" cy="533400"/>
            </a:xfrm>
            <a:custGeom>
              <a:avLst/>
              <a:gdLst/>
              <a:ahLst/>
              <a:cxnLst/>
              <a:rect r="r" b="b" t="t" l="l"/>
              <a:pathLst>
                <a:path h="53340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121" r="0" b="-4812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26860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CLASIFICACIÓN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44088" y="5557838"/>
            <a:ext cx="7443788" cy="657225"/>
            <a:chOff x="0" y="0"/>
            <a:chExt cx="9925050" cy="876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25050" cy="876300"/>
            </a:xfrm>
            <a:custGeom>
              <a:avLst/>
              <a:gdLst/>
              <a:ahLst/>
              <a:cxnLst/>
              <a:rect r="r" b="b" t="t" l="l"/>
              <a:pathLst>
                <a:path h="8763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689" r="0" b="-17068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992505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Predecir Entregas a Tiempo:</a:t>
              </a: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Modelos de clasificación binaria para determinar si un envío llegará o no a tiempo. </a:t>
              </a: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Target: binario (0/1).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86912" y="6607969"/>
            <a:ext cx="7829550" cy="1685925"/>
            <a:chOff x="0" y="0"/>
            <a:chExt cx="10439400" cy="2247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39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0439400">
                  <a:moveTo>
                    <a:pt x="762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2095500"/>
                  </a:lnTo>
                  <a:cubicBezTo>
                    <a:pt x="10439400" y="2179701"/>
                    <a:pt x="10371201" y="2247900"/>
                    <a:pt x="10287000" y="2247900"/>
                  </a:cubicBez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>
                <a:alpha val="784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86912" y="6607969"/>
            <a:ext cx="57150" cy="1685925"/>
            <a:chOff x="0" y="0"/>
            <a:chExt cx="76200" cy="2247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76200">
                  <a:moveTo>
                    <a:pt x="76200" y="0"/>
                  </a:moveTo>
                  <a:lnTo>
                    <a:pt x="76200" y="2247900"/>
                  </a:lnTo>
                  <a:cubicBezTo>
                    <a:pt x="34163" y="2247900"/>
                    <a:pt x="0" y="2213737"/>
                    <a:pt x="0" y="2171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915525" y="6843712"/>
            <a:ext cx="1228725" cy="400050"/>
            <a:chOff x="0" y="0"/>
            <a:chExt cx="163830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38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6383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44088" y="7408069"/>
            <a:ext cx="7443788" cy="657225"/>
            <a:chOff x="0" y="0"/>
            <a:chExt cx="9925050" cy="8763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25050" cy="876300"/>
            </a:xfrm>
            <a:custGeom>
              <a:avLst/>
              <a:gdLst/>
              <a:ahLst/>
              <a:cxnLst/>
              <a:rect r="r" b="b" t="t" l="l"/>
              <a:pathLst>
                <a:path h="8763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689" r="0" b="-17068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992505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Identificar Patrones:</a:t>
              </a:r>
              <a:r>
                <a:rPr lang="en-US" sz="157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Descubrir patrones ocultos en entregas y desempeño logístico para optimizar operaciones.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569119" y="8813006"/>
            <a:ext cx="17149762" cy="833438"/>
          </a:xfrm>
          <a:custGeom>
            <a:avLst/>
            <a:gdLst/>
            <a:ahLst/>
            <a:cxnLst/>
            <a:rect r="r" b="b" t="t" l="l"/>
            <a:pathLst>
              <a:path h="833438" w="17149762">
                <a:moveTo>
                  <a:pt x="0" y="0"/>
                </a:moveTo>
                <a:lnTo>
                  <a:pt x="17149762" y="0"/>
                </a:lnTo>
                <a:lnTo>
                  <a:pt x="17149762" y="833438"/>
                </a:lnTo>
                <a:lnTo>
                  <a:pt x="0" y="8334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2569293" y="9058275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3140793" y="9058275"/>
            <a:ext cx="12773025" cy="342900"/>
            <a:chOff x="0" y="0"/>
            <a:chExt cx="17030700" cy="457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030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7030700">
                  <a:moveTo>
                    <a:pt x="0" y="0"/>
                  </a:moveTo>
                  <a:lnTo>
                    <a:pt x="17030700" y="0"/>
                  </a:lnTo>
                  <a:lnTo>
                    <a:pt x="17030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5817" r="0" b="-67581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170307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Enfoque Dual:</a:t>
              </a:r>
              <a:r>
                <a:rPr lang="en-US" sz="18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Este estudio aborda simultáneamente </a:t>
              </a:r>
              <a:r>
                <a:rPr lang="en-US" sz="180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regresión</a:t>
              </a:r>
              <a:r>
                <a:rPr lang="en-US" sz="18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y </a:t>
              </a:r>
              <a:r>
                <a:rPr lang="en-US" sz="18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clasificación</a:t>
              </a:r>
              <a:r>
                <a:rPr lang="en-US" sz="18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sobre el mismo dataset de </a:t>
              </a:r>
              <a:r>
                <a:rPr lang="en-US" sz="180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10,999 registros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119" y="569119"/>
            <a:ext cx="1905000" cy="376238"/>
          </a:xfrm>
          <a:custGeom>
            <a:avLst/>
            <a:gdLst/>
            <a:ahLst/>
            <a:cxnLst/>
            <a:rect r="r" b="b" t="t" l="l"/>
            <a:pathLst>
              <a:path h="376238" w="1905000">
                <a:moveTo>
                  <a:pt x="0" y="0"/>
                </a:moveTo>
                <a:lnTo>
                  <a:pt x="1905000" y="0"/>
                </a:lnTo>
                <a:lnTo>
                  <a:pt x="1905000" y="376237"/>
                </a:lnTo>
                <a:lnTo>
                  <a:pt x="0" y="376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1500" y="571500"/>
            <a:ext cx="1957388" cy="342900"/>
            <a:chOff x="0" y="0"/>
            <a:chExt cx="2609850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9850" cy="457200"/>
            </a:xfrm>
            <a:custGeom>
              <a:avLst/>
              <a:gdLst/>
              <a:ahLst/>
              <a:cxnLst/>
              <a:rect r="r" b="b" t="t" l="l"/>
              <a:pathLst>
                <a:path h="457200" w="2609850">
                  <a:moveTo>
                    <a:pt x="0" y="0"/>
                  </a:moveTo>
                  <a:lnTo>
                    <a:pt x="2609850" y="0"/>
                  </a:lnTo>
                  <a:lnTo>
                    <a:pt x="26098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60985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41959" y="614362"/>
            <a:ext cx="1943100" cy="285750"/>
            <a:chOff x="0" y="0"/>
            <a:chExt cx="2590800" cy="38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0800" cy="381000"/>
            </a:xfrm>
            <a:custGeom>
              <a:avLst/>
              <a:gdLst/>
              <a:ahLst/>
              <a:cxnLst/>
              <a:rect r="r" b="b" t="t" l="l"/>
              <a:pathLst>
                <a:path h="3810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5908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Data Understanding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1500" y="1057275"/>
            <a:ext cx="17402175" cy="571500"/>
            <a:chOff x="0" y="0"/>
            <a:chExt cx="232029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32029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 Dataset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9119" y="1797844"/>
            <a:ext cx="4162425" cy="1233488"/>
          </a:xfrm>
          <a:custGeom>
            <a:avLst/>
            <a:gdLst/>
            <a:ahLst/>
            <a:cxnLst/>
            <a:rect r="r" b="b" t="t" l="l"/>
            <a:pathLst>
              <a:path h="1233488" w="4162425">
                <a:moveTo>
                  <a:pt x="0" y="0"/>
                </a:moveTo>
                <a:lnTo>
                  <a:pt x="4162425" y="0"/>
                </a:lnTo>
                <a:lnTo>
                  <a:pt x="4162425" y="1233487"/>
                </a:lnTo>
                <a:lnTo>
                  <a:pt x="0" y="1233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50081" y="1985962"/>
            <a:ext cx="4000500" cy="514350"/>
            <a:chOff x="0" y="0"/>
            <a:chExt cx="5334000" cy="685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0" cy="685800"/>
            </a:xfrm>
            <a:custGeom>
              <a:avLst/>
              <a:gdLst/>
              <a:ahLst/>
              <a:cxnLst/>
              <a:rect r="r" b="b" t="t" l="l"/>
              <a:pathLst>
                <a:path h="685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334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10,999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231" y="2557462"/>
            <a:ext cx="3886200" cy="285750"/>
            <a:chOff x="0" y="0"/>
            <a:chExt cx="5181600" cy="38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81600" cy="381000"/>
            </a:xfrm>
            <a:custGeom>
              <a:avLst/>
              <a:gdLst/>
              <a:ahLst/>
              <a:cxnLst/>
              <a:rect r="r" b="b" t="t" l="l"/>
              <a:pathLst>
                <a:path h="381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1816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Registros totales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898231" y="1797844"/>
            <a:ext cx="4162425" cy="1233488"/>
          </a:xfrm>
          <a:custGeom>
            <a:avLst/>
            <a:gdLst/>
            <a:ahLst/>
            <a:cxnLst/>
            <a:rect r="r" b="b" t="t" l="l"/>
            <a:pathLst>
              <a:path h="1233488" w="4162425">
                <a:moveTo>
                  <a:pt x="0" y="0"/>
                </a:moveTo>
                <a:lnTo>
                  <a:pt x="4162425" y="0"/>
                </a:lnTo>
                <a:lnTo>
                  <a:pt x="4162425" y="1233487"/>
                </a:lnTo>
                <a:lnTo>
                  <a:pt x="0" y="1233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979194" y="1985962"/>
            <a:ext cx="4000500" cy="514350"/>
            <a:chOff x="0" y="0"/>
            <a:chExt cx="533400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685800"/>
            </a:xfrm>
            <a:custGeom>
              <a:avLst/>
              <a:gdLst/>
              <a:ahLst/>
              <a:cxnLst/>
              <a:rect r="r" b="b" t="t" l="l"/>
              <a:pathLst>
                <a:path h="685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334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36344" y="2557462"/>
            <a:ext cx="3886200" cy="285750"/>
            <a:chOff x="0" y="0"/>
            <a:chExt cx="518160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81600" cy="381000"/>
            </a:xfrm>
            <a:custGeom>
              <a:avLst/>
              <a:gdLst/>
              <a:ahLst/>
              <a:cxnLst/>
              <a:rect r="r" b="b" t="t" l="l"/>
              <a:pathLst>
                <a:path h="381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1816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Variables originales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227344" y="1797844"/>
            <a:ext cx="4162425" cy="1233488"/>
          </a:xfrm>
          <a:custGeom>
            <a:avLst/>
            <a:gdLst/>
            <a:ahLst/>
            <a:cxnLst/>
            <a:rect r="r" b="b" t="t" l="l"/>
            <a:pathLst>
              <a:path h="1233488" w="4162425">
                <a:moveTo>
                  <a:pt x="0" y="0"/>
                </a:moveTo>
                <a:lnTo>
                  <a:pt x="4162425" y="0"/>
                </a:lnTo>
                <a:lnTo>
                  <a:pt x="4162425" y="1233487"/>
                </a:lnTo>
                <a:lnTo>
                  <a:pt x="0" y="1233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308306" y="1985962"/>
            <a:ext cx="4000500" cy="514350"/>
            <a:chOff x="0" y="0"/>
            <a:chExt cx="5334000" cy="68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34000" cy="685800"/>
            </a:xfrm>
            <a:custGeom>
              <a:avLst/>
              <a:gdLst/>
              <a:ahLst/>
              <a:cxnLst/>
              <a:rect r="r" b="b" t="t" l="l"/>
              <a:pathLst>
                <a:path h="685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334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65456" y="2557462"/>
            <a:ext cx="3886200" cy="285750"/>
            <a:chOff x="0" y="0"/>
            <a:chExt cx="5181600" cy="38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81600" cy="381000"/>
            </a:xfrm>
            <a:custGeom>
              <a:avLst/>
              <a:gdLst/>
              <a:ahLst/>
              <a:cxnLst/>
              <a:rect r="r" b="b" t="t" l="l"/>
              <a:pathLst>
                <a:path h="381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1816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Targets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556456" y="1797844"/>
            <a:ext cx="4162425" cy="1233488"/>
          </a:xfrm>
          <a:custGeom>
            <a:avLst/>
            <a:gdLst/>
            <a:ahLst/>
            <a:cxnLst/>
            <a:rect r="r" b="b" t="t" l="l"/>
            <a:pathLst>
              <a:path h="1233488" w="4162425">
                <a:moveTo>
                  <a:pt x="0" y="0"/>
                </a:moveTo>
                <a:lnTo>
                  <a:pt x="4162425" y="0"/>
                </a:lnTo>
                <a:lnTo>
                  <a:pt x="4162425" y="1233487"/>
                </a:lnTo>
                <a:lnTo>
                  <a:pt x="0" y="1233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637419" y="1985962"/>
            <a:ext cx="4000500" cy="514350"/>
            <a:chOff x="0" y="0"/>
            <a:chExt cx="5334000" cy="685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685800"/>
            </a:xfrm>
            <a:custGeom>
              <a:avLst/>
              <a:gdLst/>
              <a:ahLst/>
              <a:cxnLst/>
              <a:rect r="r" b="b" t="t" l="l"/>
              <a:pathLst>
                <a:path h="685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334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94569" y="2557462"/>
            <a:ext cx="3886200" cy="285750"/>
            <a:chOff x="0" y="0"/>
            <a:chExt cx="5181600" cy="38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81600" cy="381000"/>
            </a:xfrm>
            <a:custGeom>
              <a:avLst/>
              <a:gdLst/>
              <a:ahLst/>
              <a:cxnLst/>
              <a:rect r="r" b="b" t="t" l="l"/>
              <a:pathLst>
                <a:path h="381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1816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Valores nulos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69119" y="3198019"/>
            <a:ext cx="17149762" cy="4719638"/>
          </a:xfrm>
          <a:custGeom>
            <a:avLst/>
            <a:gdLst/>
            <a:ahLst/>
            <a:cxnLst/>
            <a:rect r="r" b="b" t="t" l="l"/>
            <a:pathLst>
              <a:path h="4719638" w="17149762">
                <a:moveTo>
                  <a:pt x="0" y="0"/>
                </a:moveTo>
                <a:lnTo>
                  <a:pt x="17149762" y="0"/>
                </a:lnTo>
                <a:lnTo>
                  <a:pt x="17149762" y="4719637"/>
                </a:lnTo>
                <a:lnTo>
                  <a:pt x="0" y="47196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66175" y="3514725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43000" y="3443288"/>
            <a:ext cx="16459200" cy="400050"/>
            <a:chOff x="0" y="0"/>
            <a:chExt cx="219456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1670" r="0" b="-75167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21945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Tabla de Variables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42962" y="3957638"/>
            <a:ext cx="8186738" cy="571500"/>
            <a:chOff x="0" y="0"/>
            <a:chExt cx="10915650" cy="76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2962" y="3957638"/>
            <a:ext cx="57150" cy="571500"/>
            <a:chOff x="0" y="0"/>
            <a:chExt cx="76200" cy="762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5838" y="4157662"/>
            <a:ext cx="1679896" cy="221456"/>
            <a:chOff x="0" y="0"/>
            <a:chExt cx="2239861" cy="2952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39864" cy="295276"/>
            </a:xfrm>
            <a:custGeom>
              <a:avLst/>
              <a:gdLst/>
              <a:ahLst/>
              <a:cxnLst/>
              <a:rect r="r" b="b" t="t" l="l"/>
              <a:pathLst>
                <a:path h="295276" w="2239864">
                  <a:moveTo>
                    <a:pt x="0" y="0"/>
                  </a:moveTo>
                  <a:lnTo>
                    <a:pt x="2239864" y="0"/>
                  </a:lnTo>
                  <a:lnTo>
                    <a:pt x="2239864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806" r="0" b="-9780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39861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Warehouse_block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746105" y="4150519"/>
            <a:ext cx="734358" cy="228600"/>
            <a:chOff x="0" y="0"/>
            <a:chExt cx="979145" cy="304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9140" cy="304800"/>
            </a:xfrm>
            <a:custGeom>
              <a:avLst/>
              <a:gdLst/>
              <a:ahLst/>
              <a:cxnLst/>
              <a:rect r="r" b="b" t="t" l="l"/>
              <a:pathLst>
                <a:path h="304800" w="979140">
                  <a:moveTo>
                    <a:pt x="0" y="0"/>
                  </a:moveTo>
                  <a:lnTo>
                    <a:pt x="979140" y="0"/>
                  </a:lnTo>
                  <a:lnTo>
                    <a:pt x="97914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94" r="0" b="-1259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7914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Nominal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914369" y="4129088"/>
            <a:ext cx="2085975" cy="228600"/>
            <a:chOff x="0" y="0"/>
            <a:chExt cx="2781300" cy="304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81300" cy="304800"/>
            </a:xfrm>
            <a:custGeom>
              <a:avLst/>
              <a:gdLst/>
              <a:ahLst/>
              <a:cxnLst/>
              <a:rect r="r" b="b" t="t" l="l"/>
              <a:pathLst>
                <a:path h="30480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7813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Bloque del almacén (A–F)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86875" y="3957638"/>
            <a:ext cx="8186738" cy="571500"/>
            <a:chOff x="0" y="0"/>
            <a:chExt cx="10915650" cy="762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86875" y="3957638"/>
            <a:ext cx="57150" cy="571500"/>
            <a:chOff x="0" y="0"/>
            <a:chExt cx="762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29750" y="4157662"/>
            <a:ext cx="1793081" cy="221456"/>
            <a:chOff x="0" y="0"/>
            <a:chExt cx="2390775" cy="2952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90776" cy="295276"/>
            </a:xfrm>
            <a:custGeom>
              <a:avLst/>
              <a:gdLst/>
              <a:ahLst/>
              <a:cxnLst/>
              <a:rect r="r" b="b" t="t" l="l"/>
              <a:pathLst>
                <a:path h="295276" w="2390776">
                  <a:moveTo>
                    <a:pt x="0" y="0"/>
                  </a:moveTo>
                  <a:lnTo>
                    <a:pt x="2390776" y="0"/>
                  </a:lnTo>
                  <a:lnTo>
                    <a:pt x="2390776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765" r="0" b="-1077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39077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Mode_of_Shipment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03203" y="4150519"/>
            <a:ext cx="734358" cy="228600"/>
            <a:chOff x="0" y="0"/>
            <a:chExt cx="979145" cy="304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9140" cy="304800"/>
            </a:xfrm>
            <a:custGeom>
              <a:avLst/>
              <a:gdLst/>
              <a:ahLst/>
              <a:cxnLst/>
              <a:rect r="r" b="b" t="t" l="l"/>
              <a:pathLst>
                <a:path h="304800" w="979140">
                  <a:moveTo>
                    <a:pt x="0" y="0"/>
                  </a:moveTo>
                  <a:lnTo>
                    <a:pt x="979140" y="0"/>
                  </a:lnTo>
                  <a:lnTo>
                    <a:pt x="97914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94" r="0" b="-1259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7914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Nominal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838360" y="4129088"/>
            <a:ext cx="1600200" cy="228600"/>
            <a:chOff x="0" y="0"/>
            <a:chExt cx="2133600" cy="304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33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133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Ship / Flight / Road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42962" y="4586288"/>
            <a:ext cx="8186738" cy="571500"/>
            <a:chOff x="0" y="0"/>
            <a:chExt cx="10915650" cy="762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42962" y="4586288"/>
            <a:ext cx="57150" cy="571500"/>
            <a:chOff x="0" y="0"/>
            <a:chExt cx="76200" cy="762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85838" y="4786312"/>
            <a:ext cx="1900123" cy="221456"/>
            <a:chOff x="0" y="0"/>
            <a:chExt cx="2533498" cy="2952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33502" cy="295276"/>
            </a:xfrm>
            <a:custGeom>
              <a:avLst/>
              <a:gdLst/>
              <a:ahLst/>
              <a:cxnLst/>
              <a:rect r="r" b="b" t="t" l="l"/>
              <a:pathLst>
                <a:path h="295276" w="2533502">
                  <a:moveTo>
                    <a:pt x="0" y="0"/>
                  </a:moveTo>
                  <a:lnTo>
                    <a:pt x="2533502" y="0"/>
                  </a:lnTo>
                  <a:lnTo>
                    <a:pt x="2533502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183" r="0" b="-1171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533498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Customer_care_calls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966333" y="4779169"/>
            <a:ext cx="844639" cy="228600"/>
            <a:chOff x="0" y="0"/>
            <a:chExt cx="1126185" cy="304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6182" cy="304800"/>
            </a:xfrm>
            <a:custGeom>
              <a:avLst/>
              <a:gdLst/>
              <a:ahLst/>
              <a:cxnLst/>
              <a:rect r="r" b="b" t="t" l="l"/>
              <a:pathLst>
                <a:path h="304800" w="1126182">
                  <a:moveTo>
                    <a:pt x="0" y="0"/>
                  </a:moveTo>
                  <a:lnTo>
                    <a:pt x="1126182" y="0"/>
                  </a:lnTo>
                  <a:lnTo>
                    <a:pt x="112618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93" r="0" b="-2199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12618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Numérica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377817" y="4757738"/>
            <a:ext cx="1628775" cy="228600"/>
            <a:chOff x="0" y="0"/>
            <a:chExt cx="2171700" cy="304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71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21717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Llamadas a soporte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286875" y="4586288"/>
            <a:ext cx="8186738" cy="571500"/>
            <a:chOff x="0" y="0"/>
            <a:chExt cx="10915650" cy="762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286875" y="4586288"/>
            <a:ext cx="57150" cy="571500"/>
            <a:chOff x="0" y="0"/>
            <a:chExt cx="76200" cy="762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429750" y="4786312"/>
            <a:ext cx="1534230" cy="221456"/>
            <a:chOff x="0" y="0"/>
            <a:chExt cx="2045640" cy="2952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45642" cy="295276"/>
            </a:xfrm>
            <a:custGeom>
              <a:avLst/>
              <a:gdLst/>
              <a:ahLst/>
              <a:cxnLst/>
              <a:rect r="r" b="b" t="t" l="l"/>
              <a:pathLst>
                <a:path h="295276" w="2045642">
                  <a:moveTo>
                    <a:pt x="0" y="0"/>
                  </a:moveTo>
                  <a:lnTo>
                    <a:pt x="2045642" y="0"/>
                  </a:lnTo>
                  <a:lnTo>
                    <a:pt x="2045642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990" r="0" b="-8499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04564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Customer_rating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044352" y="4779169"/>
            <a:ext cx="844639" cy="228600"/>
            <a:chOff x="0" y="0"/>
            <a:chExt cx="1126185" cy="304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26182" cy="304800"/>
            </a:xfrm>
            <a:custGeom>
              <a:avLst/>
              <a:gdLst/>
              <a:ahLst/>
              <a:cxnLst/>
              <a:rect r="r" b="b" t="t" l="l"/>
              <a:pathLst>
                <a:path h="304800" w="1126182">
                  <a:moveTo>
                    <a:pt x="0" y="0"/>
                  </a:moveTo>
                  <a:lnTo>
                    <a:pt x="1126182" y="0"/>
                  </a:lnTo>
                  <a:lnTo>
                    <a:pt x="112618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93" r="0" b="-2199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112618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Numérica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6146770" y="4757738"/>
            <a:ext cx="1300162" cy="228600"/>
            <a:chOff x="0" y="0"/>
            <a:chExt cx="1733550" cy="304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33550" cy="304800"/>
            </a:xfrm>
            <a:custGeom>
              <a:avLst/>
              <a:gdLst/>
              <a:ahLst/>
              <a:cxnLst/>
              <a:rect r="r" b="b" t="t" l="l"/>
              <a:pathLst>
                <a:path h="304800" w="1733550">
                  <a:moveTo>
                    <a:pt x="0" y="0"/>
                  </a:moveTo>
                  <a:lnTo>
                    <a:pt x="1733550" y="0"/>
                  </a:lnTo>
                  <a:lnTo>
                    <a:pt x="17335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821" r="0" b="-6082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17335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Calificación 1–5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42962" y="5214938"/>
            <a:ext cx="8186738" cy="571500"/>
            <a:chOff x="0" y="0"/>
            <a:chExt cx="10915650" cy="762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>
                <a:alpha val="3922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42962" y="5214938"/>
            <a:ext cx="57150" cy="571500"/>
            <a:chOff x="0" y="0"/>
            <a:chExt cx="76200" cy="762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5838" y="5414962"/>
            <a:ext cx="1907715" cy="221456"/>
            <a:chOff x="0" y="0"/>
            <a:chExt cx="2543620" cy="29527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43622" cy="295276"/>
            </a:xfrm>
            <a:custGeom>
              <a:avLst/>
              <a:gdLst/>
              <a:ahLst/>
              <a:cxnLst/>
              <a:rect r="r" b="b" t="t" l="l"/>
              <a:pathLst>
                <a:path h="295276" w="2543622">
                  <a:moveTo>
                    <a:pt x="0" y="0"/>
                  </a:moveTo>
                  <a:lnTo>
                    <a:pt x="2543622" y="0"/>
                  </a:lnTo>
                  <a:lnTo>
                    <a:pt x="2543622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851" r="0" b="-11785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4362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F6B35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Cost_of_the_Product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973924" y="5379244"/>
            <a:ext cx="1266787" cy="285750"/>
            <a:chOff x="0" y="0"/>
            <a:chExt cx="1689049" cy="381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89100" cy="381000"/>
            </a:xfrm>
            <a:custGeom>
              <a:avLst/>
              <a:gdLst/>
              <a:ahLst/>
              <a:cxnLst/>
              <a:rect r="r" b="b" t="t" l="l"/>
              <a:pathLst>
                <a:path h="381000" w="1689100">
                  <a:moveTo>
                    <a:pt x="76200" y="0"/>
                  </a:moveTo>
                  <a:lnTo>
                    <a:pt x="1612900" y="0"/>
                  </a:lnTo>
                  <a:cubicBezTo>
                    <a:pt x="1654937" y="0"/>
                    <a:pt x="1689100" y="34163"/>
                    <a:pt x="1689100" y="76200"/>
                  </a:cubicBezTo>
                  <a:lnTo>
                    <a:pt x="1689100" y="304800"/>
                  </a:lnTo>
                  <a:cubicBezTo>
                    <a:pt x="1689100" y="346837"/>
                    <a:pt x="1654937" y="381000"/>
                    <a:pt x="1612900" y="381000"/>
                  </a:cubicBezTo>
                  <a:lnTo>
                    <a:pt x="76200" y="381000"/>
                  </a:lnTo>
                  <a:cubicBezTo>
                    <a:pt x="34163" y="381000"/>
                    <a:pt x="0" y="346837"/>
                    <a:pt x="0" y="30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2973924" y="5379244"/>
            <a:ext cx="1352512" cy="285750"/>
            <a:chOff x="0" y="0"/>
            <a:chExt cx="1803349" cy="3810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0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1803350">
                  <a:moveTo>
                    <a:pt x="0" y="0"/>
                  </a:moveTo>
                  <a:lnTo>
                    <a:pt x="1803350" y="0"/>
                  </a:lnTo>
                  <a:lnTo>
                    <a:pt x="180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226" r="0" b="-4222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1803349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TARGET REG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404716" y="5386388"/>
            <a:ext cx="1600200" cy="228600"/>
            <a:chOff x="0" y="0"/>
            <a:chExt cx="2133600" cy="3048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33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133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Costo del producto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286875" y="5214938"/>
            <a:ext cx="8186738" cy="571500"/>
            <a:chOff x="0" y="0"/>
            <a:chExt cx="10915650" cy="7620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286875" y="5214938"/>
            <a:ext cx="57150" cy="571500"/>
            <a:chOff x="0" y="0"/>
            <a:chExt cx="76200" cy="762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29750" y="5414962"/>
            <a:ext cx="1487691" cy="221456"/>
            <a:chOff x="0" y="0"/>
            <a:chExt cx="1983588" cy="29527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83582" cy="295276"/>
            </a:xfrm>
            <a:custGeom>
              <a:avLst/>
              <a:gdLst/>
              <a:ahLst/>
              <a:cxnLst/>
              <a:rect r="r" b="b" t="t" l="l"/>
              <a:pathLst>
                <a:path h="295276" w="1983582">
                  <a:moveTo>
                    <a:pt x="0" y="0"/>
                  </a:moveTo>
                  <a:lnTo>
                    <a:pt x="1983582" y="0"/>
                  </a:lnTo>
                  <a:lnTo>
                    <a:pt x="1983582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0895" r="0" b="-8089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983588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Prior_purchases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997803" y="5407819"/>
            <a:ext cx="844639" cy="228600"/>
            <a:chOff x="0" y="0"/>
            <a:chExt cx="1126185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26182" cy="304800"/>
            </a:xfrm>
            <a:custGeom>
              <a:avLst/>
              <a:gdLst/>
              <a:ahLst/>
              <a:cxnLst/>
              <a:rect r="r" b="b" t="t" l="l"/>
              <a:pathLst>
                <a:path h="304800" w="1126182">
                  <a:moveTo>
                    <a:pt x="0" y="0"/>
                  </a:moveTo>
                  <a:lnTo>
                    <a:pt x="1126182" y="0"/>
                  </a:lnTo>
                  <a:lnTo>
                    <a:pt x="112618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93" r="0" b="-2199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12618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Numérica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6040290" y="5386388"/>
            <a:ext cx="1400175" cy="228600"/>
            <a:chOff x="0" y="0"/>
            <a:chExt cx="1866900" cy="3048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866900" cy="304800"/>
            </a:xfrm>
            <a:custGeom>
              <a:avLst/>
              <a:gdLst/>
              <a:ahLst/>
              <a:cxnLst/>
              <a:rect r="r" b="b" t="t" l="l"/>
              <a:pathLst>
                <a:path h="3048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18669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Compras previas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42962" y="5843588"/>
            <a:ext cx="8186738" cy="571500"/>
            <a:chOff x="0" y="0"/>
            <a:chExt cx="10915650" cy="7620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42962" y="5843588"/>
            <a:ext cx="57150" cy="571500"/>
            <a:chOff x="0" y="0"/>
            <a:chExt cx="76200" cy="7620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85838" y="6043612"/>
            <a:ext cx="1864071" cy="221456"/>
            <a:chOff x="0" y="0"/>
            <a:chExt cx="2485428" cy="29527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85430" cy="295276"/>
            </a:xfrm>
            <a:custGeom>
              <a:avLst/>
              <a:gdLst/>
              <a:ahLst/>
              <a:cxnLst/>
              <a:rect r="r" b="b" t="t" l="l"/>
              <a:pathLst>
                <a:path h="295276" w="2485430">
                  <a:moveTo>
                    <a:pt x="0" y="0"/>
                  </a:moveTo>
                  <a:lnTo>
                    <a:pt x="2485430" y="0"/>
                  </a:lnTo>
                  <a:lnTo>
                    <a:pt x="2485430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011" r="0" b="-11401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485428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Product_importance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2930281" y="6036469"/>
            <a:ext cx="660016" cy="228600"/>
            <a:chOff x="0" y="0"/>
            <a:chExt cx="880021" cy="304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80020" cy="304800"/>
            </a:xfrm>
            <a:custGeom>
              <a:avLst/>
              <a:gdLst/>
              <a:ahLst/>
              <a:cxnLst/>
              <a:rect r="r" b="b" t="t" l="l"/>
              <a:pathLst>
                <a:path h="304800" w="880020">
                  <a:moveTo>
                    <a:pt x="0" y="0"/>
                  </a:moveTo>
                  <a:lnTo>
                    <a:pt x="880020" y="0"/>
                  </a:lnTo>
                  <a:lnTo>
                    <a:pt x="88002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57" r="0" b="-625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880021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Ordinal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7326030" y="6015038"/>
            <a:ext cx="1671638" cy="228600"/>
            <a:chOff x="0" y="0"/>
            <a:chExt cx="2228850" cy="304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228850" cy="304800"/>
            </a:xfrm>
            <a:custGeom>
              <a:avLst/>
              <a:gdLst/>
              <a:ahLst/>
              <a:cxnLst/>
              <a:rect r="r" b="b" t="t" l="l"/>
              <a:pathLst>
                <a:path h="3048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484" r="0" b="-92484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22288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low / medium / high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6875" y="5843588"/>
            <a:ext cx="8186738" cy="571500"/>
            <a:chOff x="0" y="0"/>
            <a:chExt cx="10915650" cy="7620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6875" y="5843588"/>
            <a:ext cx="57150" cy="571500"/>
            <a:chOff x="0" y="0"/>
            <a:chExt cx="76200" cy="7620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9750" y="6043612"/>
            <a:ext cx="1589484" cy="221456"/>
            <a:chOff x="0" y="0"/>
            <a:chExt cx="2119312" cy="29527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119312" cy="295276"/>
            </a:xfrm>
            <a:custGeom>
              <a:avLst/>
              <a:gdLst/>
              <a:ahLst/>
              <a:cxnLst/>
              <a:rect r="r" b="b" t="t" l="l"/>
              <a:pathLst>
                <a:path h="295276" w="2119312">
                  <a:moveTo>
                    <a:pt x="0" y="0"/>
                  </a:moveTo>
                  <a:lnTo>
                    <a:pt x="2119312" y="0"/>
                  </a:lnTo>
                  <a:lnTo>
                    <a:pt x="2119312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851" r="0" b="-89851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211931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Discount_offered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099597" y="6036469"/>
            <a:ext cx="844639" cy="228600"/>
            <a:chOff x="0" y="0"/>
            <a:chExt cx="1126185" cy="3048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126182" cy="304800"/>
            </a:xfrm>
            <a:custGeom>
              <a:avLst/>
              <a:gdLst/>
              <a:ahLst/>
              <a:cxnLst/>
              <a:rect r="r" b="b" t="t" l="l"/>
              <a:pathLst>
                <a:path h="304800" w="1126182">
                  <a:moveTo>
                    <a:pt x="0" y="0"/>
                  </a:moveTo>
                  <a:lnTo>
                    <a:pt x="1126182" y="0"/>
                  </a:lnTo>
                  <a:lnTo>
                    <a:pt x="112618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93" r="0" b="-21993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28575"/>
              <a:ext cx="112618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Numérica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754968" y="6015038"/>
            <a:ext cx="2686050" cy="228600"/>
            <a:chOff x="0" y="0"/>
            <a:chExt cx="3581400" cy="3048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581400" cy="304800"/>
            </a:xfrm>
            <a:custGeom>
              <a:avLst/>
              <a:gdLst/>
              <a:ahLst/>
              <a:cxnLst/>
              <a:rect r="r" b="b" t="t" l="l"/>
              <a:pathLst>
                <a:path h="304800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35814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→ transformada a High_Discount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842962" y="6472238"/>
            <a:ext cx="8186738" cy="571500"/>
            <a:chOff x="0" y="0"/>
            <a:chExt cx="10915650" cy="7620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117">
                <a:alpha val="25098"/>
              </a:srgbClr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42962" y="6472238"/>
            <a:ext cx="57150" cy="571500"/>
            <a:chOff x="0" y="0"/>
            <a:chExt cx="76200" cy="7620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85838" y="6672262"/>
            <a:ext cx="1449619" cy="221456"/>
            <a:chOff x="0" y="0"/>
            <a:chExt cx="1932826" cy="29527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932830" cy="295276"/>
            </a:xfrm>
            <a:custGeom>
              <a:avLst/>
              <a:gdLst/>
              <a:ahLst/>
              <a:cxnLst/>
              <a:rect r="r" b="b" t="t" l="l"/>
              <a:pathLst>
                <a:path h="295276" w="1932830">
                  <a:moveTo>
                    <a:pt x="0" y="0"/>
                  </a:moveTo>
                  <a:lnTo>
                    <a:pt x="1932830" y="0"/>
                  </a:lnTo>
                  <a:lnTo>
                    <a:pt x="1932830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545" r="0" b="-7754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932826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Weight_in_gms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2515829" y="6665119"/>
            <a:ext cx="844639" cy="228600"/>
            <a:chOff x="0" y="0"/>
            <a:chExt cx="1126185" cy="3048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126182" cy="304800"/>
            </a:xfrm>
            <a:custGeom>
              <a:avLst/>
              <a:gdLst/>
              <a:ahLst/>
              <a:cxnLst/>
              <a:rect r="r" b="b" t="t" l="l"/>
              <a:pathLst>
                <a:path h="304800" w="1126182">
                  <a:moveTo>
                    <a:pt x="0" y="0"/>
                  </a:moveTo>
                  <a:lnTo>
                    <a:pt x="1126182" y="0"/>
                  </a:lnTo>
                  <a:lnTo>
                    <a:pt x="112618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93" r="0" b="-21993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1126185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Numérica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7652737" y="6643688"/>
            <a:ext cx="1343025" cy="228600"/>
            <a:chOff x="0" y="0"/>
            <a:chExt cx="1790700" cy="3048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790700" cy="304800"/>
            </a:xfrm>
            <a:custGeom>
              <a:avLst/>
              <a:gdLst/>
              <a:ahLst/>
              <a:cxnLst/>
              <a:rect r="r" b="b" t="t" l="l"/>
              <a:pathLst>
                <a:path h="3048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17907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Peso en gramos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286875" y="6472238"/>
            <a:ext cx="8186738" cy="571500"/>
            <a:chOff x="0" y="0"/>
            <a:chExt cx="10915650" cy="7620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>
                <a:alpha val="3922"/>
              </a:srgbClr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9286875" y="6472238"/>
            <a:ext cx="57150" cy="571500"/>
            <a:chOff x="0" y="0"/>
            <a:chExt cx="76200" cy="7620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9429750" y="6672262"/>
            <a:ext cx="1990649" cy="221456"/>
            <a:chOff x="0" y="0"/>
            <a:chExt cx="2654198" cy="295275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654200" cy="295276"/>
            </a:xfrm>
            <a:custGeom>
              <a:avLst/>
              <a:gdLst/>
              <a:ahLst/>
              <a:cxnLst/>
              <a:rect r="r" b="b" t="t" l="l"/>
              <a:pathLst>
                <a:path h="295276" w="2654200">
                  <a:moveTo>
                    <a:pt x="0" y="0"/>
                  </a:moveTo>
                  <a:lnTo>
                    <a:pt x="2654200" y="0"/>
                  </a:lnTo>
                  <a:lnTo>
                    <a:pt x="2654200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148" r="0" b="-125148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2654198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F6B35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Reached.on.Time_Y.N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1500771" y="6636544"/>
            <a:ext cx="1363342" cy="285750"/>
            <a:chOff x="0" y="0"/>
            <a:chExt cx="1817789" cy="3810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817751" cy="381000"/>
            </a:xfrm>
            <a:custGeom>
              <a:avLst/>
              <a:gdLst/>
              <a:ahLst/>
              <a:cxnLst/>
              <a:rect r="r" b="b" t="t" l="l"/>
              <a:pathLst>
                <a:path h="381000" w="1817751">
                  <a:moveTo>
                    <a:pt x="76200" y="0"/>
                  </a:moveTo>
                  <a:lnTo>
                    <a:pt x="1741551" y="0"/>
                  </a:lnTo>
                  <a:cubicBezTo>
                    <a:pt x="1783588" y="0"/>
                    <a:pt x="1817751" y="34163"/>
                    <a:pt x="1817751" y="76200"/>
                  </a:cubicBezTo>
                  <a:lnTo>
                    <a:pt x="1817751" y="304800"/>
                  </a:lnTo>
                  <a:cubicBezTo>
                    <a:pt x="1817751" y="346837"/>
                    <a:pt x="1783588" y="381000"/>
                    <a:pt x="1741551" y="381000"/>
                  </a:cubicBezTo>
                  <a:lnTo>
                    <a:pt x="76200" y="381000"/>
                  </a:lnTo>
                  <a:cubicBezTo>
                    <a:pt x="34163" y="381000"/>
                    <a:pt x="0" y="346837"/>
                    <a:pt x="0" y="304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1500771" y="6636544"/>
            <a:ext cx="1449067" cy="285750"/>
            <a:chOff x="0" y="0"/>
            <a:chExt cx="1932089" cy="38100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932086" cy="381000"/>
            </a:xfrm>
            <a:custGeom>
              <a:avLst/>
              <a:gdLst/>
              <a:ahLst/>
              <a:cxnLst/>
              <a:rect r="r" b="b" t="t" l="l"/>
              <a:pathLst>
                <a:path h="381000" w="1932086">
                  <a:moveTo>
                    <a:pt x="0" y="0"/>
                  </a:moveTo>
                  <a:lnTo>
                    <a:pt x="1932086" y="0"/>
                  </a:lnTo>
                  <a:lnTo>
                    <a:pt x="193208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810" r="0" b="-4881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1932089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TARGET CLAS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5640679" y="6643688"/>
            <a:ext cx="1800225" cy="228600"/>
            <a:chOff x="0" y="0"/>
            <a:chExt cx="2400300" cy="3048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4003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24003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0=a tiempo, 1=retraso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842962" y="7100888"/>
            <a:ext cx="8186738" cy="571500"/>
            <a:chOff x="0" y="0"/>
            <a:chExt cx="10915650" cy="7620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9CA3AF">
                <a:alpha val="3922"/>
              </a:srgbClr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842962" y="7100888"/>
            <a:ext cx="57150" cy="571500"/>
            <a:chOff x="0" y="0"/>
            <a:chExt cx="76200" cy="7620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9CA3AF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985838" y="7300912"/>
            <a:ext cx="295466" cy="221456"/>
            <a:chOff x="0" y="0"/>
            <a:chExt cx="393954" cy="295275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93948" cy="295276"/>
            </a:xfrm>
            <a:custGeom>
              <a:avLst/>
              <a:gdLst/>
              <a:ahLst/>
              <a:cxnLst/>
              <a:rect r="r" b="b" t="t" l="l"/>
              <a:pathLst>
                <a:path h="295276" w="393948">
                  <a:moveTo>
                    <a:pt x="0" y="0"/>
                  </a:moveTo>
                  <a:lnTo>
                    <a:pt x="393948" y="0"/>
                  </a:lnTo>
                  <a:lnTo>
                    <a:pt x="393948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166" t="0" r="-46167" b="0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393954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ID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361665" y="7293769"/>
            <a:ext cx="257175" cy="228600"/>
            <a:chOff x="0" y="0"/>
            <a:chExt cx="342900" cy="30480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3429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—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8152914" y="7272338"/>
            <a:ext cx="842962" cy="228600"/>
            <a:chOff x="0" y="0"/>
            <a:chExt cx="1123950" cy="30480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123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851" r="0" b="-21851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28575"/>
              <a:ext cx="1123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Eliminada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9286875" y="7100888"/>
            <a:ext cx="8186738" cy="571500"/>
            <a:chOff x="0" y="0"/>
            <a:chExt cx="10915650" cy="7620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9156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915650">
                  <a:moveTo>
                    <a:pt x="76200" y="0"/>
                  </a:moveTo>
                  <a:lnTo>
                    <a:pt x="10763250" y="0"/>
                  </a:lnTo>
                  <a:cubicBezTo>
                    <a:pt x="10847324" y="0"/>
                    <a:pt x="10915650" y="68326"/>
                    <a:pt x="10915650" y="152400"/>
                  </a:cubicBezTo>
                  <a:lnTo>
                    <a:pt x="10915650" y="609600"/>
                  </a:lnTo>
                  <a:cubicBezTo>
                    <a:pt x="10915650" y="693674"/>
                    <a:pt x="10847324" y="762000"/>
                    <a:pt x="10763250" y="762000"/>
                  </a:cubicBez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9CA3AF">
                <a:alpha val="3922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286875" y="7100888"/>
            <a:ext cx="57150" cy="571500"/>
            <a:chOff x="0" y="0"/>
            <a:chExt cx="76200" cy="76200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76200" y="0"/>
                  </a:moveTo>
                  <a:lnTo>
                    <a:pt x="76200" y="762000"/>
                  </a:lnTo>
                  <a:cubicBezTo>
                    <a:pt x="34163" y="762000"/>
                    <a:pt x="0" y="727837"/>
                    <a:pt x="0" y="685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9CA3AF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9429750" y="7300912"/>
            <a:ext cx="736702" cy="221456"/>
            <a:chOff x="0" y="0"/>
            <a:chExt cx="982269" cy="295275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982266" cy="295276"/>
            </a:xfrm>
            <a:custGeom>
              <a:avLst/>
              <a:gdLst/>
              <a:ahLst/>
              <a:cxnLst/>
              <a:rect r="r" b="b" t="t" l="l"/>
              <a:pathLst>
                <a:path h="295276" w="982266">
                  <a:moveTo>
                    <a:pt x="0" y="0"/>
                  </a:moveTo>
                  <a:lnTo>
                    <a:pt x="982266" y="0"/>
                  </a:lnTo>
                  <a:lnTo>
                    <a:pt x="982266" y="295276"/>
                  </a:lnTo>
                  <a:lnTo>
                    <a:pt x="0" y="295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" r="0" b="-14819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982269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Gender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0246814" y="7293769"/>
            <a:ext cx="257175" cy="228600"/>
            <a:chOff x="0" y="0"/>
            <a:chExt cx="342900" cy="3048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3429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—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6596827" y="7272338"/>
            <a:ext cx="842962" cy="228600"/>
            <a:chOff x="0" y="0"/>
            <a:chExt cx="1123950" cy="30480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1123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851" r="0" b="-21851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28575"/>
              <a:ext cx="1123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Eliminada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8064" y="508064"/>
            <a:ext cx="1705994" cy="338547"/>
          </a:xfrm>
          <a:custGeom>
            <a:avLst/>
            <a:gdLst/>
            <a:ahLst/>
            <a:cxnLst/>
            <a:rect r="r" b="b" t="t" l="l"/>
            <a:pathLst>
              <a:path h="338547" w="1705994">
                <a:moveTo>
                  <a:pt x="0" y="0"/>
                </a:moveTo>
                <a:lnTo>
                  <a:pt x="1705994" y="0"/>
                </a:lnTo>
                <a:lnTo>
                  <a:pt x="1705994" y="338547"/>
                </a:lnTo>
                <a:lnTo>
                  <a:pt x="0" y="3385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1197" y="511197"/>
            <a:ext cx="1750847" cy="306717"/>
            <a:chOff x="0" y="0"/>
            <a:chExt cx="2334463" cy="4089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4458" cy="408959"/>
            </a:xfrm>
            <a:custGeom>
              <a:avLst/>
              <a:gdLst/>
              <a:ahLst/>
              <a:cxnLst/>
              <a:rect r="r" b="b" t="t" l="l"/>
              <a:pathLst>
                <a:path h="408959" w="2334458">
                  <a:moveTo>
                    <a:pt x="0" y="0"/>
                  </a:moveTo>
                  <a:lnTo>
                    <a:pt x="2334458" y="0"/>
                  </a:lnTo>
                  <a:lnTo>
                    <a:pt x="2334458" y="408959"/>
                  </a:lnTo>
                  <a:lnTo>
                    <a:pt x="0" y="4089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34463" cy="437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93"/>
                </a:lnSpc>
              </a:pPr>
              <a:r>
                <a:rPr lang="en-US" sz="1207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3181" y="549535"/>
            <a:ext cx="1738065" cy="255594"/>
            <a:chOff x="0" y="0"/>
            <a:chExt cx="2317420" cy="340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7418" cy="340796"/>
            </a:xfrm>
            <a:custGeom>
              <a:avLst/>
              <a:gdLst/>
              <a:ahLst/>
              <a:cxnLst/>
              <a:rect r="r" b="b" t="t" l="l"/>
              <a:pathLst>
                <a:path h="340796" w="2317418">
                  <a:moveTo>
                    <a:pt x="0" y="0"/>
                  </a:moveTo>
                  <a:lnTo>
                    <a:pt x="2317418" y="0"/>
                  </a:lnTo>
                  <a:lnTo>
                    <a:pt x="2317418" y="340796"/>
                  </a:lnTo>
                  <a:lnTo>
                    <a:pt x="0" y="3407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499" r="0" b="-824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317420" cy="397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8"/>
                </a:lnSpc>
              </a:pPr>
              <a:r>
                <a:rPr lang="en-US" sz="140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Data Understanding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1197" y="1047950"/>
            <a:ext cx="17495644" cy="511197"/>
            <a:chOff x="0" y="0"/>
            <a:chExt cx="23327525" cy="6815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27530" cy="681594"/>
            </a:xfrm>
            <a:custGeom>
              <a:avLst/>
              <a:gdLst/>
              <a:ahLst/>
              <a:cxnLst/>
              <a:rect r="r" b="b" t="t" l="l"/>
              <a:pathLst>
                <a:path h="681594" w="23327530">
                  <a:moveTo>
                    <a:pt x="0" y="0"/>
                  </a:moveTo>
                  <a:lnTo>
                    <a:pt x="23327530" y="0"/>
                  </a:lnTo>
                  <a:lnTo>
                    <a:pt x="23327530" y="681594"/>
                  </a:lnTo>
                  <a:lnTo>
                    <a:pt x="0" y="6815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6874" r="0" b="-6168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3327525" cy="672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12"/>
                </a:lnSpc>
              </a:pPr>
              <a:r>
                <a:rPr lang="en-US" sz="362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Análisis Exploratorio — Hallazgos Clave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4550" y="1787747"/>
            <a:ext cx="8315803" cy="6747653"/>
            <a:chOff x="0" y="0"/>
            <a:chExt cx="2190170" cy="1777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0170" cy="1777160"/>
            </a:xfrm>
            <a:custGeom>
              <a:avLst/>
              <a:gdLst/>
              <a:ahLst/>
              <a:cxnLst/>
              <a:rect r="r" b="b" t="t" l="l"/>
              <a:pathLst>
                <a:path h="1777160" w="2190170">
                  <a:moveTo>
                    <a:pt x="26068" y="0"/>
                  </a:moveTo>
                  <a:lnTo>
                    <a:pt x="2164103" y="0"/>
                  </a:lnTo>
                  <a:cubicBezTo>
                    <a:pt x="2178500" y="0"/>
                    <a:pt x="2190170" y="11671"/>
                    <a:pt x="2190170" y="26068"/>
                  </a:cubicBezTo>
                  <a:lnTo>
                    <a:pt x="2190170" y="1751092"/>
                  </a:lnTo>
                  <a:cubicBezTo>
                    <a:pt x="2190170" y="1765489"/>
                    <a:pt x="2178500" y="1777160"/>
                    <a:pt x="2164103" y="1777160"/>
                  </a:cubicBezTo>
                  <a:lnTo>
                    <a:pt x="26068" y="1777160"/>
                  </a:lnTo>
                  <a:cubicBezTo>
                    <a:pt x="11671" y="1777160"/>
                    <a:pt x="0" y="1765489"/>
                    <a:pt x="0" y="1751092"/>
                  </a:cubicBezTo>
                  <a:lnTo>
                    <a:pt x="0" y="26068"/>
                  </a:lnTo>
                  <a:cubicBezTo>
                    <a:pt x="0" y="11671"/>
                    <a:pt x="11671" y="0"/>
                    <a:pt x="26068" y="0"/>
                  </a:cubicBezTo>
                  <a:close/>
                </a:path>
              </a:pathLst>
            </a:custGeom>
            <a:solidFill>
              <a:srgbClr val="1A1F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0170" cy="1805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8453" y="1980876"/>
            <a:ext cx="511197" cy="511197"/>
            <a:chOff x="0" y="0"/>
            <a:chExt cx="681596" cy="6815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1482" cy="681482"/>
            </a:xfrm>
            <a:custGeom>
              <a:avLst/>
              <a:gdLst/>
              <a:ahLst/>
              <a:cxnLst/>
              <a:rect r="r" b="b" t="t" l="l"/>
              <a:pathLst>
                <a:path h="681482" w="681482">
                  <a:moveTo>
                    <a:pt x="136271" y="0"/>
                  </a:moveTo>
                  <a:lnTo>
                    <a:pt x="545211" y="0"/>
                  </a:lnTo>
                  <a:cubicBezTo>
                    <a:pt x="620522" y="0"/>
                    <a:pt x="681482" y="61087"/>
                    <a:pt x="681482" y="136271"/>
                  </a:cubicBezTo>
                  <a:lnTo>
                    <a:pt x="681482" y="545211"/>
                  </a:lnTo>
                  <a:cubicBezTo>
                    <a:pt x="681482" y="620522"/>
                    <a:pt x="620395" y="681482"/>
                    <a:pt x="545211" y="681482"/>
                  </a:cubicBezTo>
                  <a:lnTo>
                    <a:pt x="136271" y="681482"/>
                  </a:lnTo>
                  <a:cubicBezTo>
                    <a:pt x="61087" y="681609"/>
                    <a:pt x="0" y="620522"/>
                    <a:pt x="0" y="545211"/>
                  </a:cubicBezTo>
                  <a:lnTo>
                    <a:pt x="0" y="136271"/>
                  </a:lnTo>
                  <a:cubicBezTo>
                    <a:pt x="0" y="61087"/>
                    <a:pt x="61087" y="0"/>
                    <a:pt x="136271" y="0"/>
                  </a:cubicBezTo>
                  <a:close/>
                </a:path>
              </a:pathLst>
            </a:custGeom>
            <a:solidFill>
              <a:srgbClr val="00D4FF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3726" y="2057562"/>
            <a:ext cx="230038" cy="357835"/>
            <a:chOff x="0" y="0"/>
            <a:chExt cx="306718" cy="477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6716" cy="477116"/>
            </a:xfrm>
            <a:custGeom>
              <a:avLst/>
              <a:gdLst/>
              <a:ahLst/>
              <a:cxnLst/>
              <a:rect r="r" b="b" t="t" l="l"/>
              <a:pathLst>
                <a:path h="477116" w="306716">
                  <a:moveTo>
                    <a:pt x="0" y="0"/>
                  </a:moveTo>
                  <a:lnTo>
                    <a:pt x="306716" y="0"/>
                  </a:lnTo>
                  <a:lnTo>
                    <a:pt x="306716" y="477116"/>
                  </a:lnTo>
                  <a:lnTo>
                    <a:pt x="0" y="4771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9582" t="0" r="-14958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06718" cy="524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8"/>
                </a:lnSpc>
              </a:pPr>
              <a:r>
                <a:rPr lang="en-US" sz="2013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3003" y="2057562"/>
            <a:ext cx="1329109" cy="357835"/>
            <a:chOff x="0" y="0"/>
            <a:chExt cx="1772145" cy="4771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2142" cy="477116"/>
            </a:xfrm>
            <a:custGeom>
              <a:avLst/>
              <a:gdLst/>
              <a:ahLst/>
              <a:cxnLst/>
              <a:rect r="r" b="b" t="t" l="l"/>
              <a:pathLst>
                <a:path h="477116" w="1772142">
                  <a:moveTo>
                    <a:pt x="0" y="0"/>
                  </a:moveTo>
                  <a:lnTo>
                    <a:pt x="1772142" y="0"/>
                  </a:lnTo>
                  <a:lnTo>
                    <a:pt x="1772142" y="477116"/>
                  </a:lnTo>
                  <a:lnTo>
                    <a:pt x="0" y="4771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73" r="0" b="-223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772145" cy="562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6"/>
                </a:lnSpc>
              </a:pPr>
              <a:r>
                <a:rPr lang="en-US" sz="18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Correlación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8453" y="7699877"/>
            <a:ext cx="8191900" cy="587873"/>
            <a:chOff x="0" y="0"/>
            <a:chExt cx="10922533" cy="783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22532" cy="783832"/>
            </a:xfrm>
            <a:custGeom>
              <a:avLst/>
              <a:gdLst/>
              <a:ahLst/>
              <a:cxnLst/>
              <a:rect r="r" b="b" t="t" l="l"/>
              <a:pathLst>
                <a:path h="783832" w="10922532">
                  <a:moveTo>
                    <a:pt x="0" y="0"/>
                  </a:moveTo>
                  <a:lnTo>
                    <a:pt x="10922532" y="0"/>
                  </a:lnTo>
                  <a:lnTo>
                    <a:pt x="10922532" y="783832"/>
                  </a:lnTo>
                  <a:lnTo>
                    <a:pt x="0" y="783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519" r="0" b="-2215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0922533" cy="86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6"/>
                </a:lnSpc>
              </a:pPr>
              <a:r>
                <a:rPr lang="en-US" sz="1408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Los pedidos con </a:t>
              </a:r>
              <a:r>
                <a:rPr lang="en-US" sz="1408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descuento alto (&gt;10)</a:t>
              </a:r>
              <a:r>
                <a:rPr lang="en-US" sz="1408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tienden a retrasarse más. La línea roja vertical marca el punto de inflexión detectado.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79893" y="1760487"/>
            <a:ext cx="8315803" cy="6747653"/>
            <a:chOff x="0" y="0"/>
            <a:chExt cx="2190170" cy="1777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0170" cy="1777160"/>
            </a:xfrm>
            <a:custGeom>
              <a:avLst/>
              <a:gdLst/>
              <a:ahLst/>
              <a:cxnLst/>
              <a:rect r="r" b="b" t="t" l="l"/>
              <a:pathLst>
                <a:path h="1777160" w="2190170">
                  <a:moveTo>
                    <a:pt x="26068" y="0"/>
                  </a:moveTo>
                  <a:lnTo>
                    <a:pt x="2164103" y="0"/>
                  </a:lnTo>
                  <a:cubicBezTo>
                    <a:pt x="2178500" y="0"/>
                    <a:pt x="2190170" y="11671"/>
                    <a:pt x="2190170" y="26068"/>
                  </a:cubicBezTo>
                  <a:lnTo>
                    <a:pt x="2190170" y="1751092"/>
                  </a:lnTo>
                  <a:cubicBezTo>
                    <a:pt x="2190170" y="1765489"/>
                    <a:pt x="2178500" y="1777160"/>
                    <a:pt x="2164103" y="1777160"/>
                  </a:cubicBezTo>
                  <a:lnTo>
                    <a:pt x="26068" y="1777160"/>
                  </a:lnTo>
                  <a:cubicBezTo>
                    <a:pt x="11671" y="1777160"/>
                    <a:pt x="0" y="1765489"/>
                    <a:pt x="0" y="1751092"/>
                  </a:cubicBezTo>
                  <a:lnTo>
                    <a:pt x="0" y="26068"/>
                  </a:lnTo>
                  <a:cubicBezTo>
                    <a:pt x="0" y="11671"/>
                    <a:pt x="11671" y="0"/>
                    <a:pt x="26068" y="0"/>
                  </a:cubicBezTo>
                  <a:close/>
                </a:path>
              </a:pathLst>
            </a:custGeom>
            <a:solidFill>
              <a:srgbClr val="1A1F2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190170" cy="1805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44615" y="7699877"/>
            <a:ext cx="8191900" cy="587873"/>
            <a:chOff x="0" y="0"/>
            <a:chExt cx="10922533" cy="783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2532" cy="783832"/>
            </a:xfrm>
            <a:custGeom>
              <a:avLst/>
              <a:gdLst/>
              <a:ahLst/>
              <a:cxnLst/>
              <a:rect r="r" b="b" t="t" l="l"/>
              <a:pathLst>
                <a:path h="783832" w="10922532">
                  <a:moveTo>
                    <a:pt x="0" y="0"/>
                  </a:moveTo>
                  <a:lnTo>
                    <a:pt x="10922532" y="0"/>
                  </a:lnTo>
                  <a:lnTo>
                    <a:pt x="10922532" y="783832"/>
                  </a:lnTo>
                  <a:lnTo>
                    <a:pt x="0" y="783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1519" r="0" b="-2215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0922533" cy="86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6"/>
                </a:lnSpc>
              </a:pPr>
              <a:r>
                <a:rPr lang="en-US" sz="1408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mayor costo del producto, más llamadas</a:t>
              </a:r>
              <a:r>
                <a:rPr lang="en-US" sz="1408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al servicio al cliente. </a:t>
              </a:r>
              <a:r>
                <a:rPr lang="en-US" sz="1408">
                  <a:solidFill>
                    <a:srgbClr val="FF6B35"/>
                  </a:solidFill>
                  <a:latin typeface="Arimo"/>
                  <a:ea typeface="Arimo"/>
                  <a:cs typeface="Arimo"/>
                  <a:sym typeface="Arimo"/>
                </a:rPr>
                <a:t>Outlier en 6 llamadas</a:t>
              </a:r>
              <a:r>
                <a:rPr lang="en-US" sz="1408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para productos más baratos.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925774" y="3313947"/>
            <a:ext cx="6854431" cy="4232577"/>
          </a:xfrm>
          <a:custGeom>
            <a:avLst/>
            <a:gdLst/>
            <a:ahLst/>
            <a:cxnLst/>
            <a:rect r="r" b="b" t="t" l="l"/>
            <a:pathLst>
              <a:path h="4232577" w="6854431">
                <a:moveTo>
                  <a:pt x="0" y="0"/>
                </a:moveTo>
                <a:lnTo>
                  <a:pt x="6854431" y="0"/>
                </a:lnTo>
                <a:lnTo>
                  <a:pt x="6854431" y="4232577"/>
                </a:lnTo>
                <a:lnTo>
                  <a:pt x="0" y="4232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07" r="0" b="-607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464192" y="1980876"/>
            <a:ext cx="511197" cy="511197"/>
            <a:chOff x="0" y="0"/>
            <a:chExt cx="681596" cy="6815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1482" cy="681482"/>
            </a:xfrm>
            <a:custGeom>
              <a:avLst/>
              <a:gdLst/>
              <a:ahLst/>
              <a:cxnLst/>
              <a:rect r="r" b="b" t="t" l="l"/>
              <a:pathLst>
                <a:path h="681482" w="681482">
                  <a:moveTo>
                    <a:pt x="136271" y="0"/>
                  </a:moveTo>
                  <a:lnTo>
                    <a:pt x="545211" y="0"/>
                  </a:lnTo>
                  <a:cubicBezTo>
                    <a:pt x="620522" y="0"/>
                    <a:pt x="681482" y="61087"/>
                    <a:pt x="681482" y="136271"/>
                  </a:cubicBezTo>
                  <a:lnTo>
                    <a:pt x="681482" y="545211"/>
                  </a:lnTo>
                  <a:cubicBezTo>
                    <a:pt x="681482" y="620522"/>
                    <a:pt x="620395" y="681482"/>
                    <a:pt x="545211" y="681482"/>
                  </a:cubicBezTo>
                  <a:lnTo>
                    <a:pt x="136271" y="681482"/>
                  </a:lnTo>
                  <a:cubicBezTo>
                    <a:pt x="61087" y="681609"/>
                    <a:pt x="0" y="620522"/>
                    <a:pt x="0" y="545211"/>
                  </a:cubicBezTo>
                  <a:lnTo>
                    <a:pt x="0" y="136271"/>
                  </a:lnTo>
                  <a:cubicBezTo>
                    <a:pt x="0" y="61087"/>
                    <a:pt x="61087" y="0"/>
                    <a:pt x="136271" y="0"/>
                  </a:cubicBezTo>
                  <a:close/>
                </a:path>
              </a:pathLst>
            </a:custGeom>
            <a:solidFill>
              <a:srgbClr val="FF6B35">
                <a:alpha val="392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44615" y="2057562"/>
            <a:ext cx="281159" cy="357835"/>
            <a:chOff x="0" y="0"/>
            <a:chExt cx="374879" cy="4771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4876" cy="477116"/>
            </a:xfrm>
            <a:custGeom>
              <a:avLst/>
              <a:gdLst/>
              <a:ahLst/>
              <a:cxnLst/>
              <a:rect r="r" b="b" t="t" l="l"/>
              <a:pathLst>
                <a:path h="477116" w="374876">
                  <a:moveTo>
                    <a:pt x="0" y="0"/>
                  </a:moveTo>
                  <a:lnTo>
                    <a:pt x="374876" y="0"/>
                  </a:lnTo>
                  <a:lnTo>
                    <a:pt x="374876" y="477116"/>
                  </a:lnTo>
                  <a:lnTo>
                    <a:pt x="0" y="4771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3294" t="0" r="-11329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74879" cy="524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8"/>
                </a:lnSpc>
              </a:pPr>
              <a:r>
                <a:rPr lang="en-US" sz="2013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28752" y="2027277"/>
            <a:ext cx="3409921" cy="388120"/>
            <a:chOff x="0" y="0"/>
            <a:chExt cx="4191800" cy="4771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1798" cy="477116"/>
            </a:xfrm>
            <a:custGeom>
              <a:avLst/>
              <a:gdLst/>
              <a:ahLst/>
              <a:cxnLst/>
              <a:rect r="r" b="b" t="t" l="l"/>
              <a:pathLst>
                <a:path h="477116" w="4191798">
                  <a:moveTo>
                    <a:pt x="0" y="0"/>
                  </a:moveTo>
                  <a:lnTo>
                    <a:pt x="4191798" y="0"/>
                  </a:lnTo>
                  <a:lnTo>
                    <a:pt x="4191798" y="477116"/>
                  </a:lnTo>
                  <a:lnTo>
                    <a:pt x="0" y="4771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190" r="0" b="-1211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4191800" cy="562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6"/>
                </a:lnSpc>
              </a:pPr>
              <a:r>
                <a:rPr lang="en-US" sz="18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Costo vs Llamadas al Cliente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163764" y="2692098"/>
            <a:ext cx="7179823" cy="4622011"/>
          </a:xfrm>
          <a:custGeom>
            <a:avLst/>
            <a:gdLst/>
            <a:ahLst/>
            <a:cxnLst/>
            <a:rect r="r" b="b" t="t" l="l"/>
            <a:pathLst>
              <a:path h="4622011" w="7179823">
                <a:moveTo>
                  <a:pt x="0" y="0"/>
                </a:moveTo>
                <a:lnTo>
                  <a:pt x="7179823" y="0"/>
                </a:lnTo>
                <a:lnTo>
                  <a:pt x="7179823" y="4622011"/>
                </a:lnTo>
                <a:lnTo>
                  <a:pt x="0" y="4622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5352" y="511969"/>
            <a:ext cx="1381125" cy="238125"/>
            <a:chOff x="0" y="0"/>
            <a:chExt cx="1841500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1500" cy="317500"/>
            </a:xfrm>
            <a:custGeom>
              <a:avLst/>
              <a:gdLst/>
              <a:ahLst/>
              <a:cxnLst/>
              <a:rect r="r" b="b" t="t" l="l"/>
              <a:pathLst>
                <a:path h="317500" w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41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Data Preparation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76312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Preparación de Datos e Ingeniería de Características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72678" y="1639491"/>
            <a:ext cx="8579644" cy="3948112"/>
          </a:xfrm>
          <a:custGeom>
            <a:avLst/>
            <a:gdLst/>
            <a:ahLst/>
            <a:cxnLst/>
            <a:rect r="r" b="b" t="t" l="l"/>
            <a:pathLst>
              <a:path h="3948112" w="8579644">
                <a:moveTo>
                  <a:pt x="0" y="0"/>
                </a:moveTo>
                <a:lnTo>
                  <a:pt x="8579644" y="0"/>
                </a:lnTo>
                <a:lnTo>
                  <a:pt x="8579644" y="3948112"/>
                </a:lnTo>
                <a:lnTo>
                  <a:pt x="0" y="3948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6516" y="1869281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8" y="0"/>
                </a:lnTo>
                <a:lnTo>
                  <a:pt x="32146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8719" y="1845469"/>
            <a:ext cx="1095375" cy="333375"/>
            <a:chOff x="0" y="0"/>
            <a:chExt cx="1460500" cy="444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0500" cy="444500"/>
            </a:xfrm>
            <a:custGeom>
              <a:avLst/>
              <a:gdLst/>
              <a:ahLst/>
              <a:cxnLst/>
              <a:rect r="r" b="b" t="t" l="l"/>
              <a:pathLst>
                <a:path h="444500" w="1460500">
                  <a:moveTo>
                    <a:pt x="0" y="0"/>
                  </a:moveTo>
                  <a:lnTo>
                    <a:pt x="1460500" y="0"/>
                  </a:lnTo>
                  <a:lnTo>
                    <a:pt x="1460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460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Limpieza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75084" y="2365772"/>
            <a:ext cx="8174831" cy="840581"/>
          </a:xfrm>
          <a:custGeom>
            <a:avLst/>
            <a:gdLst/>
            <a:ahLst/>
            <a:cxnLst/>
            <a:rect r="r" b="b" t="t" l="l"/>
            <a:pathLst>
              <a:path h="840581" w="8174831">
                <a:moveTo>
                  <a:pt x="0" y="0"/>
                </a:moveTo>
                <a:lnTo>
                  <a:pt x="8174832" y="0"/>
                </a:lnTo>
                <a:lnTo>
                  <a:pt x="8174832" y="840581"/>
                </a:lnTo>
                <a:lnTo>
                  <a:pt x="0" y="840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63203" y="2667000"/>
            <a:ext cx="238125" cy="238125"/>
            <a:chOff x="0" y="0"/>
            <a:chExt cx="317500" cy="317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158750" y="317500"/>
                  </a:moveTo>
                  <a:cubicBezTo>
                    <a:pt x="246380" y="317500"/>
                    <a:pt x="317500" y="246380"/>
                    <a:pt x="317500" y="158750"/>
                  </a:cubicBezTo>
                  <a:cubicBezTo>
                    <a:pt x="317500" y="71120"/>
                    <a:pt x="246380" y="0"/>
                    <a:pt x="158750" y="0"/>
                  </a:cubicBezTo>
                  <a:cubicBezTo>
                    <a:pt x="71120" y="0"/>
                    <a:pt x="0" y="71120"/>
                    <a:pt x="0" y="158750"/>
                  </a:cubicBezTo>
                  <a:cubicBezTo>
                    <a:pt x="0" y="246380"/>
                    <a:pt x="71120" y="317500"/>
                    <a:pt x="158750" y="317500"/>
                  </a:cubicBezTo>
                  <a:close/>
                  <a:moveTo>
                    <a:pt x="211074" y="131953"/>
                  </a:moveTo>
                  <a:lnTo>
                    <a:pt x="161417" y="211328"/>
                  </a:lnTo>
                  <a:cubicBezTo>
                    <a:pt x="158750" y="215519"/>
                    <a:pt x="154305" y="218059"/>
                    <a:pt x="149479" y="218313"/>
                  </a:cubicBezTo>
                  <a:cubicBezTo>
                    <a:pt x="144653" y="218567"/>
                    <a:pt x="139827" y="216281"/>
                    <a:pt x="136906" y="212344"/>
                  </a:cubicBezTo>
                  <a:lnTo>
                    <a:pt x="107188" y="172593"/>
                  </a:lnTo>
                  <a:cubicBezTo>
                    <a:pt x="102235" y="165989"/>
                    <a:pt x="103632" y="156718"/>
                    <a:pt x="110109" y="151765"/>
                  </a:cubicBezTo>
                  <a:cubicBezTo>
                    <a:pt x="116586" y="146812"/>
                    <a:pt x="125984" y="148209"/>
                    <a:pt x="130937" y="154686"/>
                  </a:cubicBezTo>
                  <a:lnTo>
                    <a:pt x="147701" y="177038"/>
                  </a:lnTo>
                  <a:lnTo>
                    <a:pt x="185801" y="116078"/>
                  </a:lnTo>
                  <a:cubicBezTo>
                    <a:pt x="190119" y="109093"/>
                    <a:pt x="199263" y="106934"/>
                    <a:pt x="206375" y="111379"/>
                  </a:cubicBezTo>
                  <a:cubicBezTo>
                    <a:pt x="213487" y="115824"/>
                    <a:pt x="215519" y="124841"/>
                    <a:pt x="211074" y="131953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3969" y="2454927"/>
            <a:ext cx="1937422" cy="354948"/>
            <a:chOff x="0" y="0"/>
            <a:chExt cx="2079625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9624" cy="381000"/>
            </a:xfrm>
            <a:custGeom>
              <a:avLst/>
              <a:gdLst/>
              <a:ahLst/>
              <a:cxnLst/>
              <a:rect r="r" b="b" t="t" l="l"/>
              <a:pathLst>
                <a:path h="381000" w="2079624">
                  <a:moveTo>
                    <a:pt x="0" y="0"/>
                  </a:moveTo>
                  <a:lnTo>
                    <a:pt x="2079624" y="0"/>
                  </a:lnTo>
                  <a:lnTo>
                    <a:pt x="2079624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355" r="0" b="-563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07962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Sin valores nulos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3969" y="2809875"/>
            <a:ext cx="1547812" cy="238125"/>
            <a:chOff x="0" y="0"/>
            <a:chExt cx="2063750" cy="317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63750" cy="317500"/>
            </a:xfrm>
            <a:custGeom>
              <a:avLst/>
              <a:gdLst/>
              <a:ahLst/>
              <a:cxnLst/>
              <a:rect r="r" b="b" t="t" l="l"/>
              <a:pathLst>
                <a:path h="317500" w="2063750">
                  <a:moveTo>
                    <a:pt x="0" y="0"/>
                  </a:moveTo>
                  <a:lnTo>
                    <a:pt x="2063750" y="0"/>
                  </a:lnTo>
                  <a:lnTo>
                    <a:pt x="2063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063750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isnull().sum() = 0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75084" y="3342084"/>
            <a:ext cx="8174831" cy="840581"/>
          </a:xfrm>
          <a:custGeom>
            <a:avLst/>
            <a:gdLst/>
            <a:ahLst/>
            <a:cxnLst/>
            <a:rect r="r" b="b" t="t" l="l"/>
            <a:pathLst>
              <a:path h="840581" w="8174831">
                <a:moveTo>
                  <a:pt x="0" y="0"/>
                </a:moveTo>
                <a:lnTo>
                  <a:pt x="8174832" y="0"/>
                </a:lnTo>
                <a:lnTo>
                  <a:pt x="8174832" y="840582"/>
                </a:lnTo>
                <a:lnTo>
                  <a:pt x="0" y="84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63203" y="3643312"/>
            <a:ext cx="238125" cy="238125"/>
            <a:chOff x="0" y="0"/>
            <a:chExt cx="317500" cy="317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158750" y="317500"/>
                  </a:moveTo>
                  <a:cubicBezTo>
                    <a:pt x="246380" y="317500"/>
                    <a:pt x="317500" y="246380"/>
                    <a:pt x="317500" y="158750"/>
                  </a:cubicBezTo>
                  <a:cubicBezTo>
                    <a:pt x="317500" y="71120"/>
                    <a:pt x="246380" y="0"/>
                    <a:pt x="158750" y="0"/>
                  </a:cubicBezTo>
                  <a:cubicBezTo>
                    <a:pt x="71120" y="0"/>
                    <a:pt x="0" y="71120"/>
                    <a:pt x="0" y="158750"/>
                  </a:cubicBezTo>
                  <a:cubicBezTo>
                    <a:pt x="0" y="246380"/>
                    <a:pt x="71120" y="317500"/>
                    <a:pt x="158750" y="317500"/>
                  </a:cubicBezTo>
                  <a:close/>
                  <a:moveTo>
                    <a:pt x="211074" y="131953"/>
                  </a:moveTo>
                  <a:lnTo>
                    <a:pt x="161417" y="211328"/>
                  </a:lnTo>
                  <a:cubicBezTo>
                    <a:pt x="158750" y="215519"/>
                    <a:pt x="154305" y="218059"/>
                    <a:pt x="149479" y="218313"/>
                  </a:cubicBezTo>
                  <a:cubicBezTo>
                    <a:pt x="144653" y="218567"/>
                    <a:pt x="139827" y="216281"/>
                    <a:pt x="136906" y="212344"/>
                  </a:cubicBezTo>
                  <a:lnTo>
                    <a:pt x="107188" y="172593"/>
                  </a:lnTo>
                  <a:cubicBezTo>
                    <a:pt x="102235" y="165989"/>
                    <a:pt x="103632" y="156718"/>
                    <a:pt x="110109" y="151765"/>
                  </a:cubicBezTo>
                  <a:cubicBezTo>
                    <a:pt x="116586" y="146812"/>
                    <a:pt x="125984" y="148209"/>
                    <a:pt x="130937" y="154686"/>
                  </a:cubicBezTo>
                  <a:lnTo>
                    <a:pt x="147701" y="177038"/>
                  </a:lnTo>
                  <a:lnTo>
                    <a:pt x="185801" y="116078"/>
                  </a:lnTo>
                  <a:cubicBezTo>
                    <a:pt x="190119" y="109093"/>
                    <a:pt x="199263" y="106934"/>
                    <a:pt x="206375" y="111379"/>
                  </a:cubicBezTo>
                  <a:cubicBezTo>
                    <a:pt x="213487" y="115824"/>
                    <a:pt x="215519" y="124841"/>
                    <a:pt x="211074" y="131953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3969" y="3500438"/>
            <a:ext cx="1678781" cy="285750"/>
            <a:chOff x="0" y="0"/>
            <a:chExt cx="2238375" cy="38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38376" cy="381000"/>
            </a:xfrm>
            <a:custGeom>
              <a:avLst/>
              <a:gdLst/>
              <a:ahLst/>
              <a:cxnLst/>
              <a:rect r="r" b="b" t="t" l="l"/>
              <a:pathLst>
                <a:path h="381000" w="2238376">
                  <a:moveTo>
                    <a:pt x="0" y="0"/>
                  </a:moveTo>
                  <a:lnTo>
                    <a:pt x="2238376" y="0"/>
                  </a:lnTo>
                  <a:lnTo>
                    <a:pt x="22383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23837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Sin duplicados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73969" y="3786188"/>
            <a:ext cx="1666875" cy="238125"/>
            <a:chOff x="0" y="0"/>
            <a:chExt cx="222250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2500" cy="317500"/>
            </a:xfrm>
            <a:custGeom>
              <a:avLst/>
              <a:gdLst/>
              <a:ahLst/>
              <a:cxnLst/>
              <a:rect r="r" b="b" t="t" l="l"/>
              <a:pathLst>
                <a:path h="317500" w="2222500">
                  <a:moveTo>
                    <a:pt x="0" y="0"/>
                  </a:moveTo>
                  <a:lnTo>
                    <a:pt x="2222500" y="0"/>
                  </a:lnTo>
                  <a:lnTo>
                    <a:pt x="2222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222500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duplicated().sum() = 0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675084" y="4318397"/>
            <a:ext cx="8174831" cy="840581"/>
          </a:xfrm>
          <a:custGeom>
            <a:avLst/>
            <a:gdLst/>
            <a:ahLst/>
            <a:cxnLst/>
            <a:rect r="r" b="b" t="t" l="l"/>
            <a:pathLst>
              <a:path h="840581" w="8174831">
                <a:moveTo>
                  <a:pt x="0" y="0"/>
                </a:moveTo>
                <a:lnTo>
                  <a:pt x="8174832" y="0"/>
                </a:lnTo>
                <a:lnTo>
                  <a:pt x="8174832" y="840581"/>
                </a:lnTo>
                <a:lnTo>
                  <a:pt x="0" y="840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863203" y="4619625"/>
            <a:ext cx="238125" cy="238125"/>
            <a:chOff x="0" y="0"/>
            <a:chExt cx="3175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158750" y="317500"/>
                  </a:moveTo>
                  <a:cubicBezTo>
                    <a:pt x="246380" y="317500"/>
                    <a:pt x="317500" y="246380"/>
                    <a:pt x="317500" y="158750"/>
                  </a:cubicBezTo>
                  <a:cubicBezTo>
                    <a:pt x="317500" y="71120"/>
                    <a:pt x="246380" y="0"/>
                    <a:pt x="158750" y="0"/>
                  </a:cubicBezTo>
                  <a:cubicBezTo>
                    <a:pt x="71120" y="0"/>
                    <a:pt x="0" y="71120"/>
                    <a:pt x="0" y="158750"/>
                  </a:cubicBezTo>
                  <a:cubicBezTo>
                    <a:pt x="0" y="246380"/>
                    <a:pt x="71120" y="317500"/>
                    <a:pt x="158750" y="317500"/>
                  </a:cubicBezTo>
                  <a:close/>
                  <a:moveTo>
                    <a:pt x="211074" y="131953"/>
                  </a:moveTo>
                  <a:lnTo>
                    <a:pt x="161417" y="211328"/>
                  </a:lnTo>
                  <a:cubicBezTo>
                    <a:pt x="158750" y="215519"/>
                    <a:pt x="154305" y="218059"/>
                    <a:pt x="149479" y="218313"/>
                  </a:cubicBezTo>
                  <a:cubicBezTo>
                    <a:pt x="144653" y="218567"/>
                    <a:pt x="139827" y="216281"/>
                    <a:pt x="136906" y="212344"/>
                  </a:cubicBezTo>
                  <a:lnTo>
                    <a:pt x="107188" y="172593"/>
                  </a:lnTo>
                  <a:cubicBezTo>
                    <a:pt x="102235" y="165989"/>
                    <a:pt x="103632" y="156718"/>
                    <a:pt x="110109" y="151765"/>
                  </a:cubicBezTo>
                  <a:cubicBezTo>
                    <a:pt x="116586" y="146812"/>
                    <a:pt x="125984" y="148209"/>
                    <a:pt x="130937" y="154686"/>
                  </a:cubicBezTo>
                  <a:lnTo>
                    <a:pt x="147701" y="177038"/>
                  </a:lnTo>
                  <a:lnTo>
                    <a:pt x="185801" y="116078"/>
                  </a:lnTo>
                  <a:cubicBezTo>
                    <a:pt x="190119" y="109093"/>
                    <a:pt x="199263" y="106934"/>
                    <a:pt x="206375" y="111379"/>
                  </a:cubicBezTo>
                  <a:cubicBezTo>
                    <a:pt x="213487" y="115824"/>
                    <a:pt x="215519" y="124841"/>
                    <a:pt x="211074" y="131953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3969" y="4476750"/>
            <a:ext cx="2393156" cy="285750"/>
            <a:chOff x="0" y="0"/>
            <a:chExt cx="3190875" cy="381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90876" cy="381000"/>
            </a:xfrm>
            <a:custGeom>
              <a:avLst/>
              <a:gdLst/>
              <a:ahLst/>
              <a:cxnLst/>
              <a:rect r="r" b="b" t="t" l="l"/>
              <a:pathLst>
                <a:path h="381000" w="3190876">
                  <a:moveTo>
                    <a:pt x="0" y="0"/>
                  </a:moveTo>
                  <a:lnTo>
                    <a:pt x="3190876" y="0"/>
                  </a:lnTo>
                  <a:lnTo>
                    <a:pt x="3190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19087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Columnas eliminadas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3969" y="4738687"/>
            <a:ext cx="2619375" cy="261938"/>
            <a:chOff x="0" y="0"/>
            <a:chExt cx="3175000" cy="317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750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175000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ID, Gender (sin valor predictivo)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235678" y="1639491"/>
            <a:ext cx="8579644" cy="3948112"/>
          </a:xfrm>
          <a:custGeom>
            <a:avLst/>
            <a:gdLst/>
            <a:ahLst/>
            <a:cxnLst/>
            <a:rect r="r" b="b" t="t" l="l"/>
            <a:pathLst>
              <a:path h="3948112" w="8579644">
                <a:moveTo>
                  <a:pt x="0" y="0"/>
                </a:moveTo>
                <a:lnTo>
                  <a:pt x="8579644" y="0"/>
                </a:lnTo>
                <a:lnTo>
                  <a:pt x="8579644" y="3948112"/>
                </a:lnTo>
                <a:lnTo>
                  <a:pt x="0" y="39481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477375" y="186928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9941719" y="1845469"/>
            <a:ext cx="2333625" cy="333375"/>
            <a:chOff x="0" y="0"/>
            <a:chExt cx="3111500" cy="444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11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111500">
                  <a:moveTo>
                    <a:pt x="0" y="0"/>
                  </a:moveTo>
                  <a:lnTo>
                    <a:pt x="3111500" y="0"/>
                  </a:lnTo>
                  <a:lnTo>
                    <a:pt x="3111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3111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Feature Engineering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438084" y="2365772"/>
            <a:ext cx="8174831" cy="1769269"/>
          </a:xfrm>
          <a:custGeom>
            <a:avLst/>
            <a:gdLst/>
            <a:ahLst/>
            <a:cxnLst/>
            <a:rect r="r" b="b" t="t" l="l"/>
            <a:pathLst>
              <a:path h="1769269" w="8174831">
                <a:moveTo>
                  <a:pt x="0" y="0"/>
                </a:moveTo>
                <a:lnTo>
                  <a:pt x="8174832" y="0"/>
                </a:lnTo>
                <a:lnTo>
                  <a:pt x="8174832" y="1769269"/>
                </a:lnTo>
                <a:lnTo>
                  <a:pt x="0" y="176926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1360610" y="2619375"/>
            <a:ext cx="1702965" cy="238125"/>
            <a:chOff x="0" y="0"/>
            <a:chExt cx="2270620" cy="317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70622" cy="317500"/>
            </a:xfrm>
            <a:custGeom>
              <a:avLst/>
              <a:gdLst/>
              <a:ahLst/>
              <a:cxnLst/>
              <a:rect r="r" b="b" t="t" l="l"/>
              <a:pathLst>
                <a:path h="317500" w="2270622">
                  <a:moveTo>
                    <a:pt x="0" y="0"/>
                  </a:moveTo>
                  <a:lnTo>
                    <a:pt x="2270622" y="0"/>
                  </a:lnTo>
                  <a:lnTo>
                    <a:pt x="2270622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348" r="0" b="-893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2270620" cy="38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2"/>
                </a:lnSpc>
              </a:pPr>
              <a:r>
                <a:rPr lang="en-US" sz="1687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Discount_offered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12687" y="2607469"/>
            <a:ext cx="285750" cy="250031"/>
            <a:chOff x="0" y="0"/>
            <a:chExt cx="381000" cy="3333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1000" cy="333376"/>
            </a:xfrm>
            <a:custGeom>
              <a:avLst/>
              <a:gdLst/>
              <a:ahLst/>
              <a:cxnLst/>
              <a:rect r="r" b="b" t="t" l="l"/>
              <a:pathLst>
                <a:path h="33337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33376"/>
                  </a:lnTo>
                  <a:lnTo>
                    <a:pt x="0" y="333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38100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50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447547" y="2619375"/>
            <a:ext cx="1458706" cy="238125"/>
            <a:chOff x="0" y="0"/>
            <a:chExt cx="1944942" cy="317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44936" cy="317500"/>
            </a:xfrm>
            <a:custGeom>
              <a:avLst/>
              <a:gdLst/>
              <a:ahLst/>
              <a:cxnLst/>
              <a:rect r="r" b="b" t="t" l="l"/>
              <a:pathLst>
                <a:path h="317500" w="1944936">
                  <a:moveTo>
                    <a:pt x="0" y="0"/>
                  </a:moveTo>
                  <a:lnTo>
                    <a:pt x="1944936" y="0"/>
                  </a:lnTo>
                  <a:lnTo>
                    <a:pt x="194493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361" r="0" b="-6936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944942" cy="38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2"/>
                </a:lnSpc>
              </a:pPr>
              <a:r>
                <a:rPr lang="en-US" sz="1687" b="true">
                  <a:solidFill>
                    <a:srgbClr val="00FF8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High_Discount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02989" y="2607469"/>
            <a:ext cx="633727" cy="285750"/>
            <a:chOff x="0" y="0"/>
            <a:chExt cx="844969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44931" cy="381000"/>
            </a:xfrm>
            <a:custGeom>
              <a:avLst/>
              <a:gdLst/>
              <a:ahLst/>
              <a:cxnLst/>
              <a:rect r="r" b="b" t="t" l="l"/>
              <a:pathLst>
                <a:path h="381000" w="844931">
                  <a:moveTo>
                    <a:pt x="63500" y="0"/>
                  </a:moveTo>
                  <a:lnTo>
                    <a:pt x="781431" y="0"/>
                  </a:lnTo>
                  <a:cubicBezTo>
                    <a:pt x="816483" y="0"/>
                    <a:pt x="844931" y="28448"/>
                    <a:pt x="844931" y="63500"/>
                  </a:cubicBezTo>
                  <a:lnTo>
                    <a:pt x="844931" y="317500"/>
                  </a:lnTo>
                  <a:cubicBezTo>
                    <a:pt x="844931" y="352552"/>
                    <a:pt x="816483" y="381000"/>
                    <a:pt x="781431" y="381000"/>
                  </a:cubicBezTo>
                  <a:lnTo>
                    <a:pt x="63500" y="381000"/>
                  </a:lnTo>
                  <a:cubicBezTo>
                    <a:pt x="28448" y="381000"/>
                    <a:pt x="0" y="352552"/>
                    <a:pt x="0" y="3175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7ED957">
                <a:alpha val="3922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967271" y="2607469"/>
            <a:ext cx="705164" cy="285750"/>
            <a:chOff x="0" y="0"/>
            <a:chExt cx="940219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40222" cy="381000"/>
            </a:xfrm>
            <a:custGeom>
              <a:avLst/>
              <a:gdLst/>
              <a:ahLst/>
              <a:cxnLst/>
              <a:rect r="r" b="b" t="t" l="l"/>
              <a:pathLst>
                <a:path h="381000" w="940222">
                  <a:moveTo>
                    <a:pt x="0" y="0"/>
                  </a:moveTo>
                  <a:lnTo>
                    <a:pt x="940222" y="0"/>
                  </a:lnTo>
                  <a:lnTo>
                    <a:pt x="940222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91" t="0" r="-199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40219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binaria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640491" y="3044428"/>
            <a:ext cx="3817144" cy="888206"/>
          </a:xfrm>
          <a:custGeom>
            <a:avLst/>
            <a:gdLst/>
            <a:ahLst/>
            <a:cxnLst/>
            <a:rect r="r" b="b" t="t" l="l"/>
            <a:pathLst>
              <a:path h="888206" w="3817144">
                <a:moveTo>
                  <a:pt x="0" y="0"/>
                </a:moveTo>
                <a:lnTo>
                  <a:pt x="3817143" y="0"/>
                </a:lnTo>
                <a:lnTo>
                  <a:pt x="3817143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757172" y="3202781"/>
            <a:ext cx="3583781" cy="238125"/>
            <a:chOff x="0" y="0"/>
            <a:chExt cx="4778375" cy="3175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78376" cy="317500"/>
            </a:xfrm>
            <a:custGeom>
              <a:avLst/>
              <a:gdLst/>
              <a:ahLst/>
              <a:cxnLst/>
              <a:rect r="r" b="b" t="t" l="l"/>
              <a:pathLst>
                <a:path h="317500" w="4778376">
                  <a:moveTo>
                    <a:pt x="0" y="0"/>
                  </a:moveTo>
                  <a:lnTo>
                    <a:pt x="4778376" y="0"/>
                  </a:lnTo>
                  <a:lnTo>
                    <a:pt x="47783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3249" r="0" b="-24324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7783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si Discount_offered &gt; 10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51219" y="3488531"/>
            <a:ext cx="3595688" cy="285750"/>
            <a:chOff x="0" y="0"/>
            <a:chExt cx="4794250" cy="381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94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94250">
                  <a:moveTo>
                    <a:pt x="0" y="0"/>
                  </a:moveTo>
                  <a:lnTo>
                    <a:pt x="4794250" y="0"/>
                  </a:lnTo>
                  <a:lnTo>
                    <a:pt x="4794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186" r="0" b="-19518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4794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500" b="true">
                  <a:solidFill>
                    <a:srgbClr val="FF6B35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High_Discount = 1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3593366" y="3044428"/>
            <a:ext cx="3817144" cy="888206"/>
          </a:xfrm>
          <a:custGeom>
            <a:avLst/>
            <a:gdLst/>
            <a:ahLst/>
            <a:cxnLst/>
            <a:rect r="r" b="b" t="t" l="l"/>
            <a:pathLst>
              <a:path h="888206" w="3817144">
                <a:moveTo>
                  <a:pt x="0" y="0"/>
                </a:moveTo>
                <a:lnTo>
                  <a:pt x="3817143" y="0"/>
                </a:lnTo>
                <a:lnTo>
                  <a:pt x="3817143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3710047" y="3202781"/>
            <a:ext cx="3583781" cy="238125"/>
            <a:chOff x="0" y="0"/>
            <a:chExt cx="4778375" cy="3175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78376" cy="317500"/>
            </a:xfrm>
            <a:custGeom>
              <a:avLst/>
              <a:gdLst/>
              <a:ahLst/>
              <a:cxnLst/>
              <a:rect r="r" b="b" t="t" l="l"/>
              <a:pathLst>
                <a:path h="317500" w="4778376">
                  <a:moveTo>
                    <a:pt x="0" y="0"/>
                  </a:moveTo>
                  <a:lnTo>
                    <a:pt x="4778376" y="0"/>
                  </a:lnTo>
                  <a:lnTo>
                    <a:pt x="47783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3249" r="0" b="-24324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7783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si Discount_offered ≤ 10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704094" y="3488531"/>
            <a:ext cx="3595688" cy="285750"/>
            <a:chOff x="0" y="0"/>
            <a:chExt cx="479425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94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94250">
                  <a:moveTo>
                    <a:pt x="0" y="0"/>
                  </a:moveTo>
                  <a:lnTo>
                    <a:pt x="4794250" y="0"/>
                  </a:lnTo>
                  <a:lnTo>
                    <a:pt x="4794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186" r="0" b="-19518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4794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500" b="true">
                  <a:solidFill>
                    <a:srgbClr val="00D4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High_Discount = 0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438084" y="4270772"/>
            <a:ext cx="8174831" cy="554831"/>
          </a:xfrm>
          <a:custGeom>
            <a:avLst/>
            <a:gdLst/>
            <a:ahLst/>
            <a:cxnLst/>
            <a:rect r="r" b="b" t="t" l="l"/>
            <a:pathLst>
              <a:path h="554831" w="8174831">
                <a:moveTo>
                  <a:pt x="0" y="0"/>
                </a:moveTo>
                <a:lnTo>
                  <a:pt x="8174832" y="0"/>
                </a:lnTo>
                <a:lnTo>
                  <a:pt x="8174832" y="554831"/>
                </a:lnTo>
                <a:lnTo>
                  <a:pt x="0" y="5548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641091" y="4470797"/>
            <a:ext cx="125016" cy="166688"/>
          </a:xfrm>
          <a:custGeom>
            <a:avLst/>
            <a:gdLst/>
            <a:ahLst/>
            <a:cxnLst/>
            <a:rect r="r" b="b" t="t" l="l"/>
            <a:pathLst>
              <a:path h="166688" w="125016">
                <a:moveTo>
                  <a:pt x="0" y="0"/>
                </a:moveTo>
                <a:lnTo>
                  <a:pt x="125015" y="0"/>
                </a:lnTo>
                <a:lnTo>
                  <a:pt x="125015" y="166687"/>
                </a:lnTo>
                <a:lnTo>
                  <a:pt x="0" y="1666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870281" y="4429125"/>
            <a:ext cx="7667625" cy="238125"/>
            <a:chOff x="0" y="0"/>
            <a:chExt cx="10223500" cy="3175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23500" cy="317500"/>
            </a:xfrm>
            <a:custGeom>
              <a:avLst/>
              <a:gdLst/>
              <a:ahLst/>
              <a:cxnLst/>
              <a:rect r="r" b="b" t="t" l="l"/>
              <a:pathLst>
                <a:path h="3175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7418" r="0" b="-57741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23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Justificación: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Reducir ruido y capturar el punto de inflexión detectado en el EDA.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9438084" y="4961334"/>
            <a:ext cx="8174831" cy="423862"/>
          </a:xfrm>
          <a:custGeom>
            <a:avLst/>
            <a:gdLst/>
            <a:ahLst/>
            <a:cxnLst/>
            <a:rect r="r" b="b" t="t" l="l"/>
            <a:pathLst>
              <a:path h="423862" w="8174831">
                <a:moveTo>
                  <a:pt x="0" y="0"/>
                </a:moveTo>
                <a:lnTo>
                  <a:pt x="8174832" y="0"/>
                </a:lnTo>
                <a:lnTo>
                  <a:pt x="8174832" y="423863"/>
                </a:lnTo>
                <a:lnTo>
                  <a:pt x="0" y="42386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1617528" y="510182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9721453" y="5072062"/>
            <a:ext cx="7816453" cy="202406"/>
            <a:chOff x="0" y="0"/>
            <a:chExt cx="10421938" cy="2698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421938" cy="269876"/>
            </a:xfrm>
            <a:custGeom>
              <a:avLst/>
              <a:gdLst/>
              <a:ahLst/>
              <a:cxnLst/>
              <a:rect r="r" b="b" t="t" l="l"/>
              <a:pathLst>
                <a:path h="269876" w="10421938">
                  <a:moveTo>
                    <a:pt x="0" y="0"/>
                  </a:moveTo>
                  <a:lnTo>
                    <a:pt x="10421938" y="0"/>
                  </a:lnTo>
                  <a:lnTo>
                    <a:pt x="10421938" y="269876"/>
                  </a:lnTo>
                  <a:lnTo>
                    <a:pt x="0" y="2698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463" r="0" b="-70246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0421938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FF6B35"/>
                  </a:solidFill>
                  <a:latin typeface="Arimo"/>
                  <a:ea typeface="Arimo"/>
                  <a:cs typeface="Arimo"/>
                  <a:sym typeface="Arimo"/>
                </a:rPr>
                <a:t>Discount_offered</a:t>
              </a:r>
              <a:r>
                <a:rPr lang="en-US" sz="11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fue </a:t>
              </a:r>
              <a:r>
                <a:rPr lang="en-US" sz="1125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eliminada</a:t>
              </a:r>
              <a:r>
                <a:rPr lang="en-US" sz="11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para evitar redundancia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472678" y="5770959"/>
            <a:ext cx="8579644" cy="4150519"/>
          </a:xfrm>
          <a:custGeom>
            <a:avLst/>
            <a:gdLst/>
            <a:ahLst/>
            <a:cxnLst/>
            <a:rect r="r" b="b" t="t" l="l"/>
            <a:pathLst>
              <a:path h="4150519" w="8579644">
                <a:moveTo>
                  <a:pt x="0" y="0"/>
                </a:moveTo>
                <a:lnTo>
                  <a:pt x="8579644" y="0"/>
                </a:lnTo>
                <a:lnTo>
                  <a:pt x="8579644" y="4150519"/>
                </a:lnTo>
                <a:lnTo>
                  <a:pt x="0" y="415051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696516" y="6000750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8" y="0"/>
                </a:lnTo>
                <a:lnTo>
                  <a:pt x="32146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78719" y="5948434"/>
            <a:ext cx="3463692" cy="361878"/>
            <a:chOff x="0" y="0"/>
            <a:chExt cx="4254500" cy="4445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54500" cy="444500"/>
            </a:xfrm>
            <a:custGeom>
              <a:avLst/>
              <a:gdLst/>
              <a:ahLst/>
              <a:cxnLst/>
              <a:rect r="r" b="b" t="t" l="l"/>
              <a:pathLst>
                <a:path h="444500" w="4254500">
                  <a:moveTo>
                    <a:pt x="0" y="0"/>
                  </a:moveTo>
                  <a:lnTo>
                    <a:pt x="4254500" y="0"/>
                  </a:lnTo>
                  <a:lnTo>
                    <a:pt x="4254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76200"/>
              <a:ext cx="4254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Codificación de Categóricas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02469" y="6500812"/>
            <a:ext cx="8143875" cy="714375"/>
            <a:chOff x="0" y="0"/>
            <a:chExt cx="10858500" cy="9525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858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858500">
                  <a:moveTo>
                    <a:pt x="63500" y="0"/>
                  </a:moveTo>
                  <a:lnTo>
                    <a:pt x="10731500" y="0"/>
                  </a:lnTo>
                  <a:cubicBezTo>
                    <a:pt x="10801604" y="0"/>
                    <a:pt x="10858500" y="56896"/>
                    <a:pt x="10858500" y="127000"/>
                  </a:cubicBezTo>
                  <a:lnTo>
                    <a:pt x="10858500" y="825500"/>
                  </a:lnTo>
                  <a:cubicBezTo>
                    <a:pt x="10858500" y="895604"/>
                    <a:pt x="10801604" y="952500"/>
                    <a:pt x="10731500" y="952500"/>
                  </a:cubicBezTo>
                  <a:lnTo>
                    <a:pt x="63500" y="952500"/>
                  </a:lnTo>
                  <a:cubicBezTo>
                    <a:pt x="28448" y="952500"/>
                    <a:pt x="0" y="924052"/>
                    <a:pt x="0" y="8890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02469" y="6500812"/>
            <a:ext cx="47625" cy="714375"/>
            <a:chOff x="0" y="0"/>
            <a:chExt cx="63500" cy="9525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500" cy="952500"/>
            </a:xfrm>
            <a:custGeom>
              <a:avLst/>
              <a:gdLst/>
              <a:ahLst/>
              <a:cxnLst/>
              <a:rect r="r" b="b" t="t" l="l"/>
              <a:pathLst>
                <a:path h="952500" w="63500">
                  <a:moveTo>
                    <a:pt x="63500" y="0"/>
                  </a:moveTo>
                  <a:lnTo>
                    <a:pt x="63500" y="952500"/>
                  </a:lnTo>
                  <a:cubicBezTo>
                    <a:pt x="28448" y="952500"/>
                    <a:pt x="0" y="924052"/>
                    <a:pt x="0" y="8890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69156" y="6786562"/>
            <a:ext cx="1553394" cy="184547"/>
            <a:chOff x="0" y="0"/>
            <a:chExt cx="2071192" cy="24606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71192" cy="246062"/>
            </a:xfrm>
            <a:custGeom>
              <a:avLst/>
              <a:gdLst/>
              <a:ahLst/>
              <a:cxnLst/>
              <a:rect r="r" b="b" t="t" l="l"/>
              <a:pathLst>
                <a:path h="246062" w="2071192">
                  <a:moveTo>
                    <a:pt x="0" y="0"/>
                  </a:moveTo>
                  <a:lnTo>
                    <a:pt x="2071192" y="0"/>
                  </a:lnTo>
                  <a:lnTo>
                    <a:pt x="2071192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012" r="0" b="-11401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2071192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Product_importance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974462" y="6643688"/>
            <a:ext cx="1726406" cy="238125"/>
            <a:chOff x="0" y="0"/>
            <a:chExt cx="2301875" cy="3175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301876" cy="317500"/>
            </a:xfrm>
            <a:custGeom>
              <a:avLst/>
              <a:gdLst/>
              <a:ahLst/>
              <a:cxnLst/>
              <a:rect r="r" b="b" t="t" l="l"/>
              <a:pathLst>
                <a:path h="317500" w="2301876">
                  <a:moveTo>
                    <a:pt x="0" y="0"/>
                  </a:moveTo>
                  <a:lnTo>
                    <a:pt x="2301876" y="0"/>
                  </a:lnTo>
                  <a:lnTo>
                    <a:pt x="2301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2301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OrdinalEncoder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986368" y="6881812"/>
            <a:ext cx="1714500" cy="190500"/>
            <a:chOff x="0" y="0"/>
            <a:chExt cx="2286000" cy="2540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86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2286000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[low=0, medium=1, high=2]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78656" y="7310438"/>
            <a:ext cx="8167688" cy="381000"/>
            <a:chOff x="0" y="0"/>
            <a:chExt cx="10890250" cy="5080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890250" cy="508000"/>
            </a:xfrm>
            <a:custGeom>
              <a:avLst/>
              <a:gdLst/>
              <a:ahLst/>
              <a:cxnLst/>
              <a:rect r="r" b="b" t="t" l="l"/>
              <a:pathLst>
                <a:path h="5080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81000"/>
                  </a:lnTo>
                  <a:cubicBezTo>
                    <a:pt x="10890250" y="451104"/>
                    <a:pt x="10833354" y="508000"/>
                    <a:pt x="10763250" y="508000"/>
                  </a:cubicBezTo>
                  <a:lnTo>
                    <a:pt x="127000" y="508000"/>
                  </a:lnTo>
                  <a:cubicBezTo>
                    <a:pt x="56896" y="508000"/>
                    <a:pt x="0" y="451104"/>
                    <a:pt x="0" y="381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791766" y="7435453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982266" y="7405688"/>
            <a:ext cx="7840266" cy="190500"/>
            <a:chOff x="0" y="0"/>
            <a:chExt cx="10453688" cy="2540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453688" cy="254000"/>
            </a:xfrm>
            <a:custGeom>
              <a:avLst/>
              <a:gdLst/>
              <a:ahLst/>
              <a:cxnLst/>
              <a:rect r="r" b="b" t="t" l="l"/>
              <a:pathLst>
                <a:path h="254000" w="10453688">
                  <a:moveTo>
                    <a:pt x="0" y="0"/>
                  </a:moveTo>
                  <a:lnTo>
                    <a:pt x="10453688" y="0"/>
                  </a:lnTo>
                  <a:lnTo>
                    <a:pt x="10453688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1931" r="0" b="-75193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10453688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Jerarquía natural de negocio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02469" y="7786688"/>
            <a:ext cx="8143875" cy="571500"/>
            <a:chOff x="0" y="0"/>
            <a:chExt cx="10858500" cy="7620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858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858500">
                  <a:moveTo>
                    <a:pt x="63500" y="0"/>
                  </a:moveTo>
                  <a:lnTo>
                    <a:pt x="10731500" y="0"/>
                  </a:lnTo>
                  <a:cubicBezTo>
                    <a:pt x="10801604" y="0"/>
                    <a:pt x="10858500" y="56896"/>
                    <a:pt x="10858500" y="127000"/>
                  </a:cubicBezTo>
                  <a:lnTo>
                    <a:pt x="10858500" y="635000"/>
                  </a:lnTo>
                  <a:cubicBezTo>
                    <a:pt x="10858500" y="705104"/>
                    <a:pt x="10801604" y="762000"/>
                    <a:pt x="10731500" y="762000"/>
                  </a:cubicBezTo>
                  <a:lnTo>
                    <a:pt x="63500" y="762000"/>
                  </a:lnTo>
                  <a:cubicBezTo>
                    <a:pt x="28448" y="762000"/>
                    <a:pt x="0" y="733552"/>
                    <a:pt x="0" y="6985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02469" y="7786688"/>
            <a:ext cx="47625" cy="571500"/>
            <a:chOff x="0" y="0"/>
            <a:chExt cx="63500" cy="762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63500">
                  <a:moveTo>
                    <a:pt x="63500" y="0"/>
                  </a:moveTo>
                  <a:lnTo>
                    <a:pt x="63500" y="762000"/>
                  </a:lnTo>
                  <a:cubicBezTo>
                    <a:pt x="28448" y="762000"/>
                    <a:pt x="0" y="733552"/>
                    <a:pt x="0" y="6985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69156" y="8001000"/>
            <a:ext cx="1399918" cy="184547"/>
            <a:chOff x="0" y="0"/>
            <a:chExt cx="1866557" cy="24606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866552" cy="246062"/>
            </a:xfrm>
            <a:custGeom>
              <a:avLst/>
              <a:gdLst/>
              <a:ahLst/>
              <a:cxnLst/>
              <a:rect r="r" b="b" t="t" l="l"/>
              <a:pathLst>
                <a:path h="246062" w="1866552">
                  <a:moveTo>
                    <a:pt x="0" y="0"/>
                  </a:moveTo>
                  <a:lnTo>
                    <a:pt x="1866552" y="0"/>
                  </a:lnTo>
                  <a:lnTo>
                    <a:pt x="1866552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807" r="0" b="-9780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1866557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Warehouse_block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477963" y="7953375"/>
            <a:ext cx="1309688" cy="238125"/>
            <a:chOff x="0" y="0"/>
            <a:chExt cx="1746250" cy="3175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46250" cy="317500"/>
            </a:xfrm>
            <a:custGeom>
              <a:avLst/>
              <a:gdLst/>
              <a:ahLst/>
              <a:cxnLst/>
              <a:rect r="r" b="b" t="t" l="l"/>
              <a:pathLst>
                <a:path h="317500" w="1746250">
                  <a:moveTo>
                    <a:pt x="0" y="0"/>
                  </a:moveTo>
                  <a:lnTo>
                    <a:pt x="1746250" y="0"/>
                  </a:lnTo>
                  <a:lnTo>
                    <a:pt x="1746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7462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OneHotEncoder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02469" y="8453438"/>
            <a:ext cx="8143875" cy="571500"/>
            <a:chOff x="0" y="0"/>
            <a:chExt cx="10858500" cy="7620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858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858500">
                  <a:moveTo>
                    <a:pt x="63500" y="0"/>
                  </a:moveTo>
                  <a:lnTo>
                    <a:pt x="10731500" y="0"/>
                  </a:lnTo>
                  <a:cubicBezTo>
                    <a:pt x="10801604" y="0"/>
                    <a:pt x="10858500" y="56896"/>
                    <a:pt x="10858500" y="127000"/>
                  </a:cubicBezTo>
                  <a:lnTo>
                    <a:pt x="10858500" y="635000"/>
                  </a:lnTo>
                  <a:cubicBezTo>
                    <a:pt x="10858500" y="705104"/>
                    <a:pt x="10801604" y="762000"/>
                    <a:pt x="10731500" y="762000"/>
                  </a:cubicBezTo>
                  <a:lnTo>
                    <a:pt x="63500" y="762000"/>
                  </a:lnTo>
                  <a:cubicBezTo>
                    <a:pt x="28448" y="762000"/>
                    <a:pt x="0" y="733552"/>
                    <a:pt x="0" y="6985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02469" y="8453438"/>
            <a:ext cx="47625" cy="571500"/>
            <a:chOff x="0" y="0"/>
            <a:chExt cx="63500" cy="7620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63500">
                  <a:moveTo>
                    <a:pt x="63500" y="0"/>
                  </a:moveTo>
                  <a:lnTo>
                    <a:pt x="63500" y="762000"/>
                  </a:lnTo>
                  <a:cubicBezTo>
                    <a:pt x="28448" y="762000"/>
                    <a:pt x="0" y="733552"/>
                    <a:pt x="0" y="6985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869156" y="8667750"/>
            <a:ext cx="1494234" cy="184547"/>
            <a:chOff x="0" y="0"/>
            <a:chExt cx="1992312" cy="24606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92312" cy="246062"/>
            </a:xfrm>
            <a:custGeom>
              <a:avLst/>
              <a:gdLst/>
              <a:ahLst/>
              <a:cxnLst/>
              <a:rect r="r" b="b" t="t" l="l"/>
              <a:pathLst>
                <a:path h="246062" w="1992312">
                  <a:moveTo>
                    <a:pt x="0" y="0"/>
                  </a:moveTo>
                  <a:lnTo>
                    <a:pt x="1992312" y="0"/>
                  </a:lnTo>
                  <a:lnTo>
                    <a:pt x="1992312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766" r="0" b="-10776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992312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D4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Mode_of_Shipment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7477963" y="8620125"/>
            <a:ext cx="1309688" cy="238125"/>
            <a:chOff x="0" y="0"/>
            <a:chExt cx="1746250" cy="3175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746250" cy="317500"/>
            </a:xfrm>
            <a:custGeom>
              <a:avLst/>
              <a:gdLst/>
              <a:ahLst/>
              <a:cxnLst/>
              <a:rect r="r" b="b" t="t" l="l"/>
              <a:pathLst>
                <a:path h="317500" w="1746250">
                  <a:moveTo>
                    <a:pt x="0" y="0"/>
                  </a:moveTo>
                  <a:lnTo>
                    <a:pt x="1746250" y="0"/>
                  </a:lnTo>
                  <a:lnTo>
                    <a:pt x="1746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17462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OneHotEncoder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678656" y="9120188"/>
            <a:ext cx="8167688" cy="381000"/>
            <a:chOff x="0" y="0"/>
            <a:chExt cx="10890250" cy="5080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890250" cy="508000"/>
            </a:xfrm>
            <a:custGeom>
              <a:avLst/>
              <a:gdLst/>
              <a:ahLst/>
              <a:cxnLst/>
              <a:rect r="r" b="b" t="t" l="l"/>
              <a:pathLst>
                <a:path h="5080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81000"/>
                  </a:lnTo>
                  <a:cubicBezTo>
                    <a:pt x="10890250" y="451104"/>
                    <a:pt x="10833354" y="508000"/>
                    <a:pt x="10763250" y="508000"/>
                  </a:cubicBezTo>
                  <a:lnTo>
                    <a:pt x="127000" y="508000"/>
                  </a:lnTo>
                  <a:cubicBezTo>
                    <a:pt x="56896" y="508000"/>
                    <a:pt x="0" y="451104"/>
                    <a:pt x="0" y="381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D4FF">
                <a:alpha val="784"/>
              </a:srgbClr>
            </a:solidFill>
          </p:spPr>
        </p:sp>
      </p:grpSp>
      <p:sp>
        <p:nvSpPr>
          <p:cNvPr name="Freeform 134" id="134"/>
          <p:cNvSpPr/>
          <p:nvPr/>
        </p:nvSpPr>
        <p:spPr>
          <a:xfrm flipH="false" flipV="false" rot="0">
            <a:off x="791766" y="9245203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5" id="135"/>
          <p:cNvGrpSpPr/>
          <p:nvPr/>
        </p:nvGrpSpPr>
        <p:grpSpPr>
          <a:xfrm rot="0">
            <a:off x="982266" y="9215438"/>
            <a:ext cx="7840266" cy="190500"/>
            <a:chOff x="0" y="0"/>
            <a:chExt cx="10453688" cy="2540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453688" cy="254000"/>
            </a:xfrm>
            <a:custGeom>
              <a:avLst/>
              <a:gdLst/>
              <a:ahLst/>
              <a:cxnLst/>
              <a:rect r="r" b="b" t="t" l="l"/>
              <a:pathLst>
                <a:path h="254000" w="10453688">
                  <a:moveTo>
                    <a:pt x="0" y="0"/>
                  </a:moveTo>
                  <a:lnTo>
                    <a:pt x="10453688" y="0"/>
                  </a:lnTo>
                  <a:lnTo>
                    <a:pt x="10453688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1931" r="0" b="-75193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19050"/>
              <a:ext cx="10453688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Variables nominales sin orden</a:t>
              </a:r>
            </a:p>
          </p:txBody>
        </p:sp>
      </p:grpSp>
      <p:sp>
        <p:nvSpPr>
          <p:cNvPr name="Freeform 138" id="138"/>
          <p:cNvSpPr/>
          <p:nvPr/>
        </p:nvSpPr>
        <p:spPr>
          <a:xfrm flipH="false" flipV="false" rot="0">
            <a:off x="9235678" y="5770959"/>
            <a:ext cx="8579644" cy="4150519"/>
          </a:xfrm>
          <a:custGeom>
            <a:avLst/>
            <a:gdLst/>
            <a:ahLst/>
            <a:cxnLst/>
            <a:rect r="r" b="b" t="t" l="l"/>
            <a:pathLst>
              <a:path h="4150519" w="8579644">
                <a:moveTo>
                  <a:pt x="0" y="0"/>
                </a:moveTo>
                <a:lnTo>
                  <a:pt x="8579644" y="0"/>
                </a:lnTo>
                <a:lnTo>
                  <a:pt x="8579644" y="4150519"/>
                </a:lnTo>
                <a:lnTo>
                  <a:pt x="0" y="4150519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9441656" y="6000750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9941719" y="5976938"/>
            <a:ext cx="1833562" cy="333375"/>
            <a:chOff x="0" y="0"/>
            <a:chExt cx="2444750" cy="4445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44750" cy="444500"/>
            </a:xfrm>
            <a:custGeom>
              <a:avLst/>
              <a:gdLst/>
              <a:ahLst/>
              <a:cxnLst/>
              <a:rect r="r" b="b" t="t" l="l"/>
              <a:pathLst>
                <a:path h="444500" w="2444750">
                  <a:moveTo>
                    <a:pt x="0" y="0"/>
                  </a:moveTo>
                  <a:lnTo>
                    <a:pt x="2444750" y="0"/>
                  </a:lnTo>
                  <a:lnTo>
                    <a:pt x="2444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76200"/>
              <a:ext cx="24447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Estandarización</a:t>
              </a:r>
            </a:p>
          </p:txBody>
        </p:sp>
      </p:grpSp>
      <p:sp>
        <p:nvSpPr>
          <p:cNvPr name="Freeform 143" id="143"/>
          <p:cNvSpPr/>
          <p:nvPr/>
        </p:nvSpPr>
        <p:spPr>
          <a:xfrm flipH="false" flipV="false" rot="0">
            <a:off x="9438084" y="6497241"/>
            <a:ext cx="8174831" cy="1864519"/>
          </a:xfrm>
          <a:custGeom>
            <a:avLst/>
            <a:gdLst/>
            <a:ahLst/>
            <a:cxnLst/>
            <a:rect r="r" b="b" t="t" l="l"/>
            <a:pathLst>
              <a:path h="1864519" w="8174831">
                <a:moveTo>
                  <a:pt x="0" y="0"/>
                </a:moveTo>
                <a:lnTo>
                  <a:pt x="8174832" y="0"/>
                </a:lnTo>
                <a:lnTo>
                  <a:pt x="8174832" y="1864518"/>
                </a:lnTo>
                <a:lnTo>
                  <a:pt x="0" y="186451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4" id="144"/>
          <p:cNvGrpSpPr/>
          <p:nvPr/>
        </p:nvGrpSpPr>
        <p:grpSpPr>
          <a:xfrm rot="0">
            <a:off x="12821079" y="6675291"/>
            <a:ext cx="1638767" cy="361303"/>
            <a:chOff x="0" y="0"/>
            <a:chExt cx="2016125" cy="4445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016126" cy="444500"/>
            </a:xfrm>
            <a:custGeom>
              <a:avLst/>
              <a:gdLst/>
              <a:ahLst/>
              <a:cxnLst/>
              <a:rect r="r" b="b" t="t" l="l"/>
              <a:pathLst>
                <a:path h="444500" w="2016126">
                  <a:moveTo>
                    <a:pt x="0" y="0"/>
                  </a:moveTo>
                  <a:lnTo>
                    <a:pt x="2016126" y="0"/>
                  </a:lnTo>
                  <a:lnTo>
                    <a:pt x="20161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378" r="0" b="-3837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66675"/>
              <a:ext cx="2016125" cy="51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6B35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StandardScaler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602391" y="7179469"/>
            <a:ext cx="7846219" cy="238125"/>
            <a:chOff x="0" y="0"/>
            <a:chExt cx="10461625" cy="3175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461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461626">
                  <a:moveTo>
                    <a:pt x="0" y="0"/>
                  </a:moveTo>
                  <a:lnTo>
                    <a:pt x="10461626" y="0"/>
                  </a:lnTo>
                  <a:lnTo>
                    <a:pt x="10461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2032" r="0" b="-592032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47625"/>
              <a:ext cx="10461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Aplicado dentro de cada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061347" y="7518797"/>
            <a:ext cx="928316" cy="303609"/>
            <a:chOff x="0" y="0"/>
            <a:chExt cx="1237755" cy="40481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237742" cy="404876"/>
            </a:xfrm>
            <a:custGeom>
              <a:avLst/>
              <a:gdLst/>
              <a:ahLst/>
              <a:cxnLst/>
              <a:rect r="r" b="b" t="t" l="l"/>
              <a:pathLst>
                <a:path h="404876" w="1237742">
                  <a:moveTo>
                    <a:pt x="63500" y="0"/>
                  </a:moveTo>
                  <a:lnTo>
                    <a:pt x="1174242" y="0"/>
                  </a:lnTo>
                  <a:cubicBezTo>
                    <a:pt x="1209294" y="0"/>
                    <a:pt x="1237742" y="28448"/>
                    <a:pt x="1237742" y="63500"/>
                  </a:cubicBezTo>
                  <a:lnTo>
                    <a:pt x="1237742" y="341376"/>
                  </a:lnTo>
                  <a:cubicBezTo>
                    <a:pt x="1237742" y="376428"/>
                    <a:pt x="1209294" y="404876"/>
                    <a:pt x="1174242" y="404876"/>
                  </a:cubicBezTo>
                  <a:lnTo>
                    <a:pt x="63500" y="404876"/>
                  </a:lnTo>
                  <a:cubicBezTo>
                    <a:pt x="28448" y="404876"/>
                    <a:pt x="0" y="376428"/>
                    <a:pt x="0" y="341376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FF6B35">
                <a:alpha val="3922"/>
              </a:srgbClr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013722" y="7518797"/>
            <a:ext cx="1023566" cy="303609"/>
            <a:chOff x="0" y="0"/>
            <a:chExt cx="1364755" cy="40481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64754" cy="404812"/>
            </a:xfrm>
            <a:custGeom>
              <a:avLst/>
              <a:gdLst/>
              <a:ahLst/>
              <a:cxnLst/>
              <a:rect r="r" b="b" t="t" l="l"/>
              <a:pathLst>
                <a:path h="404812" w="1364754">
                  <a:moveTo>
                    <a:pt x="0" y="0"/>
                  </a:moveTo>
                  <a:lnTo>
                    <a:pt x="1364754" y="0"/>
                  </a:lnTo>
                  <a:lnTo>
                    <a:pt x="1364754" y="404812"/>
                  </a:lnTo>
                  <a:lnTo>
                    <a:pt x="0" y="4048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690" r="0" b="-1569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1364755" cy="47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500">
                  <a:solidFill>
                    <a:srgbClr val="FF6B3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Pipeline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602391" y="7911703"/>
            <a:ext cx="7846219" cy="238125"/>
            <a:chOff x="0" y="0"/>
            <a:chExt cx="10461625" cy="3175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461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461626">
                  <a:moveTo>
                    <a:pt x="0" y="0"/>
                  </a:moveTo>
                  <a:lnTo>
                    <a:pt x="10461626" y="0"/>
                  </a:lnTo>
                  <a:lnTo>
                    <a:pt x="10461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2032" r="0" b="-592032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10461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de scikit-learn</a:t>
              </a:r>
            </a:p>
          </p:txBody>
        </p:sp>
      </p:grpSp>
      <p:sp>
        <p:nvSpPr>
          <p:cNvPr name="Freeform 158" id="158"/>
          <p:cNvSpPr/>
          <p:nvPr/>
        </p:nvSpPr>
        <p:spPr>
          <a:xfrm flipH="false" flipV="false" rot="0">
            <a:off x="9438084" y="8539162"/>
            <a:ext cx="8174831" cy="1173956"/>
          </a:xfrm>
          <a:custGeom>
            <a:avLst/>
            <a:gdLst/>
            <a:ahLst/>
            <a:cxnLst/>
            <a:rect r="r" b="b" t="t" l="l"/>
            <a:pathLst>
              <a:path h="1173956" w="8174831">
                <a:moveTo>
                  <a:pt x="0" y="0"/>
                </a:moveTo>
                <a:lnTo>
                  <a:pt x="8174832" y="0"/>
                </a:lnTo>
                <a:lnTo>
                  <a:pt x="8174832" y="1173957"/>
                </a:lnTo>
                <a:lnTo>
                  <a:pt x="0" y="1173957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9" id="159"/>
          <p:cNvGrpSpPr/>
          <p:nvPr/>
        </p:nvGrpSpPr>
        <p:grpSpPr>
          <a:xfrm rot="0">
            <a:off x="9620250" y="8745141"/>
            <a:ext cx="190500" cy="190500"/>
            <a:chOff x="0" y="0"/>
            <a:chExt cx="254000" cy="2540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8001" y="0"/>
              <a:ext cx="238125" cy="252508"/>
            </a:xfrm>
            <a:custGeom>
              <a:avLst/>
              <a:gdLst/>
              <a:ahLst/>
              <a:cxnLst/>
              <a:rect r="r" b="b" t="t" l="l"/>
              <a:pathLst>
                <a:path h="252508" w="238125">
                  <a:moveTo>
                    <a:pt x="118999" y="0"/>
                  </a:moveTo>
                  <a:cubicBezTo>
                    <a:pt x="121285" y="0"/>
                    <a:pt x="123571" y="508"/>
                    <a:pt x="125603" y="1397"/>
                  </a:cubicBezTo>
                  <a:lnTo>
                    <a:pt x="219075" y="41021"/>
                  </a:lnTo>
                  <a:cubicBezTo>
                    <a:pt x="229997" y="45593"/>
                    <a:pt x="238125" y="56388"/>
                    <a:pt x="238125" y="69342"/>
                  </a:cubicBezTo>
                  <a:cubicBezTo>
                    <a:pt x="237871" y="118491"/>
                    <a:pt x="217678" y="208534"/>
                    <a:pt x="132207" y="249555"/>
                  </a:cubicBezTo>
                  <a:cubicBezTo>
                    <a:pt x="123952" y="253492"/>
                    <a:pt x="114300" y="253492"/>
                    <a:pt x="106045" y="249555"/>
                  </a:cubicBezTo>
                  <a:cubicBezTo>
                    <a:pt x="20447" y="208661"/>
                    <a:pt x="254" y="118618"/>
                    <a:pt x="0" y="69469"/>
                  </a:cubicBezTo>
                  <a:cubicBezTo>
                    <a:pt x="0" y="56515"/>
                    <a:pt x="8128" y="45720"/>
                    <a:pt x="19050" y="41148"/>
                  </a:cubicBezTo>
                  <a:lnTo>
                    <a:pt x="112395" y="1397"/>
                  </a:lnTo>
                  <a:cubicBezTo>
                    <a:pt x="114427" y="508"/>
                    <a:pt x="116713" y="0"/>
                    <a:pt x="118999" y="0"/>
                  </a:cubicBezTo>
                  <a:close/>
                  <a:moveTo>
                    <a:pt x="118999" y="33147"/>
                  </a:moveTo>
                  <a:lnTo>
                    <a:pt x="118999" y="220726"/>
                  </a:lnTo>
                  <a:cubicBezTo>
                    <a:pt x="187452" y="187579"/>
                    <a:pt x="205867" y="114173"/>
                    <a:pt x="206248" y="70231"/>
                  </a:cubicBezTo>
                  <a:lnTo>
                    <a:pt x="118999" y="33147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929812" y="8697516"/>
            <a:ext cx="2595562" cy="285750"/>
            <a:chOff x="0" y="0"/>
            <a:chExt cx="3460750" cy="3810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460750" cy="381000"/>
            </a:xfrm>
            <a:custGeom>
              <a:avLst/>
              <a:gdLst/>
              <a:ahLst/>
              <a:cxnLst/>
              <a:rect r="r" b="b" t="t" l="l"/>
              <a:pathLst>
                <a:path h="3810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6989" r="0" b="-126989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66675"/>
              <a:ext cx="34607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Prevención de Data Leakage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596438" y="9078516"/>
            <a:ext cx="7941469" cy="476250"/>
            <a:chOff x="0" y="0"/>
            <a:chExt cx="10588625" cy="6350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588626" cy="635000"/>
            </a:xfrm>
            <a:custGeom>
              <a:avLst/>
              <a:gdLst/>
              <a:ahLst/>
              <a:cxnLst/>
              <a:rect r="r" b="b" t="t" l="l"/>
              <a:pathLst>
                <a:path h="635000" w="10588626">
                  <a:moveTo>
                    <a:pt x="0" y="0"/>
                  </a:moveTo>
                  <a:lnTo>
                    <a:pt x="10588626" y="0"/>
                  </a:lnTo>
                  <a:lnTo>
                    <a:pt x="10588626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913" r="0" b="-27491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10588625" cy="68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La estandarización se aplica </a:t>
              </a: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después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del split train/test, garantizando que no haya fugas de información entre conjuntos.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872" y="499872"/>
            <a:ext cx="1679305" cy="333489"/>
          </a:xfrm>
          <a:custGeom>
            <a:avLst/>
            <a:gdLst/>
            <a:ahLst/>
            <a:cxnLst/>
            <a:rect r="r" b="b" t="t" l="l"/>
            <a:pathLst>
              <a:path h="333489" w="1679305">
                <a:moveTo>
                  <a:pt x="0" y="0"/>
                </a:moveTo>
                <a:lnTo>
                  <a:pt x="1679305" y="0"/>
                </a:lnTo>
                <a:lnTo>
                  <a:pt x="1679305" y="333489"/>
                </a:lnTo>
                <a:lnTo>
                  <a:pt x="0" y="333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111" y="503110"/>
            <a:ext cx="1723149" cy="301865"/>
            <a:chOff x="0" y="0"/>
            <a:chExt cx="2297532" cy="402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7530" cy="402484"/>
            </a:xfrm>
            <a:custGeom>
              <a:avLst/>
              <a:gdLst/>
              <a:ahLst/>
              <a:cxnLst/>
              <a:rect r="r" b="b" t="t" l="l"/>
              <a:pathLst>
                <a:path h="402484" w="2297530">
                  <a:moveTo>
                    <a:pt x="0" y="0"/>
                  </a:moveTo>
                  <a:lnTo>
                    <a:pt x="2297530" y="0"/>
                  </a:lnTo>
                  <a:lnTo>
                    <a:pt x="2297530" y="402484"/>
                  </a:lnTo>
                  <a:lnTo>
                    <a:pt x="0" y="4024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97532" cy="431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8"/>
                </a:lnSpc>
              </a:pPr>
              <a:r>
                <a:rPr lang="en-US" sz="1188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29434" y="540839"/>
            <a:ext cx="842705" cy="251555"/>
            <a:chOff x="0" y="0"/>
            <a:chExt cx="1123607" cy="335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610" cy="335406"/>
            </a:xfrm>
            <a:custGeom>
              <a:avLst/>
              <a:gdLst/>
              <a:ahLst/>
              <a:cxnLst/>
              <a:rect r="r" b="b" t="t" l="l"/>
              <a:pathLst>
                <a:path h="335406" w="1123610">
                  <a:moveTo>
                    <a:pt x="0" y="0"/>
                  </a:moveTo>
                  <a:lnTo>
                    <a:pt x="1123610" y="0"/>
                  </a:lnTo>
                  <a:lnTo>
                    <a:pt x="1123610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74" r="0" b="-152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3607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Modeling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3110" y="1031377"/>
            <a:ext cx="17508179" cy="503110"/>
            <a:chOff x="0" y="0"/>
            <a:chExt cx="23344238" cy="670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44242" cy="670812"/>
            </a:xfrm>
            <a:custGeom>
              <a:avLst/>
              <a:gdLst/>
              <a:ahLst/>
              <a:cxnLst/>
              <a:rect r="r" b="b" t="t" l="l"/>
              <a:pathLst>
                <a:path h="670812" w="23344242">
                  <a:moveTo>
                    <a:pt x="0" y="0"/>
                  </a:moveTo>
                  <a:lnTo>
                    <a:pt x="23344242" y="0"/>
                  </a:lnTo>
                  <a:lnTo>
                    <a:pt x="23344242" y="670812"/>
                  </a:lnTo>
                  <a:lnTo>
                    <a:pt x="0" y="6708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8078" r="0" b="-6280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44238" cy="65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50"/>
                </a:lnSpc>
              </a:pPr>
              <a:r>
                <a:rPr lang="en-US" sz="356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Arquitectura de los Pipelines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18922" y="1732493"/>
            <a:ext cx="8546744" cy="8056207"/>
          </a:xfrm>
          <a:custGeom>
            <a:avLst/>
            <a:gdLst/>
            <a:ahLst/>
            <a:cxnLst/>
            <a:rect r="r" b="b" t="t" l="l"/>
            <a:pathLst>
              <a:path h="8056207" w="8546744">
                <a:moveTo>
                  <a:pt x="0" y="0"/>
                </a:moveTo>
                <a:lnTo>
                  <a:pt x="8546744" y="0"/>
                </a:lnTo>
                <a:lnTo>
                  <a:pt x="8546744" y="8056207"/>
                </a:lnTo>
                <a:lnTo>
                  <a:pt x="0" y="80562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4666" y="1974704"/>
            <a:ext cx="301866" cy="301866"/>
          </a:xfrm>
          <a:custGeom>
            <a:avLst/>
            <a:gdLst/>
            <a:ahLst/>
            <a:cxnLst/>
            <a:rect r="r" b="b" t="t" l="l"/>
            <a:pathLst>
              <a:path h="301866" w="301866">
                <a:moveTo>
                  <a:pt x="0" y="0"/>
                </a:moveTo>
                <a:lnTo>
                  <a:pt x="301866" y="0"/>
                </a:lnTo>
                <a:lnTo>
                  <a:pt x="301866" y="301866"/>
                </a:lnTo>
                <a:lnTo>
                  <a:pt x="0" y="301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45194" y="1931165"/>
            <a:ext cx="2765956" cy="370561"/>
            <a:chOff x="0" y="0"/>
            <a:chExt cx="3504984" cy="4695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04990" cy="469568"/>
            </a:xfrm>
            <a:custGeom>
              <a:avLst/>
              <a:gdLst/>
              <a:ahLst/>
              <a:cxnLst/>
              <a:rect r="r" b="b" t="t" l="l"/>
              <a:pathLst>
                <a:path h="469568" w="3504990">
                  <a:moveTo>
                    <a:pt x="0" y="0"/>
                  </a:moveTo>
                  <a:lnTo>
                    <a:pt x="3504990" y="0"/>
                  </a:lnTo>
                  <a:lnTo>
                    <a:pt x="3504990" y="469568"/>
                  </a:lnTo>
                  <a:lnTo>
                    <a:pt x="0" y="4695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5441" r="0" b="-954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504984" cy="53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3"/>
                </a:lnSpc>
              </a:pPr>
              <a:r>
                <a:rPr lang="en-US" sz="198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Pipeline de Regresión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13699" y="2499731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0443" y="2653894"/>
            <a:ext cx="176089" cy="201244"/>
          </a:xfrm>
          <a:custGeom>
            <a:avLst/>
            <a:gdLst/>
            <a:ahLst/>
            <a:cxnLst/>
            <a:rect r="r" b="b" t="t" l="l"/>
            <a:pathLst>
              <a:path h="201244" w="176089">
                <a:moveTo>
                  <a:pt x="0" y="0"/>
                </a:moveTo>
                <a:lnTo>
                  <a:pt x="176089" y="0"/>
                </a:lnTo>
                <a:lnTo>
                  <a:pt x="176089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7733" y="2512304"/>
            <a:ext cx="7465057" cy="484422"/>
          </a:xfrm>
          <a:custGeom>
            <a:avLst/>
            <a:gdLst/>
            <a:ahLst/>
            <a:cxnLst/>
            <a:rect r="r" b="b" t="t" l="l"/>
            <a:pathLst>
              <a:path h="484422" w="7465057">
                <a:moveTo>
                  <a:pt x="0" y="0"/>
                </a:moveTo>
                <a:lnTo>
                  <a:pt x="7465057" y="0"/>
                </a:lnTo>
                <a:lnTo>
                  <a:pt x="7465057" y="484423"/>
                </a:lnTo>
                <a:lnTo>
                  <a:pt x="0" y="484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84166" y="2628738"/>
            <a:ext cx="7320229" cy="251555"/>
            <a:chOff x="0" y="0"/>
            <a:chExt cx="9760306" cy="335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Datos Raw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698463" y="3106693"/>
            <a:ext cx="150933" cy="201244"/>
            <a:chOff x="0" y="0"/>
            <a:chExt cx="201244" cy="2683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713699" y="3493370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2705" y="3647542"/>
            <a:ext cx="251555" cy="201244"/>
          </a:xfrm>
          <a:custGeom>
            <a:avLst/>
            <a:gdLst/>
            <a:ahLst/>
            <a:cxnLst/>
            <a:rect r="r" b="b" t="t" l="l"/>
            <a:pathLst>
              <a:path h="201244" w="251555">
                <a:moveTo>
                  <a:pt x="0" y="0"/>
                </a:moveTo>
                <a:lnTo>
                  <a:pt x="251556" y="0"/>
                </a:lnTo>
                <a:lnTo>
                  <a:pt x="251556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67733" y="3405321"/>
            <a:ext cx="7465057" cy="685667"/>
          </a:xfrm>
          <a:custGeom>
            <a:avLst/>
            <a:gdLst/>
            <a:ahLst/>
            <a:cxnLst/>
            <a:rect r="r" b="b" t="t" l="l"/>
            <a:pathLst>
              <a:path h="685667" w="7465057">
                <a:moveTo>
                  <a:pt x="0" y="0"/>
                </a:moveTo>
                <a:lnTo>
                  <a:pt x="7465057" y="0"/>
                </a:lnTo>
                <a:lnTo>
                  <a:pt x="7465057" y="685667"/>
                </a:lnTo>
                <a:lnTo>
                  <a:pt x="0" y="6856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84166" y="3521764"/>
            <a:ext cx="7320229" cy="251555"/>
            <a:chOff x="0" y="0"/>
            <a:chExt cx="9760306" cy="335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FunctionTransformer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4166" y="3773319"/>
            <a:ext cx="7307656" cy="201244"/>
            <a:chOff x="0" y="0"/>
            <a:chExt cx="9743542" cy="2683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Crea High_Discount, elimina Gender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698463" y="4188381"/>
            <a:ext cx="150933" cy="201244"/>
            <a:chOff x="0" y="0"/>
            <a:chExt cx="201244" cy="26832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713699" y="4851759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880443" y="5005930"/>
            <a:ext cx="176089" cy="201244"/>
            <a:chOff x="0" y="0"/>
            <a:chExt cx="234785" cy="2683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16764"/>
              <a:ext cx="234823" cy="234823"/>
            </a:xfrm>
            <a:custGeom>
              <a:avLst/>
              <a:gdLst/>
              <a:ahLst/>
              <a:cxnLst/>
              <a:rect r="r" b="b" t="t" l="l"/>
              <a:pathLst>
                <a:path h="234823" w="234823">
                  <a:moveTo>
                    <a:pt x="0" y="33528"/>
                  </a:moveTo>
                  <a:cubicBezTo>
                    <a:pt x="0" y="14986"/>
                    <a:pt x="14986" y="0"/>
                    <a:pt x="33528" y="0"/>
                  </a:cubicBezTo>
                  <a:lnTo>
                    <a:pt x="201295" y="0"/>
                  </a:lnTo>
                  <a:cubicBezTo>
                    <a:pt x="219837" y="0"/>
                    <a:pt x="234823" y="14986"/>
                    <a:pt x="234823" y="33528"/>
                  </a:cubicBezTo>
                  <a:lnTo>
                    <a:pt x="234823" y="201295"/>
                  </a:lnTo>
                  <a:cubicBezTo>
                    <a:pt x="234823" y="219837"/>
                    <a:pt x="219837" y="234823"/>
                    <a:pt x="201295" y="234823"/>
                  </a:cubicBezTo>
                  <a:lnTo>
                    <a:pt x="33528" y="234823"/>
                  </a:lnTo>
                  <a:cubicBezTo>
                    <a:pt x="14986" y="234823"/>
                    <a:pt x="0" y="219710"/>
                    <a:pt x="0" y="201295"/>
                  </a:cubicBezTo>
                  <a:lnTo>
                    <a:pt x="0" y="33528"/>
                  </a:lnTo>
                  <a:close/>
                  <a:moveTo>
                    <a:pt x="33528" y="67056"/>
                  </a:moveTo>
                  <a:lnTo>
                    <a:pt x="33528" y="201295"/>
                  </a:lnTo>
                  <a:lnTo>
                    <a:pt x="100584" y="201295"/>
                  </a:lnTo>
                  <a:lnTo>
                    <a:pt x="100584" y="67056"/>
                  </a:lnTo>
                  <a:lnTo>
                    <a:pt x="33528" y="67056"/>
                  </a:lnTo>
                  <a:close/>
                  <a:moveTo>
                    <a:pt x="201295" y="67056"/>
                  </a:moveTo>
                  <a:lnTo>
                    <a:pt x="134112" y="67056"/>
                  </a:lnTo>
                  <a:lnTo>
                    <a:pt x="134112" y="201295"/>
                  </a:lnTo>
                  <a:lnTo>
                    <a:pt x="201168" y="201295"/>
                  </a:lnTo>
                  <a:lnTo>
                    <a:pt x="201168" y="67056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1367733" y="4487008"/>
            <a:ext cx="7465057" cy="1239088"/>
          </a:xfrm>
          <a:custGeom>
            <a:avLst/>
            <a:gdLst/>
            <a:ahLst/>
            <a:cxnLst/>
            <a:rect r="r" b="b" t="t" l="l"/>
            <a:pathLst>
              <a:path h="1239088" w="7465057">
                <a:moveTo>
                  <a:pt x="0" y="0"/>
                </a:moveTo>
                <a:lnTo>
                  <a:pt x="7465057" y="0"/>
                </a:lnTo>
                <a:lnTo>
                  <a:pt x="7465057" y="1239089"/>
                </a:lnTo>
                <a:lnTo>
                  <a:pt x="0" y="123908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484166" y="4603442"/>
            <a:ext cx="7320229" cy="251555"/>
            <a:chOff x="0" y="0"/>
            <a:chExt cx="9760306" cy="33540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ColumnTransformer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84166" y="4905308"/>
            <a:ext cx="7307656" cy="201244"/>
            <a:chOff x="0" y="0"/>
            <a:chExt cx="9743542" cy="26832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OrdinalEncoder → Product_importance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4166" y="5156864"/>
            <a:ext cx="7307656" cy="201244"/>
            <a:chOff x="0" y="0"/>
            <a:chExt cx="9743542" cy="2683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OneHotEncoder → Warehouse_block, Mode_of_Shipment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84166" y="5408419"/>
            <a:ext cx="7307656" cy="201244"/>
            <a:chOff x="0" y="0"/>
            <a:chExt cx="9743542" cy="26832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StandardScaler → variables numéricas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698463" y="5823480"/>
            <a:ext cx="150933" cy="201244"/>
            <a:chOff x="0" y="0"/>
            <a:chExt cx="201244" cy="2683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713699" y="6122108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867861" y="6276280"/>
            <a:ext cx="201244" cy="201244"/>
          </a:xfrm>
          <a:custGeom>
            <a:avLst/>
            <a:gdLst/>
            <a:ahLst/>
            <a:cxnLst/>
            <a:rect r="r" b="b" t="t" l="l"/>
            <a:pathLst>
              <a:path h="201244" w="201244">
                <a:moveTo>
                  <a:pt x="0" y="0"/>
                </a:moveTo>
                <a:lnTo>
                  <a:pt x="201244" y="0"/>
                </a:lnTo>
                <a:lnTo>
                  <a:pt x="201244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367733" y="6134691"/>
            <a:ext cx="7465057" cy="484422"/>
          </a:xfrm>
          <a:custGeom>
            <a:avLst/>
            <a:gdLst/>
            <a:ahLst/>
            <a:cxnLst/>
            <a:rect r="r" b="b" t="t" l="l"/>
            <a:pathLst>
              <a:path h="484422" w="7465057">
                <a:moveTo>
                  <a:pt x="0" y="0"/>
                </a:moveTo>
                <a:lnTo>
                  <a:pt x="7465057" y="0"/>
                </a:lnTo>
                <a:lnTo>
                  <a:pt x="7465057" y="484422"/>
                </a:lnTo>
                <a:lnTo>
                  <a:pt x="0" y="48442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484166" y="6251124"/>
            <a:ext cx="7320229" cy="251555"/>
            <a:chOff x="0" y="0"/>
            <a:chExt cx="9760306" cy="33540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Modelo: Ridge α=1.0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698463" y="6729079"/>
            <a:ext cx="150933" cy="201244"/>
            <a:chOff x="0" y="0"/>
            <a:chExt cx="201244" cy="26832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713699" y="7027707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67861" y="7181879"/>
            <a:ext cx="201244" cy="201244"/>
          </a:xfrm>
          <a:custGeom>
            <a:avLst/>
            <a:gdLst/>
            <a:ahLst/>
            <a:cxnLst/>
            <a:rect r="r" b="b" t="t" l="l"/>
            <a:pathLst>
              <a:path h="201244" w="201244">
                <a:moveTo>
                  <a:pt x="0" y="0"/>
                </a:moveTo>
                <a:lnTo>
                  <a:pt x="201244" y="0"/>
                </a:lnTo>
                <a:lnTo>
                  <a:pt x="201244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367733" y="7040280"/>
            <a:ext cx="7465057" cy="484422"/>
          </a:xfrm>
          <a:custGeom>
            <a:avLst/>
            <a:gdLst/>
            <a:ahLst/>
            <a:cxnLst/>
            <a:rect r="r" b="b" t="t" l="l"/>
            <a:pathLst>
              <a:path h="484422" w="7465057">
                <a:moveTo>
                  <a:pt x="0" y="0"/>
                </a:moveTo>
                <a:lnTo>
                  <a:pt x="7465057" y="0"/>
                </a:lnTo>
                <a:lnTo>
                  <a:pt x="7465057" y="484422"/>
                </a:lnTo>
                <a:lnTo>
                  <a:pt x="0" y="48442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484166" y="7156723"/>
            <a:ext cx="7320229" cy="251555"/>
            <a:chOff x="0" y="0"/>
            <a:chExt cx="9760306" cy="3354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Predicción: Cost_of_the_Product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713699" y="7681751"/>
            <a:ext cx="8119100" cy="585045"/>
          </a:xfrm>
          <a:custGeom>
            <a:avLst/>
            <a:gdLst/>
            <a:ahLst/>
            <a:cxnLst/>
            <a:rect r="r" b="b" t="t" l="l"/>
            <a:pathLst>
              <a:path h="585045" w="8119100">
                <a:moveTo>
                  <a:pt x="0" y="0"/>
                </a:moveTo>
                <a:lnTo>
                  <a:pt x="8119100" y="0"/>
                </a:lnTo>
                <a:lnTo>
                  <a:pt x="8119100" y="585044"/>
                </a:lnTo>
                <a:lnTo>
                  <a:pt x="0" y="58504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2951045" y="7848495"/>
            <a:ext cx="1936966" cy="251555"/>
            <a:chOff x="0" y="0"/>
            <a:chExt cx="2582621" cy="33540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82624" cy="335406"/>
            </a:xfrm>
            <a:custGeom>
              <a:avLst/>
              <a:gdLst/>
              <a:ahLst/>
              <a:cxnLst/>
              <a:rect r="r" b="b" t="t" l="l"/>
              <a:pathLst>
                <a:path h="335406" w="2582624">
                  <a:moveTo>
                    <a:pt x="0" y="0"/>
                  </a:moveTo>
                  <a:lnTo>
                    <a:pt x="2582624" y="0"/>
                  </a:lnTo>
                  <a:lnTo>
                    <a:pt x="2582624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582621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Split:</a:t>
              </a:r>
              <a:r>
                <a:rPr lang="en-US" sz="1386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80% train (8,799)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997386" y="7848495"/>
            <a:ext cx="150933" cy="251555"/>
            <a:chOff x="0" y="0"/>
            <a:chExt cx="201244" cy="33540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1244" cy="335406"/>
            </a:xfrm>
            <a:custGeom>
              <a:avLst/>
              <a:gdLst/>
              <a:ahLst/>
              <a:cxnLst/>
              <a:rect r="r" b="b" t="t" l="l"/>
              <a:pathLst>
                <a:path h="335406" w="201244">
                  <a:moveTo>
                    <a:pt x="0" y="0"/>
                  </a:moveTo>
                  <a:lnTo>
                    <a:pt x="201244" y="0"/>
                  </a:lnTo>
                  <a:lnTo>
                    <a:pt x="201244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01244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/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267506" y="7848495"/>
            <a:ext cx="1421282" cy="251555"/>
            <a:chOff x="0" y="0"/>
            <a:chExt cx="1895043" cy="33540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95042" cy="335406"/>
            </a:xfrm>
            <a:custGeom>
              <a:avLst/>
              <a:gdLst/>
              <a:ahLst/>
              <a:cxnLst/>
              <a:rect r="r" b="b" t="t" l="l"/>
              <a:pathLst>
                <a:path h="335406" w="1895042">
                  <a:moveTo>
                    <a:pt x="0" y="0"/>
                  </a:moveTo>
                  <a:lnTo>
                    <a:pt x="1895042" y="0"/>
                  </a:lnTo>
                  <a:lnTo>
                    <a:pt x="1895042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090" r="0" b="-600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895043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20% test (2,200)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242765" y="1732493"/>
            <a:ext cx="8546744" cy="8056207"/>
          </a:xfrm>
          <a:custGeom>
            <a:avLst/>
            <a:gdLst/>
            <a:ahLst/>
            <a:cxnLst/>
            <a:rect r="r" b="b" t="t" l="l"/>
            <a:pathLst>
              <a:path h="8056207" w="8546744">
                <a:moveTo>
                  <a:pt x="0" y="0"/>
                </a:moveTo>
                <a:lnTo>
                  <a:pt x="8546744" y="0"/>
                </a:lnTo>
                <a:lnTo>
                  <a:pt x="8546744" y="8056207"/>
                </a:lnTo>
                <a:lnTo>
                  <a:pt x="0" y="8056207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497549" y="1974704"/>
            <a:ext cx="301866" cy="301866"/>
          </a:xfrm>
          <a:custGeom>
            <a:avLst/>
            <a:gdLst/>
            <a:ahLst/>
            <a:cxnLst/>
            <a:rect r="r" b="b" t="t" l="l"/>
            <a:pathLst>
              <a:path h="301866" w="301866">
                <a:moveTo>
                  <a:pt x="0" y="0"/>
                </a:moveTo>
                <a:lnTo>
                  <a:pt x="301866" y="0"/>
                </a:lnTo>
                <a:lnTo>
                  <a:pt x="301866" y="301866"/>
                </a:lnTo>
                <a:lnTo>
                  <a:pt x="0" y="30186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967303" y="1735888"/>
            <a:ext cx="3453270" cy="779497"/>
            <a:chOff x="0" y="0"/>
            <a:chExt cx="4604360" cy="10393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04365" cy="1039326"/>
            </a:xfrm>
            <a:custGeom>
              <a:avLst/>
              <a:gdLst/>
              <a:ahLst/>
              <a:cxnLst/>
              <a:rect r="r" b="b" t="t" l="l"/>
              <a:pathLst>
                <a:path h="1039326" w="4604365">
                  <a:moveTo>
                    <a:pt x="0" y="0"/>
                  </a:moveTo>
                  <a:lnTo>
                    <a:pt x="4604365" y="0"/>
                  </a:lnTo>
                  <a:lnTo>
                    <a:pt x="4604365" y="1039326"/>
                  </a:lnTo>
                  <a:lnTo>
                    <a:pt x="0" y="10393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666" r="15135" b="415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4604360" cy="1106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3"/>
                </a:lnSpc>
              </a:pPr>
              <a:r>
                <a:rPr lang="en-US" sz="198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Pipeline de Clasificación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9456582" y="2499731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9623327" y="2653894"/>
            <a:ext cx="176089" cy="201244"/>
          </a:xfrm>
          <a:custGeom>
            <a:avLst/>
            <a:gdLst/>
            <a:ahLst/>
            <a:cxnLst/>
            <a:rect r="r" b="b" t="t" l="l"/>
            <a:pathLst>
              <a:path h="201244" w="176089">
                <a:moveTo>
                  <a:pt x="0" y="0"/>
                </a:moveTo>
                <a:lnTo>
                  <a:pt x="176088" y="0"/>
                </a:lnTo>
                <a:lnTo>
                  <a:pt x="176088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0110626" y="2512304"/>
            <a:ext cx="7465057" cy="484422"/>
          </a:xfrm>
          <a:custGeom>
            <a:avLst/>
            <a:gdLst/>
            <a:ahLst/>
            <a:cxnLst/>
            <a:rect r="r" b="b" t="t" l="l"/>
            <a:pathLst>
              <a:path h="484422" w="7465057">
                <a:moveTo>
                  <a:pt x="0" y="0"/>
                </a:moveTo>
                <a:lnTo>
                  <a:pt x="7465056" y="0"/>
                </a:lnTo>
                <a:lnTo>
                  <a:pt x="7465056" y="484423"/>
                </a:lnTo>
                <a:lnTo>
                  <a:pt x="0" y="484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0227059" y="2628738"/>
            <a:ext cx="7320229" cy="251555"/>
            <a:chOff x="0" y="0"/>
            <a:chExt cx="9760306" cy="33540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Datos Raw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441356" y="3106693"/>
            <a:ext cx="150933" cy="201244"/>
            <a:chOff x="0" y="0"/>
            <a:chExt cx="201244" cy="26832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91" id="91"/>
          <p:cNvSpPr/>
          <p:nvPr/>
        </p:nvSpPr>
        <p:spPr>
          <a:xfrm flipH="false" flipV="false" rot="0">
            <a:off x="9456582" y="3493370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9585598" y="3647542"/>
            <a:ext cx="251555" cy="201244"/>
          </a:xfrm>
          <a:custGeom>
            <a:avLst/>
            <a:gdLst/>
            <a:ahLst/>
            <a:cxnLst/>
            <a:rect r="r" b="b" t="t" l="l"/>
            <a:pathLst>
              <a:path h="201244" w="251555">
                <a:moveTo>
                  <a:pt x="0" y="0"/>
                </a:moveTo>
                <a:lnTo>
                  <a:pt x="251555" y="0"/>
                </a:lnTo>
                <a:lnTo>
                  <a:pt x="251555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0110626" y="3405321"/>
            <a:ext cx="7465057" cy="685667"/>
          </a:xfrm>
          <a:custGeom>
            <a:avLst/>
            <a:gdLst/>
            <a:ahLst/>
            <a:cxnLst/>
            <a:rect r="r" b="b" t="t" l="l"/>
            <a:pathLst>
              <a:path h="685667" w="7465057">
                <a:moveTo>
                  <a:pt x="0" y="0"/>
                </a:moveTo>
                <a:lnTo>
                  <a:pt x="7465056" y="0"/>
                </a:lnTo>
                <a:lnTo>
                  <a:pt x="7465056" y="685667"/>
                </a:lnTo>
                <a:lnTo>
                  <a:pt x="0" y="6856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0227059" y="3521764"/>
            <a:ext cx="7320229" cy="251555"/>
            <a:chOff x="0" y="0"/>
            <a:chExt cx="9760306" cy="33540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FunctionTransformer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227059" y="3773319"/>
            <a:ext cx="7307656" cy="201244"/>
            <a:chOff x="0" y="0"/>
            <a:chExt cx="9743542" cy="26832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Crea High_Discount, elimina Gender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441356" y="4188381"/>
            <a:ext cx="150933" cy="201244"/>
            <a:chOff x="0" y="0"/>
            <a:chExt cx="201244" cy="26832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9456582" y="4851759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9623327" y="5005930"/>
            <a:ext cx="176089" cy="201244"/>
            <a:chOff x="0" y="0"/>
            <a:chExt cx="234785" cy="26832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16764"/>
              <a:ext cx="234823" cy="234823"/>
            </a:xfrm>
            <a:custGeom>
              <a:avLst/>
              <a:gdLst/>
              <a:ahLst/>
              <a:cxnLst/>
              <a:rect r="r" b="b" t="t" l="l"/>
              <a:pathLst>
                <a:path h="234823" w="234823">
                  <a:moveTo>
                    <a:pt x="0" y="33528"/>
                  </a:moveTo>
                  <a:cubicBezTo>
                    <a:pt x="0" y="14986"/>
                    <a:pt x="14986" y="0"/>
                    <a:pt x="33528" y="0"/>
                  </a:cubicBezTo>
                  <a:lnTo>
                    <a:pt x="201295" y="0"/>
                  </a:lnTo>
                  <a:cubicBezTo>
                    <a:pt x="219837" y="0"/>
                    <a:pt x="234823" y="14986"/>
                    <a:pt x="234823" y="33528"/>
                  </a:cubicBezTo>
                  <a:lnTo>
                    <a:pt x="234823" y="201295"/>
                  </a:lnTo>
                  <a:cubicBezTo>
                    <a:pt x="234823" y="219837"/>
                    <a:pt x="219837" y="234823"/>
                    <a:pt x="201295" y="234823"/>
                  </a:cubicBezTo>
                  <a:lnTo>
                    <a:pt x="33528" y="234823"/>
                  </a:lnTo>
                  <a:cubicBezTo>
                    <a:pt x="14986" y="234823"/>
                    <a:pt x="0" y="219710"/>
                    <a:pt x="0" y="201295"/>
                  </a:cubicBezTo>
                  <a:lnTo>
                    <a:pt x="0" y="33528"/>
                  </a:lnTo>
                  <a:close/>
                  <a:moveTo>
                    <a:pt x="33528" y="67056"/>
                  </a:moveTo>
                  <a:lnTo>
                    <a:pt x="33528" y="201295"/>
                  </a:lnTo>
                  <a:lnTo>
                    <a:pt x="100584" y="201295"/>
                  </a:lnTo>
                  <a:lnTo>
                    <a:pt x="100584" y="67056"/>
                  </a:lnTo>
                  <a:lnTo>
                    <a:pt x="33528" y="67056"/>
                  </a:lnTo>
                  <a:close/>
                  <a:moveTo>
                    <a:pt x="201295" y="67056"/>
                  </a:moveTo>
                  <a:lnTo>
                    <a:pt x="134112" y="67056"/>
                  </a:lnTo>
                  <a:lnTo>
                    <a:pt x="134112" y="201295"/>
                  </a:lnTo>
                  <a:lnTo>
                    <a:pt x="201168" y="201295"/>
                  </a:lnTo>
                  <a:lnTo>
                    <a:pt x="201168" y="67056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10110626" y="4487008"/>
            <a:ext cx="7465057" cy="1239088"/>
          </a:xfrm>
          <a:custGeom>
            <a:avLst/>
            <a:gdLst/>
            <a:ahLst/>
            <a:cxnLst/>
            <a:rect r="r" b="b" t="t" l="l"/>
            <a:pathLst>
              <a:path h="1239088" w="7465057">
                <a:moveTo>
                  <a:pt x="0" y="0"/>
                </a:moveTo>
                <a:lnTo>
                  <a:pt x="7465056" y="0"/>
                </a:lnTo>
                <a:lnTo>
                  <a:pt x="7465056" y="1239089"/>
                </a:lnTo>
                <a:lnTo>
                  <a:pt x="0" y="123908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0227059" y="4603442"/>
            <a:ext cx="7320229" cy="251555"/>
            <a:chOff x="0" y="0"/>
            <a:chExt cx="9760306" cy="33540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ColumnTransformer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227059" y="4905308"/>
            <a:ext cx="7307656" cy="201244"/>
            <a:chOff x="0" y="0"/>
            <a:chExt cx="9743542" cy="2683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OrdinalEncoder → Product_importance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227059" y="5156864"/>
            <a:ext cx="7307656" cy="201244"/>
            <a:chOff x="0" y="0"/>
            <a:chExt cx="9743542" cy="26832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OneHotEncoder → Warehouse_block, Mode_of_Shipment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227059" y="5408419"/>
            <a:ext cx="7307656" cy="201244"/>
            <a:chOff x="0" y="0"/>
            <a:chExt cx="9743542" cy="26832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• StandardScaler → variables numéricas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441356" y="5823480"/>
            <a:ext cx="150933" cy="201244"/>
            <a:chOff x="0" y="0"/>
            <a:chExt cx="201244" cy="26832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9456582" y="6210157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9610754" y="6364329"/>
            <a:ext cx="201244" cy="201244"/>
          </a:xfrm>
          <a:custGeom>
            <a:avLst/>
            <a:gdLst/>
            <a:ahLst/>
            <a:cxnLst/>
            <a:rect r="r" b="b" t="t" l="l"/>
            <a:pathLst>
              <a:path h="201244" w="201244">
                <a:moveTo>
                  <a:pt x="0" y="0"/>
                </a:moveTo>
                <a:lnTo>
                  <a:pt x="201244" y="0"/>
                </a:lnTo>
                <a:lnTo>
                  <a:pt x="201244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10110626" y="6122108"/>
            <a:ext cx="7465057" cy="685667"/>
          </a:xfrm>
          <a:custGeom>
            <a:avLst/>
            <a:gdLst/>
            <a:ahLst/>
            <a:cxnLst/>
            <a:rect r="r" b="b" t="t" l="l"/>
            <a:pathLst>
              <a:path h="685667" w="7465057">
                <a:moveTo>
                  <a:pt x="0" y="0"/>
                </a:moveTo>
                <a:lnTo>
                  <a:pt x="7465056" y="0"/>
                </a:lnTo>
                <a:lnTo>
                  <a:pt x="7465056" y="685667"/>
                </a:lnTo>
                <a:lnTo>
                  <a:pt x="0" y="685667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10227059" y="6238551"/>
            <a:ext cx="7320229" cy="251555"/>
            <a:chOff x="0" y="0"/>
            <a:chExt cx="9760306" cy="335407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 A: DecisionTree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227059" y="6490106"/>
            <a:ext cx="7307656" cy="201244"/>
            <a:chOff x="0" y="0"/>
            <a:chExt cx="9743542" cy="26832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max_depth=8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466216" y="6905168"/>
            <a:ext cx="188662" cy="251555"/>
            <a:chOff x="0" y="0"/>
            <a:chExt cx="251549" cy="33540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51554" cy="335406"/>
            </a:xfrm>
            <a:custGeom>
              <a:avLst/>
              <a:gdLst/>
              <a:ahLst/>
              <a:cxnLst/>
              <a:rect r="r" b="b" t="t" l="l"/>
              <a:pathLst>
                <a:path h="335406" w="251554">
                  <a:moveTo>
                    <a:pt x="0" y="0"/>
                  </a:moveTo>
                  <a:lnTo>
                    <a:pt x="251554" y="0"/>
                  </a:lnTo>
                  <a:lnTo>
                    <a:pt x="251554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21073" t="0" r="-121071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251549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o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9456582" y="7342146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9623327" y="7496318"/>
            <a:ext cx="176089" cy="201244"/>
          </a:xfrm>
          <a:custGeom>
            <a:avLst/>
            <a:gdLst/>
            <a:ahLst/>
            <a:cxnLst/>
            <a:rect r="r" b="b" t="t" l="l"/>
            <a:pathLst>
              <a:path h="201244" w="176089">
                <a:moveTo>
                  <a:pt x="0" y="0"/>
                </a:moveTo>
                <a:lnTo>
                  <a:pt x="176088" y="0"/>
                </a:lnTo>
                <a:lnTo>
                  <a:pt x="176088" y="201244"/>
                </a:lnTo>
                <a:lnTo>
                  <a:pt x="0" y="201244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0110626" y="7254107"/>
            <a:ext cx="7465057" cy="685667"/>
          </a:xfrm>
          <a:custGeom>
            <a:avLst/>
            <a:gdLst/>
            <a:ahLst/>
            <a:cxnLst/>
            <a:rect r="r" b="b" t="t" l="l"/>
            <a:pathLst>
              <a:path h="685667" w="7465057">
                <a:moveTo>
                  <a:pt x="0" y="0"/>
                </a:moveTo>
                <a:lnTo>
                  <a:pt x="7465056" y="0"/>
                </a:lnTo>
                <a:lnTo>
                  <a:pt x="7465056" y="685666"/>
                </a:lnTo>
                <a:lnTo>
                  <a:pt x="0" y="6856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5" id="135"/>
          <p:cNvGrpSpPr/>
          <p:nvPr/>
        </p:nvGrpSpPr>
        <p:grpSpPr>
          <a:xfrm rot="0">
            <a:off x="10227059" y="7370540"/>
            <a:ext cx="7320229" cy="251555"/>
            <a:chOff x="0" y="0"/>
            <a:chExt cx="9760306" cy="335407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 B: RandomForest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0227059" y="7622096"/>
            <a:ext cx="7307656" cy="201244"/>
            <a:chOff x="0" y="0"/>
            <a:chExt cx="9743542" cy="26832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743538" cy="268324"/>
            </a:xfrm>
            <a:custGeom>
              <a:avLst/>
              <a:gdLst/>
              <a:ahLst/>
              <a:cxnLst/>
              <a:rect r="r" b="b" t="t" l="l"/>
              <a:pathLst>
                <a:path h="268324" w="9743538">
                  <a:moveTo>
                    <a:pt x="0" y="0"/>
                  </a:moveTo>
                  <a:lnTo>
                    <a:pt x="9743538" y="0"/>
                  </a:lnTo>
                  <a:lnTo>
                    <a:pt x="9743538" y="268324"/>
                  </a:lnTo>
                  <a:lnTo>
                    <a:pt x="0" y="268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7552" r="0" b="-657552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28575"/>
              <a:ext cx="9743542" cy="29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8"/>
                </a:lnSpc>
              </a:pPr>
              <a:r>
                <a:rPr lang="en-US" sz="1188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n_estimators=100, max_depth=10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441356" y="8037157"/>
            <a:ext cx="150933" cy="201244"/>
            <a:chOff x="0" y="0"/>
            <a:chExt cx="201244" cy="26832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-127" y="0"/>
              <a:ext cx="201422" cy="268351"/>
            </a:xfrm>
            <a:custGeom>
              <a:avLst/>
              <a:gdLst/>
              <a:ahLst/>
              <a:cxnLst/>
              <a:rect r="r" b="b" t="t" l="l"/>
              <a:pathLst>
                <a:path h="268351" w="201422">
                  <a:moveTo>
                    <a:pt x="88900" y="263398"/>
                  </a:moveTo>
                  <a:cubicBezTo>
                    <a:pt x="95504" y="270002"/>
                    <a:pt x="106045" y="270002"/>
                    <a:pt x="112649" y="263398"/>
                  </a:cubicBezTo>
                  <a:lnTo>
                    <a:pt x="196469" y="179578"/>
                  </a:lnTo>
                  <a:cubicBezTo>
                    <a:pt x="203073" y="172974"/>
                    <a:pt x="203073" y="162433"/>
                    <a:pt x="196469" y="155829"/>
                  </a:cubicBezTo>
                  <a:cubicBezTo>
                    <a:pt x="189865" y="149225"/>
                    <a:pt x="179324" y="149225"/>
                    <a:pt x="172720" y="155829"/>
                  </a:cubicBezTo>
                  <a:lnTo>
                    <a:pt x="117475" y="211074"/>
                  </a:lnTo>
                  <a:lnTo>
                    <a:pt x="117475" y="16764"/>
                  </a:lnTo>
                  <a:cubicBezTo>
                    <a:pt x="117475" y="7493"/>
                    <a:pt x="109982" y="0"/>
                    <a:pt x="100711" y="0"/>
                  </a:cubicBezTo>
                  <a:cubicBezTo>
                    <a:pt x="91440" y="0"/>
                    <a:pt x="83947" y="7493"/>
                    <a:pt x="83947" y="16764"/>
                  </a:cubicBezTo>
                  <a:lnTo>
                    <a:pt x="83947" y="211074"/>
                  </a:lnTo>
                  <a:lnTo>
                    <a:pt x="28702" y="155829"/>
                  </a:lnTo>
                  <a:cubicBezTo>
                    <a:pt x="22098" y="149225"/>
                    <a:pt x="11557" y="149225"/>
                    <a:pt x="4953" y="155829"/>
                  </a:cubicBezTo>
                  <a:cubicBezTo>
                    <a:pt x="-1651" y="162433"/>
                    <a:pt x="-1651" y="172974"/>
                    <a:pt x="4953" y="179578"/>
                  </a:cubicBezTo>
                  <a:lnTo>
                    <a:pt x="88773" y="263398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43" id="143"/>
          <p:cNvSpPr/>
          <p:nvPr/>
        </p:nvSpPr>
        <p:spPr>
          <a:xfrm flipH="false" flipV="false" rot="0">
            <a:off x="9456582" y="8335794"/>
            <a:ext cx="509578" cy="509578"/>
          </a:xfrm>
          <a:custGeom>
            <a:avLst/>
            <a:gdLst/>
            <a:ahLst/>
            <a:cxnLst/>
            <a:rect r="r" b="b" t="t" l="l"/>
            <a:pathLst>
              <a:path h="509578" w="509578">
                <a:moveTo>
                  <a:pt x="0" y="0"/>
                </a:moveTo>
                <a:lnTo>
                  <a:pt x="509578" y="0"/>
                </a:lnTo>
                <a:lnTo>
                  <a:pt x="509578" y="509578"/>
                </a:lnTo>
                <a:lnTo>
                  <a:pt x="0" y="50957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9610754" y="8489956"/>
            <a:ext cx="201244" cy="201244"/>
          </a:xfrm>
          <a:custGeom>
            <a:avLst/>
            <a:gdLst/>
            <a:ahLst/>
            <a:cxnLst/>
            <a:rect r="r" b="b" t="t" l="l"/>
            <a:pathLst>
              <a:path h="201244" w="201244">
                <a:moveTo>
                  <a:pt x="0" y="0"/>
                </a:moveTo>
                <a:lnTo>
                  <a:pt x="201244" y="0"/>
                </a:lnTo>
                <a:lnTo>
                  <a:pt x="201244" y="201245"/>
                </a:lnTo>
                <a:lnTo>
                  <a:pt x="0" y="20124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10110626" y="8348367"/>
            <a:ext cx="7465057" cy="484422"/>
          </a:xfrm>
          <a:custGeom>
            <a:avLst/>
            <a:gdLst/>
            <a:ahLst/>
            <a:cxnLst/>
            <a:rect r="r" b="b" t="t" l="l"/>
            <a:pathLst>
              <a:path h="484422" w="7465057">
                <a:moveTo>
                  <a:pt x="0" y="0"/>
                </a:moveTo>
                <a:lnTo>
                  <a:pt x="7465056" y="0"/>
                </a:lnTo>
                <a:lnTo>
                  <a:pt x="7465056" y="484423"/>
                </a:lnTo>
                <a:lnTo>
                  <a:pt x="0" y="4844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6" id="146"/>
          <p:cNvGrpSpPr/>
          <p:nvPr/>
        </p:nvGrpSpPr>
        <p:grpSpPr>
          <a:xfrm rot="0">
            <a:off x="10227059" y="8464801"/>
            <a:ext cx="7320229" cy="251555"/>
            <a:chOff x="0" y="0"/>
            <a:chExt cx="9760306" cy="33540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760308" cy="335406"/>
            </a:xfrm>
            <a:custGeom>
              <a:avLst/>
              <a:gdLst/>
              <a:ahLst/>
              <a:cxnLst/>
              <a:rect r="r" b="b" t="t" l="l"/>
              <a:pathLst>
                <a:path h="335406" w="9760308">
                  <a:moveTo>
                    <a:pt x="0" y="0"/>
                  </a:moveTo>
                  <a:lnTo>
                    <a:pt x="9760308" y="0"/>
                  </a:lnTo>
                  <a:lnTo>
                    <a:pt x="9760308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7013" r="0" b="-517014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9760306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Predicción: Reached.on.Time_Y.N</a:t>
              </a:r>
            </a:p>
          </p:txBody>
        </p:sp>
      </p:grpSp>
      <p:sp>
        <p:nvSpPr>
          <p:cNvPr name="Freeform 149" id="149"/>
          <p:cNvSpPr/>
          <p:nvPr/>
        </p:nvSpPr>
        <p:spPr>
          <a:xfrm flipH="false" flipV="false" rot="0">
            <a:off x="9456582" y="8989828"/>
            <a:ext cx="8119100" cy="585045"/>
          </a:xfrm>
          <a:custGeom>
            <a:avLst/>
            <a:gdLst/>
            <a:ahLst/>
            <a:cxnLst/>
            <a:rect r="r" b="b" t="t" l="l"/>
            <a:pathLst>
              <a:path h="585045" w="8119100">
                <a:moveTo>
                  <a:pt x="0" y="0"/>
                </a:moveTo>
                <a:lnTo>
                  <a:pt x="8119100" y="0"/>
                </a:lnTo>
                <a:lnTo>
                  <a:pt x="8119100" y="585045"/>
                </a:lnTo>
                <a:lnTo>
                  <a:pt x="0" y="585045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0" id="150"/>
          <p:cNvGrpSpPr/>
          <p:nvPr/>
        </p:nvGrpSpPr>
        <p:grpSpPr>
          <a:xfrm rot="0">
            <a:off x="11693938" y="9156573"/>
            <a:ext cx="1936966" cy="251555"/>
            <a:chOff x="0" y="0"/>
            <a:chExt cx="2582621" cy="33540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582624" cy="335406"/>
            </a:xfrm>
            <a:custGeom>
              <a:avLst/>
              <a:gdLst/>
              <a:ahLst/>
              <a:cxnLst/>
              <a:rect r="r" b="b" t="t" l="l"/>
              <a:pathLst>
                <a:path h="335406" w="2582624">
                  <a:moveTo>
                    <a:pt x="0" y="0"/>
                  </a:moveTo>
                  <a:lnTo>
                    <a:pt x="2582624" y="0"/>
                  </a:lnTo>
                  <a:lnTo>
                    <a:pt x="2582624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47625"/>
              <a:ext cx="2582621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Split:</a:t>
              </a:r>
              <a:r>
                <a:rPr lang="en-US" sz="1386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80% train (8,799)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3740270" y="9156573"/>
            <a:ext cx="150933" cy="251555"/>
            <a:chOff x="0" y="0"/>
            <a:chExt cx="201244" cy="335407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01244" cy="335406"/>
            </a:xfrm>
            <a:custGeom>
              <a:avLst/>
              <a:gdLst/>
              <a:ahLst/>
              <a:cxnLst/>
              <a:rect r="r" b="b" t="t" l="l"/>
              <a:pathLst>
                <a:path h="335406" w="201244">
                  <a:moveTo>
                    <a:pt x="0" y="0"/>
                  </a:moveTo>
                  <a:lnTo>
                    <a:pt x="201244" y="0"/>
                  </a:lnTo>
                  <a:lnTo>
                    <a:pt x="201244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47625"/>
              <a:ext cx="201244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/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4010399" y="9156573"/>
            <a:ext cx="1421282" cy="251555"/>
            <a:chOff x="0" y="0"/>
            <a:chExt cx="1895043" cy="335407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895042" cy="335406"/>
            </a:xfrm>
            <a:custGeom>
              <a:avLst/>
              <a:gdLst/>
              <a:ahLst/>
              <a:cxnLst/>
              <a:rect r="r" b="b" t="t" l="l"/>
              <a:pathLst>
                <a:path h="335406" w="1895042">
                  <a:moveTo>
                    <a:pt x="0" y="0"/>
                  </a:moveTo>
                  <a:lnTo>
                    <a:pt x="1895042" y="0"/>
                  </a:lnTo>
                  <a:lnTo>
                    <a:pt x="1895042" y="335406"/>
                  </a:lnTo>
                  <a:lnTo>
                    <a:pt x="0" y="3354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090" r="0" b="-6009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47625"/>
              <a:ext cx="1895043" cy="383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5"/>
                </a:lnSpc>
              </a:pPr>
              <a:r>
                <a:rPr lang="en-US" sz="1386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20% test (2,200)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5076" y="511969"/>
            <a:ext cx="797719" cy="238125"/>
            <a:chOff x="0" y="0"/>
            <a:chExt cx="1063625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63626">
                  <a:moveTo>
                    <a:pt x="0" y="0"/>
                  </a:moveTo>
                  <a:lnTo>
                    <a:pt x="1063626" y="0"/>
                  </a:lnTo>
                  <a:lnTo>
                    <a:pt x="1063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74" r="0" b="-152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63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Modeling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76312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Modelos de Regresión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42963" y="1671638"/>
            <a:ext cx="5662612" cy="4579144"/>
          </a:xfrm>
          <a:custGeom>
            <a:avLst/>
            <a:gdLst/>
            <a:ahLst/>
            <a:cxnLst/>
            <a:rect r="r" b="b" t="t" l="l"/>
            <a:pathLst>
              <a:path h="4579144" w="5662612">
                <a:moveTo>
                  <a:pt x="0" y="0"/>
                </a:moveTo>
                <a:lnTo>
                  <a:pt x="5662613" y="0"/>
                </a:lnTo>
                <a:lnTo>
                  <a:pt x="5662613" y="4579143"/>
                </a:lnTo>
                <a:lnTo>
                  <a:pt x="0" y="457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48941" y="1901428"/>
            <a:ext cx="571500" cy="571500"/>
            <a:chOff x="0" y="0"/>
            <a:chExt cx="762000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27000" y="0"/>
                  </a:moveTo>
                  <a:lnTo>
                    <a:pt x="635000" y="0"/>
                  </a:lnTo>
                  <a:cubicBezTo>
                    <a:pt x="705104" y="0"/>
                    <a:pt x="762000" y="56896"/>
                    <a:pt x="762000" y="127000"/>
                  </a:cubicBezTo>
                  <a:lnTo>
                    <a:pt x="762000" y="635000"/>
                  </a:lnTo>
                  <a:cubicBezTo>
                    <a:pt x="762000" y="705104"/>
                    <a:pt x="705104" y="762000"/>
                    <a:pt x="635000" y="762000"/>
                  </a:cubicBezTo>
                  <a:lnTo>
                    <a:pt x="127000" y="762000"/>
                  </a:lnTo>
                  <a:cubicBezTo>
                    <a:pt x="56896" y="762000"/>
                    <a:pt x="0" y="705104"/>
                    <a:pt x="0" y="635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ED957">
                <a:alpha val="392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3316" y="1877616"/>
            <a:ext cx="702469" cy="333375"/>
            <a:chOff x="0" y="0"/>
            <a:chExt cx="936625" cy="44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6626" cy="444500"/>
            </a:xfrm>
            <a:custGeom>
              <a:avLst/>
              <a:gdLst/>
              <a:ahLst/>
              <a:cxnLst/>
              <a:rect r="r" b="b" t="t" l="l"/>
              <a:pathLst>
                <a:path h="444500" w="936626">
                  <a:moveTo>
                    <a:pt x="0" y="0"/>
                  </a:moveTo>
                  <a:lnTo>
                    <a:pt x="936626" y="0"/>
                  </a:lnTo>
                  <a:lnTo>
                    <a:pt x="9366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889" t="0" r="-1088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93662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Ridge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3316" y="2276475"/>
            <a:ext cx="663864" cy="190500"/>
            <a:chOff x="0" y="0"/>
            <a:chExt cx="885152" cy="25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5156" cy="254000"/>
            </a:xfrm>
            <a:custGeom>
              <a:avLst/>
              <a:gdLst/>
              <a:ahLst/>
              <a:cxnLst/>
              <a:rect r="r" b="b" t="t" l="l"/>
              <a:pathLst>
                <a:path h="254000" w="885156">
                  <a:moveTo>
                    <a:pt x="0" y="0"/>
                  </a:moveTo>
                  <a:lnTo>
                    <a:pt x="885156" y="0"/>
                  </a:lnTo>
                  <a:lnTo>
                    <a:pt x="88515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902" r="0" b="-179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85152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L2, α=1.0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45369" y="2636044"/>
            <a:ext cx="5257800" cy="792956"/>
          </a:xfrm>
          <a:custGeom>
            <a:avLst/>
            <a:gdLst/>
            <a:ahLst/>
            <a:cxnLst/>
            <a:rect r="r" b="b" t="t" l="l"/>
            <a:pathLst>
              <a:path h="792956" w="5257800">
                <a:moveTo>
                  <a:pt x="0" y="0"/>
                </a:moveTo>
                <a:lnTo>
                  <a:pt x="5257800" y="0"/>
                </a:lnTo>
                <a:lnTo>
                  <a:pt x="5257800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03722" y="2794397"/>
            <a:ext cx="5012531" cy="190500"/>
            <a:chOff x="0" y="0"/>
            <a:chExt cx="6683375" cy="25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83376" cy="254000"/>
            </a:xfrm>
            <a:custGeom>
              <a:avLst/>
              <a:gdLst/>
              <a:ahLst/>
              <a:cxnLst/>
              <a:rect r="r" b="b" t="t" l="l"/>
              <a:pathLst>
                <a:path h="254000" w="6683376">
                  <a:moveTo>
                    <a:pt x="0" y="0"/>
                  </a:moveTo>
                  <a:lnTo>
                    <a:pt x="6683376" y="0"/>
                  </a:lnTo>
                  <a:lnTo>
                    <a:pt x="66833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2700" r="0" b="-4627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6833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Penalización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3722" y="3032522"/>
            <a:ext cx="5024438" cy="238125"/>
            <a:chOff x="0" y="0"/>
            <a:chExt cx="6699250" cy="317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99250" cy="317500"/>
            </a:xfrm>
            <a:custGeom>
              <a:avLst/>
              <a:gdLst/>
              <a:ahLst/>
              <a:cxnLst/>
              <a:rect r="r" b="b" t="t" l="l"/>
              <a:pathLst>
                <a:path h="31750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134" r="0" b="-3611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6992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L2 sobre coeficientes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745369" y="3517106"/>
            <a:ext cx="5257800" cy="792956"/>
          </a:xfrm>
          <a:custGeom>
            <a:avLst/>
            <a:gdLst/>
            <a:ahLst/>
            <a:cxnLst/>
            <a:rect r="r" b="b" t="t" l="l"/>
            <a:pathLst>
              <a:path h="792956" w="5257800">
                <a:moveTo>
                  <a:pt x="0" y="0"/>
                </a:moveTo>
                <a:lnTo>
                  <a:pt x="5257800" y="0"/>
                </a:lnTo>
                <a:lnTo>
                  <a:pt x="5257800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03722" y="3675459"/>
            <a:ext cx="5012531" cy="190500"/>
            <a:chOff x="0" y="0"/>
            <a:chExt cx="6683375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83376" cy="254000"/>
            </a:xfrm>
            <a:custGeom>
              <a:avLst/>
              <a:gdLst/>
              <a:ahLst/>
              <a:cxnLst/>
              <a:rect r="r" b="b" t="t" l="l"/>
              <a:pathLst>
                <a:path h="254000" w="6683376">
                  <a:moveTo>
                    <a:pt x="0" y="0"/>
                  </a:moveTo>
                  <a:lnTo>
                    <a:pt x="6683376" y="0"/>
                  </a:lnTo>
                  <a:lnTo>
                    <a:pt x="66833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2700" r="0" b="-4627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6833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Efecto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3722" y="3913584"/>
            <a:ext cx="5024438" cy="238125"/>
            <a:chOff x="0" y="0"/>
            <a:chExt cx="669925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99250" cy="317500"/>
            </a:xfrm>
            <a:custGeom>
              <a:avLst/>
              <a:gdLst/>
              <a:ahLst/>
              <a:cxnLst/>
              <a:rect r="r" b="b" t="t" l="l"/>
              <a:pathLst>
                <a:path h="31750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134" r="0" b="-3611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6992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Reduce varianza contrayendo coeficientes </a:t>
              </a: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sin anularlos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745369" y="4398169"/>
            <a:ext cx="5257800" cy="792956"/>
          </a:xfrm>
          <a:custGeom>
            <a:avLst/>
            <a:gdLst/>
            <a:ahLst/>
            <a:cxnLst/>
            <a:rect r="r" b="b" t="t" l="l"/>
            <a:pathLst>
              <a:path h="792956" w="5257800">
                <a:moveTo>
                  <a:pt x="0" y="0"/>
                </a:moveTo>
                <a:lnTo>
                  <a:pt x="5257800" y="0"/>
                </a:lnTo>
                <a:lnTo>
                  <a:pt x="5257800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03722" y="4556522"/>
            <a:ext cx="5012531" cy="190500"/>
            <a:chOff x="0" y="0"/>
            <a:chExt cx="6683375" cy="25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83376" cy="254000"/>
            </a:xfrm>
            <a:custGeom>
              <a:avLst/>
              <a:gdLst/>
              <a:ahLst/>
              <a:cxnLst/>
              <a:rect r="r" b="b" t="t" l="l"/>
              <a:pathLst>
                <a:path h="254000" w="6683376">
                  <a:moveTo>
                    <a:pt x="0" y="0"/>
                  </a:moveTo>
                  <a:lnTo>
                    <a:pt x="6683376" y="0"/>
                  </a:lnTo>
                  <a:lnTo>
                    <a:pt x="66833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2700" r="0" b="-4627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6833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Ventaja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3722" y="4794647"/>
            <a:ext cx="5024438" cy="348853"/>
            <a:chOff x="0" y="0"/>
            <a:chExt cx="6699250" cy="4651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99250" cy="465138"/>
            </a:xfrm>
            <a:custGeom>
              <a:avLst/>
              <a:gdLst/>
              <a:ahLst/>
              <a:cxnLst/>
              <a:rect r="r" b="b" t="t" l="l"/>
              <a:pathLst>
                <a:path h="465138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465138"/>
                  </a:lnTo>
                  <a:lnTo>
                    <a:pt x="0" y="4651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508" r="0" b="-2147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699250" cy="512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Mitiga overfitting ante multicolinealidad de dummies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8941" y="5330428"/>
            <a:ext cx="5250656" cy="476250"/>
            <a:chOff x="0" y="0"/>
            <a:chExt cx="7000875" cy="635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00875" cy="635000"/>
            </a:xfrm>
            <a:custGeom>
              <a:avLst/>
              <a:gdLst/>
              <a:ahLst/>
              <a:cxnLst/>
              <a:rect r="r" b="b" t="t" l="l"/>
              <a:pathLst>
                <a:path h="635000" w="7000875">
                  <a:moveTo>
                    <a:pt x="127000" y="0"/>
                  </a:moveTo>
                  <a:lnTo>
                    <a:pt x="6873875" y="0"/>
                  </a:lnTo>
                  <a:cubicBezTo>
                    <a:pt x="6943979" y="0"/>
                    <a:pt x="7000875" y="56896"/>
                    <a:pt x="7000875" y="127000"/>
                  </a:cubicBezTo>
                  <a:lnTo>
                    <a:pt x="7000875" y="508000"/>
                  </a:lnTo>
                  <a:cubicBezTo>
                    <a:pt x="7000875" y="578104"/>
                    <a:pt x="6943979" y="635000"/>
                    <a:pt x="6873875" y="635000"/>
                  </a:cubicBezTo>
                  <a:lnTo>
                    <a:pt x="127000" y="635000"/>
                  </a:lnTo>
                  <a:cubicBezTo>
                    <a:pt x="56896" y="635000"/>
                    <a:pt x="0" y="578104"/>
                    <a:pt x="0" y="508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830116" y="5520928"/>
            <a:ext cx="1084212" cy="154781"/>
            <a:chOff x="0" y="0"/>
            <a:chExt cx="1445616" cy="2063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45618" cy="206376"/>
            </a:xfrm>
            <a:custGeom>
              <a:avLst/>
              <a:gdLst/>
              <a:ahLst/>
              <a:cxnLst/>
              <a:rect r="r" b="b" t="t" l="l"/>
              <a:pathLst>
                <a:path h="206376" w="1445618">
                  <a:moveTo>
                    <a:pt x="0" y="0"/>
                  </a:moveTo>
                  <a:lnTo>
                    <a:pt x="1445618" y="0"/>
                  </a:lnTo>
                  <a:lnTo>
                    <a:pt x="1445618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488" r="0" b="-864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445616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Ridge(alpha=1.0)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51394" y="1658945"/>
            <a:ext cx="10607906" cy="7842099"/>
            <a:chOff x="0" y="0"/>
            <a:chExt cx="2793852" cy="206540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93852" cy="2065409"/>
            </a:xfrm>
            <a:custGeom>
              <a:avLst/>
              <a:gdLst/>
              <a:ahLst/>
              <a:cxnLst/>
              <a:rect r="r" b="b" t="t" l="l"/>
              <a:pathLst>
                <a:path h="2065409" w="2793852">
                  <a:moveTo>
                    <a:pt x="20435" y="0"/>
                  </a:moveTo>
                  <a:lnTo>
                    <a:pt x="2773417" y="0"/>
                  </a:lnTo>
                  <a:cubicBezTo>
                    <a:pt x="2778836" y="0"/>
                    <a:pt x="2784034" y="2153"/>
                    <a:pt x="2787866" y="5985"/>
                  </a:cubicBezTo>
                  <a:cubicBezTo>
                    <a:pt x="2791699" y="9818"/>
                    <a:pt x="2793852" y="15015"/>
                    <a:pt x="2793852" y="20435"/>
                  </a:cubicBezTo>
                  <a:lnTo>
                    <a:pt x="2793852" y="2044974"/>
                  </a:lnTo>
                  <a:cubicBezTo>
                    <a:pt x="2793852" y="2050393"/>
                    <a:pt x="2791699" y="2055591"/>
                    <a:pt x="2787866" y="2059424"/>
                  </a:cubicBezTo>
                  <a:cubicBezTo>
                    <a:pt x="2784034" y="2063256"/>
                    <a:pt x="2778836" y="2065409"/>
                    <a:pt x="2773417" y="2065409"/>
                  </a:cubicBezTo>
                  <a:lnTo>
                    <a:pt x="20435" y="2065409"/>
                  </a:lnTo>
                  <a:cubicBezTo>
                    <a:pt x="15015" y="2065409"/>
                    <a:pt x="9818" y="2063256"/>
                    <a:pt x="5985" y="2059424"/>
                  </a:cubicBezTo>
                  <a:cubicBezTo>
                    <a:pt x="2153" y="2055591"/>
                    <a:pt x="0" y="2050393"/>
                    <a:pt x="0" y="2044974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1A1F2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793852" cy="2093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7016751" y="1959698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7362145" y="1901428"/>
            <a:ext cx="5972937" cy="344019"/>
            <a:chOff x="0" y="0"/>
            <a:chExt cx="7963916" cy="4586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63916" cy="458693"/>
            </a:xfrm>
            <a:custGeom>
              <a:avLst/>
              <a:gdLst/>
              <a:ahLst/>
              <a:cxnLst/>
              <a:rect r="r" b="b" t="t" l="l"/>
              <a:pathLst>
                <a:path h="458693" w="7963916">
                  <a:moveTo>
                    <a:pt x="0" y="0"/>
                  </a:moveTo>
                  <a:lnTo>
                    <a:pt x="7963916" y="0"/>
                  </a:lnTo>
                  <a:lnTo>
                    <a:pt x="7963916" y="458693"/>
                  </a:lnTo>
                  <a:lnTo>
                    <a:pt x="0" y="4586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3102" r="7906" b="-2600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7963916" cy="53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Coeficientes Ridge — Top 15 Variables Más Influyentes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7016751" y="2466975"/>
            <a:ext cx="9886825" cy="6006246"/>
          </a:xfrm>
          <a:custGeom>
            <a:avLst/>
            <a:gdLst/>
            <a:ahLst/>
            <a:cxnLst/>
            <a:rect r="r" b="b" t="t" l="l"/>
            <a:pathLst>
              <a:path h="6006246" w="9886825">
                <a:moveTo>
                  <a:pt x="0" y="0"/>
                </a:moveTo>
                <a:lnTo>
                  <a:pt x="9886825" y="0"/>
                </a:lnTo>
                <a:lnTo>
                  <a:pt x="9886825" y="6006246"/>
                </a:lnTo>
                <a:lnTo>
                  <a:pt x="0" y="60062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5076" y="511969"/>
            <a:ext cx="797719" cy="238125"/>
            <a:chOff x="0" y="0"/>
            <a:chExt cx="1063625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63626">
                  <a:moveTo>
                    <a:pt x="0" y="0"/>
                  </a:moveTo>
                  <a:lnTo>
                    <a:pt x="1063626" y="0"/>
                  </a:lnTo>
                  <a:lnTo>
                    <a:pt x="1063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74" r="0" b="-152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63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Modeling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2241298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Modelos de Clasificación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72678" y="2904476"/>
            <a:ext cx="8579644" cy="4424362"/>
          </a:xfrm>
          <a:custGeom>
            <a:avLst/>
            <a:gdLst/>
            <a:ahLst/>
            <a:cxnLst/>
            <a:rect r="r" b="b" t="t" l="l"/>
            <a:pathLst>
              <a:path h="4424362" w="8579644">
                <a:moveTo>
                  <a:pt x="0" y="0"/>
                </a:moveTo>
                <a:lnTo>
                  <a:pt x="8579644" y="0"/>
                </a:lnTo>
                <a:lnTo>
                  <a:pt x="8579644" y="4424363"/>
                </a:lnTo>
                <a:lnTo>
                  <a:pt x="0" y="442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4375" y="327714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8719" y="3110454"/>
            <a:ext cx="2047875" cy="333375"/>
            <a:chOff x="0" y="0"/>
            <a:chExt cx="2730500" cy="444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30500" cy="444500"/>
            </a:xfrm>
            <a:custGeom>
              <a:avLst/>
              <a:gdLst/>
              <a:ahLst/>
              <a:cxnLst/>
              <a:rect r="r" b="b" t="t" l="l"/>
              <a:pathLst>
                <a:path h="444500" w="2730500">
                  <a:moveTo>
                    <a:pt x="0" y="0"/>
                  </a:moveTo>
                  <a:lnTo>
                    <a:pt x="2730500" y="0"/>
                  </a:lnTo>
                  <a:lnTo>
                    <a:pt x="2730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730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Árbol de Decisión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8719" y="3485501"/>
            <a:ext cx="1783147" cy="220266"/>
            <a:chOff x="0" y="0"/>
            <a:chExt cx="2377529" cy="293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7530" cy="293688"/>
            </a:xfrm>
            <a:custGeom>
              <a:avLst/>
              <a:gdLst/>
              <a:ahLst/>
              <a:cxnLst/>
              <a:rect r="r" b="b" t="t" l="l"/>
              <a:pathLst>
                <a:path h="293688" w="2377530">
                  <a:moveTo>
                    <a:pt x="0" y="0"/>
                  </a:moveTo>
                  <a:lnTo>
                    <a:pt x="2377530" y="0"/>
                  </a:lnTo>
                  <a:lnTo>
                    <a:pt x="2377530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739" r="0" b="-1077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377529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D4FF"/>
                  </a:solidFill>
                  <a:latin typeface="Arimo"/>
                  <a:ea typeface="Arimo"/>
                  <a:cs typeface="Arimo"/>
                  <a:sym typeface="Arimo"/>
                </a:rPr>
                <a:t>DecisionTreeClassifier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75084" y="3916508"/>
            <a:ext cx="8174831" cy="1257300"/>
          </a:xfrm>
          <a:custGeom>
            <a:avLst/>
            <a:gdLst/>
            <a:ahLst/>
            <a:cxnLst/>
            <a:rect r="r" b="b" t="t" l="l"/>
            <a:pathLst>
              <a:path h="1257300" w="8174831">
                <a:moveTo>
                  <a:pt x="0" y="0"/>
                </a:moveTo>
                <a:lnTo>
                  <a:pt x="8174832" y="0"/>
                </a:lnTo>
                <a:lnTo>
                  <a:pt x="8174832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33438" y="4080814"/>
            <a:ext cx="760143" cy="220266"/>
            <a:chOff x="0" y="0"/>
            <a:chExt cx="1013524" cy="293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3520" cy="293688"/>
            </a:xfrm>
            <a:custGeom>
              <a:avLst/>
              <a:gdLst/>
              <a:ahLst/>
              <a:cxnLst/>
              <a:rect r="r" b="b" t="t" l="l"/>
              <a:pathLst>
                <a:path h="293688" w="1013520">
                  <a:moveTo>
                    <a:pt x="0" y="0"/>
                  </a:moveTo>
                  <a:lnTo>
                    <a:pt x="1013520" y="0"/>
                  </a:lnTo>
                  <a:lnTo>
                    <a:pt x="1013520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43" r="0" b="-172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13524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criterion: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53664" y="4110579"/>
            <a:ext cx="399974" cy="184547"/>
            <a:chOff x="0" y="0"/>
            <a:chExt cx="533298" cy="2460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300" cy="246062"/>
            </a:xfrm>
            <a:custGeom>
              <a:avLst/>
              <a:gdLst/>
              <a:ahLst/>
              <a:cxnLst/>
              <a:rect r="r" b="b" t="t" l="l"/>
              <a:pathLst>
                <a:path h="246062" w="533300">
                  <a:moveTo>
                    <a:pt x="0" y="0"/>
                  </a:moveTo>
                  <a:lnTo>
                    <a:pt x="533300" y="0"/>
                  </a:lnTo>
                  <a:lnTo>
                    <a:pt x="533300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198" t="0" r="-919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33298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'gini'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10125" y="4080814"/>
            <a:ext cx="961987" cy="220266"/>
            <a:chOff x="0" y="0"/>
            <a:chExt cx="1282649" cy="293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2650" cy="293688"/>
            </a:xfrm>
            <a:custGeom>
              <a:avLst/>
              <a:gdLst/>
              <a:ahLst/>
              <a:cxnLst/>
              <a:rect r="r" b="b" t="t" l="l"/>
              <a:pathLst>
                <a:path h="293688" w="1282650">
                  <a:moveTo>
                    <a:pt x="0" y="0"/>
                  </a:moveTo>
                  <a:lnTo>
                    <a:pt x="1282650" y="0"/>
                  </a:lnTo>
                  <a:lnTo>
                    <a:pt x="1282650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098" r="0" b="-350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82649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max_depth: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32205" y="4110579"/>
            <a:ext cx="219603" cy="229791"/>
            <a:chOff x="0" y="0"/>
            <a:chExt cx="235153" cy="2460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148" cy="246062"/>
            </a:xfrm>
            <a:custGeom>
              <a:avLst/>
              <a:gdLst/>
              <a:ahLst/>
              <a:cxnLst/>
              <a:rect r="r" b="b" t="t" l="l"/>
              <a:pathLst>
                <a:path h="246062" w="235148">
                  <a:moveTo>
                    <a:pt x="0" y="0"/>
                  </a:moveTo>
                  <a:lnTo>
                    <a:pt x="235148" y="0"/>
                  </a:lnTo>
                  <a:lnTo>
                    <a:pt x="235148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4257" t="0" r="-8425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35153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33438" y="4426095"/>
            <a:ext cx="1500930" cy="220266"/>
            <a:chOff x="0" y="0"/>
            <a:chExt cx="2001241" cy="293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01242" cy="293688"/>
            </a:xfrm>
            <a:custGeom>
              <a:avLst/>
              <a:gdLst/>
              <a:ahLst/>
              <a:cxnLst/>
              <a:rect r="r" b="b" t="t" l="l"/>
              <a:pathLst>
                <a:path h="293688" w="2001242">
                  <a:moveTo>
                    <a:pt x="0" y="0"/>
                  </a:moveTo>
                  <a:lnTo>
                    <a:pt x="2001242" y="0"/>
                  </a:lnTo>
                  <a:lnTo>
                    <a:pt x="2001242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774" r="0" b="-827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01241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min_samples_split: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94461" y="4418394"/>
            <a:ext cx="294077" cy="222013"/>
            <a:chOff x="0" y="0"/>
            <a:chExt cx="325933" cy="2460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934" cy="246062"/>
            </a:xfrm>
            <a:custGeom>
              <a:avLst/>
              <a:gdLst/>
              <a:ahLst/>
              <a:cxnLst/>
              <a:rect r="r" b="b" t="t" l="l"/>
              <a:pathLst>
                <a:path h="246062" w="325934">
                  <a:moveTo>
                    <a:pt x="0" y="0"/>
                  </a:moveTo>
                  <a:lnTo>
                    <a:pt x="325934" y="0"/>
                  </a:lnTo>
                  <a:lnTo>
                    <a:pt x="325934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862" t="0" r="-4686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933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</a:t>
              </a: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10125" y="4426095"/>
            <a:ext cx="1464193" cy="220266"/>
            <a:chOff x="0" y="0"/>
            <a:chExt cx="1952257" cy="293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2252" cy="293688"/>
            </a:xfrm>
            <a:custGeom>
              <a:avLst/>
              <a:gdLst/>
              <a:ahLst/>
              <a:cxnLst/>
              <a:rect r="r" b="b" t="t" l="l"/>
              <a:pathLst>
                <a:path h="293688" w="1952252">
                  <a:moveTo>
                    <a:pt x="0" y="0"/>
                  </a:moveTo>
                  <a:lnTo>
                    <a:pt x="1952252" y="0"/>
                  </a:lnTo>
                  <a:lnTo>
                    <a:pt x="1952252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524" r="0" b="-795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952257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min_samples_leaf: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34401" y="4455861"/>
            <a:ext cx="244450" cy="184547"/>
            <a:chOff x="0" y="0"/>
            <a:chExt cx="325933" cy="2460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5934" cy="246062"/>
            </a:xfrm>
            <a:custGeom>
              <a:avLst/>
              <a:gdLst/>
              <a:ahLst/>
              <a:cxnLst/>
              <a:rect r="r" b="b" t="t" l="l"/>
              <a:pathLst>
                <a:path h="246062" w="325934">
                  <a:moveTo>
                    <a:pt x="0" y="0"/>
                  </a:moveTo>
                  <a:lnTo>
                    <a:pt x="325934" y="0"/>
                  </a:lnTo>
                  <a:lnTo>
                    <a:pt x="325934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862" t="0" r="-4686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25933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33438" y="4771376"/>
            <a:ext cx="1166070" cy="220266"/>
            <a:chOff x="0" y="0"/>
            <a:chExt cx="1554759" cy="2936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4758" cy="293688"/>
            </a:xfrm>
            <a:custGeom>
              <a:avLst/>
              <a:gdLst/>
              <a:ahLst/>
              <a:cxnLst/>
              <a:rect r="r" b="b" t="t" l="l"/>
              <a:pathLst>
                <a:path h="293688" w="1554758">
                  <a:moveTo>
                    <a:pt x="0" y="0"/>
                  </a:moveTo>
                  <a:lnTo>
                    <a:pt x="1554758" y="0"/>
                  </a:lnTo>
                  <a:lnTo>
                    <a:pt x="1554758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152" r="0" b="-5315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554759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random_state: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59591" y="4801142"/>
            <a:ext cx="252917" cy="184547"/>
            <a:chOff x="0" y="0"/>
            <a:chExt cx="337223" cy="2460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220" cy="246062"/>
            </a:xfrm>
            <a:custGeom>
              <a:avLst/>
              <a:gdLst/>
              <a:ahLst/>
              <a:cxnLst/>
              <a:rect r="r" b="b" t="t" l="l"/>
              <a:pathLst>
                <a:path h="246062" w="337220">
                  <a:moveTo>
                    <a:pt x="0" y="0"/>
                  </a:moveTo>
                  <a:lnTo>
                    <a:pt x="337220" y="0"/>
                  </a:lnTo>
                  <a:lnTo>
                    <a:pt x="337220" y="246062"/>
                  </a:lnTo>
                  <a:lnTo>
                    <a:pt x="0" y="246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3620" t="0" r="-4362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37223" cy="274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42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675084" y="5261914"/>
            <a:ext cx="8174831" cy="888206"/>
          </a:xfrm>
          <a:custGeom>
            <a:avLst/>
            <a:gdLst/>
            <a:ahLst/>
            <a:cxnLst/>
            <a:rect r="r" b="b" t="t" l="l"/>
            <a:pathLst>
              <a:path h="888206" w="8174831">
                <a:moveTo>
                  <a:pt x="0" y="0"/>
                </a:moveTo>
                <a:lnTo>
                  <a:pt x="8174832" y="0"/>
                </a:lnTo>
                <a:lnTo>
                  <a:pt x="8174832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857250" y="5467892"/>
            <a:ext cx="190500" cy="190500"/>
            <a:chOff x="0" y="0"/>
            <a:chExt cx="254000" cy="254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254000"/>
                  </a:moveTo>
                  <a:cubicBezTo>
                    <a:pt x="197104" y="254000"/>
                    <a:pt x="254000" y="197104"/>
                    <a:pt x="254000" y="127000"/>
                  </a:cubicBezTo>
                  <a:cubicBezTo>
                    <a:pt x="254000" y="56896"/>
                    <a:pt x="197104" y="0"/>
                    <a:pt x="127000" y="0"/>
                  </a:cubicBezTo>
                  <a:cubicBezTo>
                    <a:pt x="56896" y="0"/>
                    <a:pt x="0" y="56896"/>
                    <a:pt x="0" y="127000"/>
                  </a:cubicBezTo>
                  <a:cubicBezTo>
                    <a:pt x="0" y="197104"/>
                    <a:pt x="56896" y="254000"/>
                    <a:pt x="127000" y="254000"/>
                  </a:cubicBezTo>
                  <a:close/>
                  <a:moveTo>
                    <a:pt x="115062" y="170688"/>
                  </a:moveTo>
                  <a:lnTo>
                    <a:pt x="115062" y="138938"/>
                  </a:lnTo>
                  <a:lnTo>
                    <a:pt x="83312" y="138938"/>
                  </a:lnTo>
                  <a:cubicBezTo>
                    <a:pt x="76708" y="138938"/>
                    <a:pt x="71374" y="133604"/>
                    <a:pt x="71374" y="127000"/>
                  </a:cubicBezTo>
                  <a:cubicBezTo>
                    <a:pt x="71374" y="120396"/>
                    <a:pt x="76708" y="115062"/>
                    <a:pt x="83312" y="115062"/>
                  </a:cubicBezTo>
                  <a:lnTo>
                    <a:pt x="115062" y="115062"/>
                  </a:lnTo>
                  <a:lnTo>
                    <a:pt x="115062" y="83312"/>
                  </a:lnTo>
                  <a:cubicBezTo>
                    <a:pt x="115062" y="76708"/>
                    <a:pt x="120396" y="71374"/>
                    <a:pt x="127000" y="71374"/>
                  </a:cubicBezTo>
                  <a:cubicBezTo>
                    <a:pt x="133604" y="71374"/>
                    <a:pt x="138938" y="76708"/>
                    <a:pt x="138938" y="83312"/>
                  </a:cubicBezTo>
                  <a:lnTo>
                    <a:pt x="138938" y="115062"/>
                  </a:lnTo>
                  <a:lnTo>
                    <a:pt x="170688" y="115062"/>
                  </a:lnTo>
                  <a:cubicBezTo>
                    <a:pt x="177292" y="115062"/>
                    <a:pt x="182626" y="120396"/>
                    <a:pt x="182626" y="127000"/>
                  </a:cubicBezTo>
                  <a:cubicBezTo>
                    <a:pt x="182626" y="133604"/>
                    <a:pt x="177292" y="138938"/>
                    <a:pt x="170688" y="138938"/>
                  </a:cubicBezTo>
                  <a:lnTo>
                    <a:pt x="138938" y="138938"/>
                  </a:lnTo>
                  <a:lnTo>
                    <a:pt x="138938" y="170688"/>
                  </a:lnTo>
                  <a:cubicBezTo>
                    <a:pt x="138938" y="177292"/>
                    <a:pt x="133604" y="182626"/>
                    <a:pt x="127000" y="182626"/>
                  </a:cubicBezTo>
                  <a:cubicBezTo>
                    <a:pt x="120396" y="182626"/>
                    <a:pt x="115062" y="177292"/>
                    <a:pt x="115062" y="170688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1562" y="5420267"/>
            <a:ext cx="7715250" cy="285750"/>
            <a:chOff x="0" y="0"/>
            <a:chExt cx="10287000" cy="381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87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028700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Ventaja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33438" y="5753642"/>
            <a:ext cx="7941469" cy="238125"/>
            <a:chOff x="0" y="0"/>
            <a:chExt cx="10588625" cy="317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588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88626">
                  <a:moveTo>
                    <a:pt x="0" y="0"/>
                  </a:moveTo>
                  <a:lnTo>
                    <a:pt x="10588626" y="0"/>
                  </a:lnTo>
                  <a:lnTo>
                    <a:pt x="10588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9826" r="0" b="-5998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588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Interpretable, reglas de decisión claras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675084" y="6238226"/>
            <a:ext cx="8174831" cy="888206"/>
          </a:xfrm>
          <a:custGeom>
            <a:avLst/>
            <a:gdLst/>
            <a:ahLst/>
            <a:cxnLst/>
            <a:rect r="r" b="b" t="t" l="l"/>
            <a:pathLst>
              <a:path h="888206" w="8174831">
                <a:moveTo>
                  <a:pt x="0" y="0"/>
                </a:moveTo>
                <a:lnTo>
                  <a:pt x="8174832" y="0"/>
                </a:lnTo>
                <a:lnTo>
                  <a:pt x="8174832" y="888207"/>
                </a:lnTo>
                <a:lnTo>
                  <a:pt x="0" y="8882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857250" y="6444204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71562" y="6396579"/>
            <a:ext cx="7715250" cy="285750"/>
            <a:chOff x="0" y="0"/>
            <a:chExt cx="10287000" cy="381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87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028700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Riesgo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33438" y="6729954"/>
            <a:ext cx="7941469" cy="238125"/>
            <a:chOff x="0" y="0"/>
            <a:chExt cx="10588625" cy="3175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588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88626">
                  <a:moveTo>
                    <a:pt x="0" y="0"/>
                  </a:moveTo>
                  <a:lnTo>
                    <a:pt x="10588626" y="0"/>
                  </a:lnTo>
                  <a:lnTo>
                    <a:pt x="10588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9826" r="0" b="-5998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588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Tendencia al overfitting sin control de profundidad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235678" y="2904476"/>
            <a:ext cx="8579644" cy="4424362"/>
          </a:xfrm>
          <a:custGeom>
            <a:avLst/>
            <a:gdLst/>
            <a:ahLst/>
            <a:cxnLst/>
            <a:rect r="r" b="b" t="t" l="l"/>
            <a:pathLst>
              <a:path h="4424362" w="8579644">
                <a:moveTo>
                  <a:pt x="0" y="0"/>
                </a:moveTo>
                <a:lnTo>
                  <a:pt x="8579644" y="0"/>
                </a:lnTo>
                <a:lnTo>
                  <a:pt x="8579644" y="4424363"/>
                </a:lnTo>
                <a:lnTo>
                  <a:pt x="0" y="44243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9495234" y="3277142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2" y="0"/>
                </a:lnTo>
                <a:lnTo>
                  <a:pt x="25003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9941719" y="3110454"/>
            <a:ext cx="1928812" cy="333375"/>
            <a:chOff x="0" y="0"/>
            <a:chExt cx="2571750" cy="444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71750" cy="444500"/>
            </a:xfrm>
            <a:custGeom>
              <a:avLst/>
              <a:gdLst/>
              <a:ahLst/>
              <a:cxnLst/>
              <a:rect r="r" b="b" t="t" l="l"/>
              <a:pathLst>
                <a:path h="4445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734" r="0" b="-6273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5717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Random Forest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941719" y="3485501"/>
            <a:ext cx="1894113" cy="220266"/>
            <a:chOff x="0" y="0"/>
            <a:chExt cx="2525484" cy="2936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25490" cy="293688"/>
            </a:xfrm>
            <a:custGeom>
              <a:avLst/>
              <a:gdLst/>
              <a:ahLst/>
              <a:cxnLst/>
              <a:rect r="r" b="b" t="t" l="l"/>
              <a:pathLst>
                <a:path h="293688" w="2525490">
                  <a:moveTo>
                    <a:pt x="0" y="0"/>
                  </a:moveTo>
                  <a:lnTo>
                    <a:pt x="2525490" y="0"/>
                  </a:lnTo>
                  <a:lnTo>
                    <a:pt x="2525490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555" r="0" b="-11755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525484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RandomForestClassifier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438084" y="3916508"/>
            <a:ext cx="8174831" cy="1709738"/>
          </a:xfrm>
          <a:custGeom>
            <a:avLst/>
            <a:gdLst/>
            <a:ahLst/>
            <a:cxnLst/>
            <a:rect r="r" b="b" t="t" l="l"/>
            <a:pathLst>
              <a:path h="1709738" w="8174831">
                <a:moveTo>
                  <a:pt x="0" y="0"/>
                </a:moveTo>
                <a:lnTo>
                  <a:pt x="8174832" y="0"/>
                </a:lnTo>
                <a:lnTo>
                  <a:pt x="8174832" y="1709737"/>
                </a:lnTo>
                <a:lnTo>
                  <a:pt x="0" y="17097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620250" y="4104626"/>
            <a:ext cx="824598" cy="190500"/>
            <a:chOff x="0" y="0"/>
            <a:chExt cx="1099464" cy="25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9468" cy="254000"/>
            </a:xfrm>
            <a:custGeom>
              <a:avLst/>
              <a:gdLst/>
              <a:ahLst/>
              <a:cxnLst/>
              <a:rect r="r" b="b" t="t" l="l"/>
              <a:pathLst>
                <a:path h="254000" w="1099468">
                  <a:moveTo>
                    <a:pt x="0" y="0"/>
                  </a:moveTo>
                  <a:lnTo>
                    <a:pt x="1099468" y="0"/>
                  </a:lnTo>
                  <a:lnTo>
                    <a:pt x="1099468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342" r="0" b="-3434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099464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max_depth: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471547" y="4125462"/>
            <a:ext cx="209474" cy="154781"/>
            <a:chOff x="0" y="0"/>
            <a:chExt cx="279298" cy="2063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9300" cy="206376"/>
            </a:xfrm>
            <a:custGeom>
              <a:avLst/>
              <a:gdLst/>
              <a:ahLst/>
              <a:cxnLst/>
              <a:rect r="r" b="b" t="t" l="l"/>
              <a:pathLst>
                <a:path h="206376" w="279300">
                  <a:moveTo>
                    <a:pt x="0" y="0"/>
                  </a:moveTo>
                  <a:lnTo>
                    <a:pt x="279300" y="0"/>
                  </a:lnTo>
                  <a:lnTo>
                    <a:pt x="279300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4803" t="0" r="-448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279298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96438" y="4372517"/>
            <a:ext cx="1286523" cy="190500"/>
            <a:chOff x="0" y="0"/>
            <a:chExt cx="1715364" cy="254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15368" cy="254000"/>
            </a:xfrm>
            <a:custGeom>
              <a:avLst/>
              <a:gdLst/>
              <a:ahLst/>
              <a:cxnLst/>
              <a:rect r="r" b="b" t="t" l="l"/>
              <a:pathLst>
                <a:path h="254000" w="1715368">
                  <a:moveTo>
                    <a:pt x="0" y="0"/>
                  </a:moveTo>
                  <a:lnTo>
                    <a:pt x="1715368" y="0"/>
                  </a:lnTo>
                  <a:lnTo>
                    <a:pt x="1715368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90" r="0" b="-8159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715364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min_samples_split: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900448" y="4402283"/>
            <a:ext cx="236915" cy="154781"/>
            <a:chOff x="0" y="0"/>
            <a:chExt cx="315887" cy="2063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5888" cy="206376"/>
            </a:xfrm>
            <a:custGeom>
              <a:avLst/>
              <a:gdLst/>
              <a:ahLst/>
              <a:cxnLst/>
              <a:rect r="r" b="b" t="t" l="l"/>
              <a:pathLst>
                <a:path h="206376" w="315888">
                  <a:moveTo>
                    <a:pt x="0" y="0"/>
                  </a:moveTo>
                  <a:lnTo>
                    <a:pt x="315888" y="0"/>
                  </a:lnTo>
                  <a:lnTo>
                    <a:pt x="315888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3823" t="0" r="-33822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15887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525500" y="4104626"/>
            <a:ext cx="1255090" cy="190500"/>
            <a:chOff x="0" y="0"/>
            <a:chExt cx="1673454" cy="254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73448" cy="254000"/>
            </a:xfrm>
            <a:custGeom>
              <a:avLst/>
              <a:gdLst/>
              <a:ahLst/>
              <a:cxnLst/>
              <a:rect r="r" b="b" t="t" l="l"/>
              <a:pathLst>
                <a:path h="254000" w="1673448">
                  <a:moveTo>
                    <a:pt x="0" y="0"/>
                  </a:moveTo>
                  <a:lnTo>
                    <a:pt x="1673448" y="0"/>
                  </a:lnTo>
                  <a:lnTo>
                    <a:pt x="1673448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375" r="0" b="-783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673454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min_samples_leaf: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837740" y="4122486"/>
            <a:ext cx="209474" cy="154781"/>
            <a:chOff x="0" y="0"/>
            <a:chExt cx="279298" cy="2063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79300" cy="206376"/>
            </a:xfrm>
            <a:custGeom>
              <a:avLst/>
              <a:gdLst/>
              <a:ahLst/>
              <a:cxnLst/>
              <a:rect r="r" b="b" t="t" l="l"/>
              <a:pathLst>
                <a:path h="206376" w="279300">
                  <a:moveTo>
                    <a:pt x="0" y="0"/>
                  </a:moveTo>
                  <a:lnTo>
                    <a:pt x="279300" y="0"/>
                  </a:lnTo>
                  <a:lnTo>
                    <a:pt x="279300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4803" t="0" r="-448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279298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96438" y="4670173"/>
            <a:ext cx="979846" cy="190500"/>
            <a:chOff x="0" y="0"/>
            <a:chExt cx="1306462" cy="254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06462" cy="254000"/>
            </a:xfrm>
            <a:custGeom>
              <a:avLst/>
              <a:gdLst/>
              <a:ahLst/>
              <a:cxnLst/>
              <a:rect r="r" b="b" t="t" l="l"/>
              <a:pathLst>
                <a:path h="254000" w="1306462">
                  <a:moveTo>
                    <a:pt x="0" y="0"/>
                  </a:moveTo>
                  <a:lnTo>
                    <a:pt x="1306462" y="0"/>
                  </a:lnTo>
                  <a:lnTo>
                    <a:pt x="1306462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222" r="0" b="-5022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306462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max_features: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93772" y="4699939"/>
            <a:ext cx="368627" cy="154781"/>
            <a:chOff x="0" y="0"/>
            <a:chExt cx="491503" cy="20637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91504" cy="206376"/>
            </a:xfrm>
            <a:custGeom>
              <a:avLst/>
              <a:gdLst/>
              <a:ahLst/>
              <a:cxnLst/>
              <a:rect r="r" b="b" t="t" l="l"/>
              <a:pathLst>
                <a:path h="206376" w="491504">
                  <a:moveTo>
                    <a:pt x="0" y="0"/>
                  </a:moveTo>
                  <a:lnTo>
                    <a:pt x="491504" y="0"/>
                  </a:lnTo>
                  <a:lnTo>
                    <a:pt x="491504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72" t="0" r="-3872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91503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'sqrt'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96438" y="4967829"/>
            <a:ext cx="936317" cy="190500"/>
            <a:chOff x="0" y="0"/>
            <a:chExt cx="1248423" cy="254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48420" cy="254000"/>
            </a:xfrm>
            <a:custGeom>
              <a:avLst/>
              <a:gdLst/>
              <a:ahLst/>
              <a:cxnLst/>
              <a:rect r="r" b="b" t="t" l="l"/>
              <a:pathLst>
                <a:path h="254000" w="1248420">
                  <a:moveTo>
                    <a:pt x="0" y="0"/>
                  </a:moveTo>
                  <a:lnTo>
                    <a:pt x="1248420" y="0"/>
                  </a:lnTo>
                  <a:lnTo>
                    <a:pt x="1248420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769" r="0" b="-4576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248423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class_weight: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550242" y="4997595"/>
            <a:ext cx="691582" cy="154781"/>
            <a:chOff x="0" y="0"/>
            <a:chExt cx="922109" cy="20637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22114" cy="206376"/>
            </a:xfrm>
            <a:custGeom>
              <a:avLst/>
              <a:gdLst/>
              <a:ahLst/>
              <a:cxnLst/>
              <a:rect r="r" b="b" t="t" l="l"/>
              <a:pathLst>
                <a:path h="206376" w="922114">
                  <a:moveTo>
                    <a:pt x="0" y="0"/>
                  </a:moveTo>
                  <a:lnTo>
                    <a:pt x="922114" y="0"/>
                  </a:lnTo>
                  <a:lnTo>
                    <a:pt x="922114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061" r="0" b="-3706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922109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 b="true">
                  <a:solidFill>
                    <a:srgbClr val="00FF8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'balanced'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259312" y="4967829"/>
            <a:ext cx="1727806" cy="190500"/>
            <a:chOff x="0" y="0"/>
            <a:chExt cx="2303742" cy="2540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03736" cy="254000"/>
            </a:xfrm>
            <a:custGeom>
              <a:avLst/>
              <a:gdLst/>
              <a:ahLst/>
              <a:cxnLst/>
              <a:rect r="r" b="b" t="t" l="l"/>
              <a:pathLst>
                <a:path h="254000" w="2303736">
                  <a:moveTo>
                    <a:pt x="0" y="0"/>
                  </a:moveTo>
                  <a:lnTo>
                    <a:pt x="2303736" y="0"/>
                  </a:lnTo>
                  <a:lnTo>
                    <a:pt x="230373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6726" r="0" b="-12672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2303742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← manejo de desbalance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596438" y="5265486"/>
            <a:ext cx="999477" cy="190500"/>
            <a:chOff x="0" y="0"/>
            <a:chExt cx="1332636" cy="254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332632" cy="254000"/>
            </a:xfrm>
            <a:custGeom>
              <a:avLst/>
              <a:gdLst/>
              <a:ahLst/>
              <a:cxnLst/>
              <a:rect r="r" b="b" t="t" l="l"/>
              <a:pathLst>
                <a:path h="254000" w="1332632">
                  <a:moveTo>
                    <a:pt x="0" y="0"/>
                  </a:moveTo>
                  <a:lnTo>
                    <a:pt x="1332632" y="0"/>
                  </a:lnTo>
                  <a:lnTo>
                    <a:pt x="1332632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30" r="0" b="-5223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1332636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random_state: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613403" y="5295251"/>
            <a:ext cx="216827" cy="154781"/>
            <a:chOff x="0" y="0"/>
            <a:chExt cx="289103" cy="20637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89098" cy="206376"/>
            </a:xfrm>
            <a:custGeom>
              <a:avLst/>
              <a:gdLst/>
              <a:ahLst/>
              <a:cxnLst/>
              <a:rect r="r" b="b" t="t" l="l"/>
              <a:pathLst>
                <a:path h="206376" w="289098">
                  <a:moveTo>
                    <a:pt x="0" y="0"/>
                  </a:moveTo>
                  <a:lnTo>
                    <a:pt x="289098" y="0"/>
                  </a:lnTo>
                  <a:lnTo>
                    <a:pt x="289098" y="206376"/>
                  </a:lnTo>
                  <a:lnTo>
                    <a:pt x="0" y="206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1589" t="0" r="-4159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289103" cy="22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E8E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42</a:t>
              </a: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9438084" y="5714351"/>
            <a:ext cx="8174831" cy="888206"/>
          </a:xfrm>
          <a:custGeom>
            <a:avLst/>
            <a:gdLst/>
            <a:ahLst/>
            <a:cxnLst/>
            <a:rect r="r" b="b" t="t" l="l"/>
            <a:pathLst>
              <a:path h="888206" w="8174831">
                <a:moveTo>
                  <a:pt x="0" y="0"/>
                </a:moveTo>
                <a:lnTo>
                  <a:pt x="8174832" y="0"/>
                </a:lnTo>
                <a:lnTo>
                  <a:pt x="8174832" y="888207"/>
                </a:lnTo>
                <a:lnTo>
                  <a:pt x="0" y="8882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9620250" y="5920329"/>
            <a:ext cx="190500" cy="190500"/>
            <a:chOff x="0" y="0"/>
            <a:chExt cx="254000" cy="2540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254000"/>
                  </a:moveTo>
                  <a:cubicBezTo>
                    <a:pt x="197104" y="254000"/>
                    <a:pt x="254000" y="197104"/>
                    <a:pt x="254000" y="127000"/>
                  </a:cubicBezTo>
                  <a:cubicBezTo>
                    <a:pt x="254000" y="56896"/>
                    <a:pt x="197104" y="0"/>
                    <a:pt x="127000" y="0"/>
                  </a:cubicBezTo>
                  <a:cubicBezTo>
                    <a:pt x="56896" y="0"/>
                    <a:pt x="0" y="56896"/>
                    <a:pt x="0" y="127000"/>
                  </a:cubicBezTo>
                  <a:cubicBezTo>
                    <a:pt x="0" y="197104"/>
                    <a:pt x="56896" y="254000"/>
                    <a:pt x="127000" y="254000"/>
                  </a:cubicBezTo>
                  <a:close/>
                  <a:moveTo>
                    <a:pt x="115062" y="170688"/>
                  </a:moveTo>
                  <a:lnTo>
                    <a:pt x="115062" y="138938"/>
                  </a:lnTo>
                  <a:lnTo>
                    <a:pt x="83312" y="138938"/>
                  </a:lnTo>
                  <a:cubicBezTo>
                    <a:pt x="76708" y="138938"/>
                    <a:pt x="71374" y="133604"/>
                    <a:pt x="71374" y="127000"/>
                  </a:cubicBezTo>
                  <a:cubicBezTo>
                    <a:pt x="71374" y="120396"/>
                    <a:pt x="76708" y="115062"/>
                    <a:pt x="83312" y="115062"/>
                  </a:cubicBezTo>
                  <a:lnTo>
                    <a:pt x="115062" y="115062"/>
                  </a:lnTo>
                  <a:lnTo>
                    <a:pt x="115062" y="83312"/>
                  </a:lnTo>
                  <a:cubicBezTo>
                    <a:pt x="115062" y="76708"/>
                    <a:pt x="120396" y="71374"/>
                    <a:pt x="127000" y="71374"/>
                  </a:cubicBezTo>
                  <a:cubicBezTo>
                    <a:pt x="133604" y="71374"/>
                    <a:pt x="138938" y="76708"/>
                    <a:pt x="138938" y="83312"/>
                  </a:cubicBezTo>
                  <a:lnTo>
                    <a:pt x="138938" y="115062"/>
                  </a:lnTo>
                  <a:lnTo>
                    <a:pt x="170688" y="115062"/>
                  </a:lnTo>
                  <a:cubicBezTo>
                    <a:pt x="177292" y="115062"/>
                    <a:pt x="182626" y="120396"/>
                    <a:pt x="182626" y="127000"/>
                  </a:cubicBezTo>
                  <a:cubicBezTo>
                    <a:pt x="182626" y="133604"/>
                    <a:pt x="177292" y="138938"/>
                    <a:pt x="170688" y="138938"/>
                  </a:cubicBezTo>
                  <a:lnTo>
                    <a:pt x="138938" y="138938"/>
                  </a:lnTo>
                  <a:lnTo>
                    <a:pt x="138938" y="170688"/>
                  </a:lnTo>
                  <a:cubicBezTo>
                    <a:pt x="138938" y="177292"/>
                    <a:pt x="133604" y="182626"/>
                    <a:pt x="127000" y="182626"/>
                  </a:cubicBezTo>
                  <a:cubicBezTo>
                    <a:pt x="120396" y="182626"/>
                    <a:pt x="115062" y="177292"/>
                    <a:pt x="115062" y="170688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834562" y="5872704"/>
            <a:ext cx="7715250" cy="285750"/>
            <a:chOff x="0" y="0"/>
            <a:chExt cx="10287000" cy="3810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87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66675"/>
              <a:ext cx="1028700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Ventaja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596438" y="6206079"/>
            <a:ext cx="7941469" cy="238125"/>
            <a:chOff x="0" y="0"/>
            <a:chExt cx="10588625" cy="3175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588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88626">
                  <a:moveTo>
                    <a:pt x="0" y="0"/>
                  </a:moveTo>
                  <a:lnTo>
                    <a:pt x="10588626" y="0"/>
                  </a:lnTo>
                  <a:lnTo>
                    <a:pt x="10588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9826" r="0" b="-59982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0588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Ensemble robusto, menor varianza, maneja desbalance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6562" y="511969"/>
            <a:ext cx="869156" cy="238125"/>
            <a:chOff x="0" y="0"/>
            <a:chExt cx="1158875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8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158876">
                  <a:moveTo>
                    <a:pt x="0" y="0"/>
                  </a:moveTo>
                  <a:lnTo>
                    <a:pt x="1158876" y="0"/>
                  </a:lnTo>
                  <a:lnTo>
                    <a:pt x="1158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58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76312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Resultados de Regresión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72678" y="1639491"/>
            <a:ext cx="8579644" cy="4912519"/>
          </a:xfrm>
          <a:custGeom>
            <a:avLst/>
            <a:gdLst/>
            <a:ahLst/>
            <a:cxnLst/>
            <a:rect r="r" b="b" t="t" l="l"/>
            <a:pathLst>
              <a:path h="4912519" w="8579644">
                <a:moveTo>
                  <a:pt x="0" y="0"/>
                </a:moveTo>
                <a:lnTo>
                  <a:pt x="8579644" y="0"/>
                </a:lnTo>
                <a:lnTo>
                  <a:pt x="8579644" y="4912518"/>
                </a:lnTo>
                <a:lnTo>
                  <a:pt x="0" y="491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3300" y="1893094"/>
            <a:ext cx="208359" cy="238125"/>
          </a:xfrm>
          <a:custGeom>
            <a:avLst/>
            <a:gdLst/>
            <a:ahLst/>
            <a:cxnLst/>
            <a:rect r="r" b="b" t="t" l="l"/>
            <a:pathLst>
              <a:path h="238125" w="208359">
                <a:moveTo>
                  <a:pt x="0" y="0"/>
                </a:moveTo>
                <a:lnTo>
                  <a:pt x="208359" y="0"/>
                </a:lnTo>
                <a:lnTo>
                  <a:pt x="20835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19188" y="1845469"/>
            <a:ext cx="2500312" cy="333375"/>
            <a:chOff x="0" y="0"/>
            <a:chExt cx="3333750" cy="444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33750" cy="444500"/>
            </a:xfrm>
            <a:custGeom>
              <a:avLst/>
              <a:gdLst/>
              <a:ahLst/>
              <a:cxnLst/>
              <a:rect r="r" b="b" t="t" l="l"/>
              <a:pathLst>
                <a:path h="4445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3337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Métricas de Desempeño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5084" y="2365772"/>
            <a:ext cx="8174831" cy="2150269"/>
            <a:chOff x="0" y="0"/>
            <a:chExt cx="10899775" cy="28670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99775" cy="2867025"/>
            </a:xfrm>
            <a:custGeom>
              <a:avLst/>
              <a:gdLst/>
              <a:ahLst/>
              <a:cxnLst/>
              <a:rect r="r" b="b" t="t" l="l"/>
              <a:pathLst>
                <a:path h="2867025" w="10899775">
                  <a:moveTo>
                    <a:pt x="139700" y="0"/>
                  </a:moveTo>
                  <a:lnTo>
                    <a:pt x="10760075" y="0"/>
                  </a:lnTo>
                  <a:lnTo>
                    <a:pt x="10760075" y="12700"/>
                  </a:lnTo>
                  <a:lnTo>
                    <a:pt x="10760075" y="0"/>
                  </a:lnTo>
                  <a:cubicBezTo>
                    <a:pt x="10837164" y="0"/>
                    <a:pt x="10899775" y="62484"/>
                    <a:pt x="10899775" y="139700"/>
                  </a:cubicBezTo>
                  <a:lnTo>
                    <a:pt x="10887075" y="139700"/>
                  </a:lnTo>
                  <a:lnTo>
                    <a:pt x="10899775" y="139700"/>
                  </a:lnTo>
                  <a:lnTo>
                    <a:pt x="10899775" y="2727325"/>
                  </a:lnTo>
                  <a:lnTo>
                    <a:pt x="10887075" y="2727325"/>
                  </a:lnTo>
                  <a:lnTo>
                    <a:pt x="10899775" y="2727325"/>
                  </a:lnTo>
                  <a:cubicBezTo>
                    <a:pt x="10899775" y="2804414"/>
                    <a:pt x="10837291" y="2867025"/>
                    <a:pt x="10760075" y="2867025"/>
                  </a:cubicBezTo>
                  <a:lnTo>
                    <a:pt x="10760075" y="2854325"/>
                  </a:lnTo>
                  <a:lnTo>
                    <a:pt x="10760075" y="2867025"/>
                  </a:lnTo>
                  <a:lnTo>
                    <a:pt x="139700" y="2867025"/>
                  </a:lnTo>
                  <a:lnTo>
                    <a:pt x="139700" y="2854325"/>
                  </a:lnTo>
                  <a:lnTo>
                    <a:pt x="139700" y="2867025"/>
                  </a:lnTo>
                  <a:cubicBezTo>
                    <a:pt x="62611" y="2867025"/>
                    <a:pt x="0" y="2804541"/>
                    <a:pt x="0" y="2727325"/>
                  </a:cubicBezTo>
                  <a:lnTo>
                    <a:pt x="12700" y="2727325"/>
                  </a:lnTo>
                  <a:lnTo>
                    <a:pt x="0" y="2727325"/>
                  </a:lnTo>
                  <a:lnTo>
                    <a:pt x="0" y="139700"/>
                  </a:lnTo>
                  <a:lnTo>
                    <a:pt x="12700" y="139700"/>
                  </a:lnTo>
                  <a:lnTo>
                    <a:pt x="0" y="139700"/>
                  </a:lnTo>
                  <a:cubicBezTo>
                    <a:pt x="0" y="62611"/>
                    <a:pt x="62611" y="0"/>
                    <a:pt x="139700" y="0"/>
                  </a:cubicBezTo>
                  <a:lnTo>
                    <a:pt x="139700" y="12700"/>
                  </a:lnTo>
                  <a:lnTo>
                    <a:pt x="139700" y="0"/>
                  </a:lnTo>
                  <a:moveTo>
                    <a:pt x="139700" y="25400"/>
                  </a:moveTo>
                  <a:cubicBezTo>
                    <a:pt x="76581" y="25400"/>
                    <a:pt x="25400" y="76581"/>
                    <a:pt x="25400" y="139700"/>
                  </a:cubicBezTo>
                  <a:lnTo>
                    <a:pt x="25400" y="2727325"/>
                  </a:lnTo>
                  <a:cubicBezTo>
                    <a:pt x="25400" y="2790444"/>
                    <a:pt x="76581" y="2841625"/>
                    <a:pt x="139700" y="2841625"/>
                  </a:cubicBezTo>
                  <a:lnTo>
                    <a:pt x="10760075" y="2841625"/>
                  </a:lnTo>
                  <a:cubicBezTo>
                    <a:pt x="10823194" y="2841625"/>
                    <a:pt x="10874375" y="2790444"/>
                    <a:pt x="10874375" y="2727325"/>
                  </a:cubicBezTo>
                  <a:lnTo>
                    <a:pt x="10874375" y="139700"/>
                  </a:lnTo>
                  <a:cubicBezTo>
                    <a:pt x="10874375" y="76581"/>
                    <a:pt x="10823194" y="25400"/>
                    <a:pt x="10760075" y="25400"/>
                  </a:cubicBezTo>
                  <a:lnTo>
                    <a:pt x="139700" y="25400"/>
                  </a:lnTo>
                  <a:close/>
                </a:path>
              </a:pathLst>
            </a:custGeom>
            <a:solidFill>
              <a:srgbClr val="00D4FF">
                <a:alpha val="3922"/>
              </a:srgbClr>
            </a:solidFill>
          </p:spPr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690562" y="2381250"/>
          <a:ext cx="8115300" cy="1552133"/>
        </p:xfrm>
        <a:graphic>
          <a:graphicData uri="http://schemas.openxmlformats.org/drawingml/2006/table">
            <a:tbl>
              <a:tblPr/>
              <a:tblGrid>
                <a:gridCol w="3713580"/>
                <a:gridCol w="1483060"/>
                <a:gridCol w="1376279"/>
                <a:gridCol w="1542381"/>
              </a:tblGrid>
              <a:tr h="505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Modelo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RMSE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R²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523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Regresión Lineal (OLS)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1,961.77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44.29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0.11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523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Ridge (α=1.0)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~1,961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~44.29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~0.11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name="Freeform 20" id="20"/>
          <p:cNvSpPr/>
          <p:nvPr/>
        </p:nvSpPr>
        <p:spPr>
          <a:xfrm flipH="false" flipV="false" rot="0">
            <a:off x="9235678" y="1639491"/>
            <a:ext cx="8579644" cy="4912519"/>
          </a:xfrm>
          <a:custGeom>
            <a:avLst/>
            <a:gdLst/>
            <a:ahLst/>
            <a:cxnLst/>
            <a:rect r="r" b="b" t="t" l="l"/>
            <a:pathLst>
              <a:path h="4912519" w="8579644">
                <a:moveTo>
                  <a:pt x="0" y="0"/>
                </a:moveTo>
                <a:lnTo>
                  <a:pt x="8579644" y="0"/>
                </a:lnTo>
                <a:lnTo>
                  <a:pt x="8579644" y="4912518"/>
                </a:lnTo>
                <a:lnTo>
                  <a:pt x="0" y="4912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71422" y="1893094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882188" y="1845469"/>
            <a:ext cx="2214562" cy="333375"/>
            <a:chOff x="0" y="0"/>
            <a:chExt cx="2952750" cy="444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52750" cy="444500"/>
            </a:xfrm>
            <a:custGeom>
              <a:avLst/>
              <a:gdLst/>
              <a:ahLst/>
              <a:cxnLst/>
              <a:rect r="r" b="b" t="t" l="l"/>
              <a:pathLst>
                <a:path h="444500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9527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Curva de Aprendizaje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41656" y="2369344"/>
            <a:ext cx="8167688" cy="3048000"/>
            <a:chOff x="0" y="0"/>
            <a:chExt cx="10890250" cy="406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90250" cy="4064000"/>
            </a:xfrm>
            <a:custGeom>
              <a:avLst/>
              <a:gdLst/>
              <a:ahLst/>
              <a:cxnLst/>
              <a:rect r="r" b="b" t="t" l="l"/>
              <a:pathLst>
                <a:path h="40640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937000"/>
                  </a:lnTo>
                  <a:cubicBezTo>
                    <a:pt x="10890250" y="4007104"/>
                    <a:pt x="10833354" y="4064000"/>
                    <a:pt x="10763250" y="4064000"/>
                  </a:cubicBezTo>
                  <a:lnTo>
                    <a:pt x="127000" y="4064000"/>
                  </a:lnTo>
                  <a:cubicBezTo>
                    <a:pt x="56896" y="4064000"/>
                    <a:pt x="0" y="4007104"/>
                    <a:pt x="0" y="3937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91743" y="2625328"/>
            <a:ext cx="3267427" cy="190500"/>
            <a:chOff x="0" y="0"/>
            <a:chExt cx="4356570" cy="25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56572" cy="254000"/>
            </a:xfrm>
            <a:custGeom>
              <a:avLst/>
              <a:gdLst/>
              <a:ahLst/>
              <a:cxnLst/>
              <a:rect r="r" b="b" t="t" l="l"/>
              <a:pathLst>
                <a:path h="254000" w="4356572">
                  <a:moveTo>
                    <a:pt x="0" y="0"/>
                  </a:moveTo>
                  <a:lnTo>
                    <a:pt x="4356572" y="0"/>
                  </a:lnTo>
                  <a:lnTo>
                    <a:pt x="4356572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204" r="0" b="-2842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356570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RMSE vs Tamaño del conjunto de entrenamiento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628584" y="2984897"/>
            <a:ext cx="7793831" cy="1912144"/>
          </a:xfrm>
          <a:custGeom>
            <a:avLst/>
            <a:gdLst/>
            <a:ahLst/>
            <a:cxnLst/>
            <a:rect r="r" b="b" t="t" l="l"/>
            <a:pathLst>
              <a:path h="1912144" w="7793831">
                <a:moveTo>
                  <a:pt x="0" y="0"/>
                </a:moveTo>
                <a:lnTo>
                  <a:pt x="7793832" y="0"/>
                </a:lnTo>
                <a:lnTo>
                  <a:pt x="7793832" y="1912144"/>
                </a:lnTo>
                <a:lnTo>
                  <a:pt x="0" y="19121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 descr="preencoded.png"/>
          <p:cNvSpPr/>
          <p:nvPr/>
        </p:nvSpPr>
        <p:spPr>
          <a:xfrm flipH="false" flipV="false" rot="0">
            <a:off x="9739312" y="3095625"/>
            <a:ext cx="7572375" cy="1690688"/>
          </a:xfrm>
          <a:custGeom>
            <a:avLst/>
            <a:gdLst/>
            <a:ahLst/>
            <a:cxnLst/>
            <a:rect r="r" b="b" t="t" l="l"/>
            <a:pathLst>
              <a:path h="1690688" w="7572375">
                <a:moveTo>
                  <a:pt x="0" y="0"/>
                </a:moveTo>
                <a:lnTo>
                  <a:pt x="7572376" y="0"/>
                </a:lnTo>
                <a:lnTo>
                  <a:pt x="7572376" y="1690687"/>
                </a:lnTo>
                <a:lnTo>
                  <a:pt x="0" y="16906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34350" r="-149" b="-34351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378309" y="5036344"/>
            <a:ext cx="1214438" cy="190500"/>
            <a:chOff x="0" y="0"/>
            <a:chExt cx="1619250" cy="25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19250" cy="254000"/>
            </a:xfrm>
            <a:custGeom>
              <a:avLst/>
              <a:gdLst/>
              <a:ahLst/>
              <a:cxnLst/>
              <a:rect r="r" b="b" t="t" l="l"/>
              <a:pathLst>
                <a:path h="254000" w="1619250">
                  <a:moveTo>
                    <a:pt x="0" y="0"/>
                  </a:moveTo>
                  <a:lnTo>
                    <a:pt x="1619250" y="0"/>
                  </a:lnTo>
                  <a:lnTo>
                    <a:pt x="1619250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619250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D4FF"/>
                  </a:solidFill>
                  <a:latin typeface="Arimo"/>
                  <a:ea typeface="Arimo"/>
                  <a:cs typeface="Arimo"/>
                  <a:sym typeface="Arimo"/>
                </a:rPr>
                <a:t>— Entrenamiento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11717" y="5036344"/>
            <a:ext cx="928688" cy="190500"/>
            <a:chOff x="0" y="0"/>
            <a:chExt cx="1238250" cy="25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38250" cy="254000"/>
            </a:xfrm>
            <a:custGeom>
              <a:avLst/>
              <a:gdLst/>
              <a:ahLst/>
              <a:cxnLst/>
              <a:rect r="r" b="b" t="t" l="l"/>
              <a:pathLst>
                <a:path h="254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38250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— Validación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9438084" y="5556647"/>
            <a:ext cx="8174831" cy="792956"/>
          </a:xfrm>
          <a:custGeom>
            <a:avLst/>
            <a:gdLst/>
            <a:ahLst/>
            <a:cxnLst/>
            <a:rect r="r" b="b" t="t" l="l"/>
            <a:pathLst>
              <a:path h="792956" w="8174831">
                <a:moveTo>
                  <a:pt x="0" y="0"/>
                </a:moveTo>
                <a:lnTo>
                  <a:pt x="8174832" y="0"/>
                </a:lnTo>
                <a:lnTo>
                  <a:pt x="8174832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20250" y="5756672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8" y="0"/>
                </a:lnTo>
                <a:lnTo>
                  <a:pt x="166688" y="166687"/>
                </a:lnTo>
                <a:lnTo>
                  <a:pt x="0" y="1666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870281" y="5715000"/>
            <a:ext cx="7667625" cy="476250"/>
            <a:chOff x="0" y="0"/>
            <a:chExt cx="10223500" cy="635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23500" cy="635000"/>
            </a:xfrm>
            <a:custGeom>
              <a:avLst/>
              <a:gdLst/>
              <a:ahLst/>
              <a:cxnLst/>
              <a:rect r="r" b="b" t="t" l="l"/>
              <a:pathLst>
                <a:path h="6350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3709" r="0" b="-26370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223500" cy="68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Convergencia cerca de RMSE ~44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→ indica </a:t>
              </a:r>
              <a:r>
                <a:rPr lang="en-US" sz="1312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underfitting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: el modelo tiene capacidad limitada para capturar la variabilidad del target.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69106" y="6731794"/>
            <a:ext cx="17349788" cy="3538538"/>
          </a:xfrm>
          <a:custGeom>
            <a:avLst/>
            <a:gdLst/>
            <a:ahLst/>
            <a:cxnLst/>
            <a:rect r="r" b="b" t="t" l="l"/>
            <a:pathLst>
              <a:path h="3538538" w="17349788">
                <a:moveTo>
                  <a:pt x="0" y="0"/>
                </a:moveTo>
                <a:lnTo>
                  <a:pt x="17349788" y="0"/>
                </a:lnTo>
                <a:lnTo>
                  <a:pt x="17349788" y="3538537"/>
                </a:lnTo>
                <a:lnTo>
                  <a:pt x="0" y="35385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83419" y="6946106"/>
            <a:ext cx="776288" cy="776288"/>
          </a:xfrm>
          <a:custGeom>
            <a:avLst/>
            <a:gdLst/>
            <a:ahLst/>
            <a:cxnLst/>
            <a:rect r="r" b="b" t="t" l="l"/>
            <a:pathLst>
              <a:path h="776288" w="776288">
                <a:moveTo>
                  <a:pt x="0" y="0"/>
                </a:moveTo>
                <a:lnTo>
                  <a:pt x="776287" y="0"/>
                </a:lnTo>
                <a:lnTo>
                  <a:pt x="776287" y="776288"/>
                </a:lnTo>
                <a:lnTo>
                  <a:pt x="0" y="7762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029891" y="7155656"/>
            <a:ext cx="89297" cy="357188"/>
            <a:chOff x="0" y="0"/>
            <a:chExt cx="119062" cy="4762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2352" y="0"/>
              <a:ext cx="74422" cy="476250"/>
            </a:xfrm>
            <a:custGeom>
              <a:avLst/>
              <a:gdLst/>
              <a:ahLst/>
              <a:cxnLst/>
              <a:rect r="r" b="b" t="t" l="l"/>
              <a:pathLst>
                <a:path h="476250" w="74422">
                  <a:moveTo>
                    <a:pt x="66929" y="29718"/>
                  </a:moveTo>
                  <a:cubicBezTo>
                    <a:pt x="66929" y="13335"/>
                    <a:pt x="53594" y="0"/>
                    <a:pt x="37211" y="0"/>
                  </a:cubicBezTo>
                  <a:cubicBezTo>
                    <a:pt x="20828" y="0"/>
                    <a:pt x="7366" y="13335"/>
                    <a:pt x="7366" y="29718"/>
                  </a:cubicBezTo>
                  <a:lnTo>
                    <a:pt x="7366" y="327406"/>
                  </a:lnTo>
                  <a:cubicBezTo>
                    <a:pt x="7366" y="343916"/>
                    <a:pt x="20701" y="357124"/>
                    <a:pt x="37084" y="357124"/>
                  </a:cubicBezTo>
                  <a:cubicBezTo>
                    <a:pt x="53467" y="357124"/>
                    <a:pt x="66802" y="343789"/>
                    <a:pt x="66802" y="327406"/>
                  </a:cubicBezTo>
                  <a:lnTo>
                    <a:pt x="66802" y="29718"/>
                  </a:lnTo>
                  <a:close/>
                  <a:moveTo>
                    <a:pt x="37211" y="476250"/>
                  </a:moveTo>
                  <a:cubicBezTo>
                    <a:pt x="57785" y="476250"/>
                    <a:pt x="74422" y="459613"/>
                    <a:pt x="74422" y="439039"/>
                  </a:cubicBezTo>
                  <a:cubicBezTo>
                    <a:pt x="74422" y="418465"/>
                    <a:pt x="57785" y="401828"/>
                    <a:pt x="37211" y="401828"/>
                  </a:cubicBezTo>
                  <a:cubicBezTo>
                    <a:pt x="16637" y="401828"/>
                    <a:pt x="0" y="418465"/>
                    <a:pt x="0" y="439039"/>
                  </a:cubicBezTo>
                  <a:cubicBezTo>
                    <a:pt x="0" y="459613"/>
                    <a:pt x="16637" y="476250"/>
                    <a:pt x="37211" y="47625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43062" y="6953250"/>
            <a:ext cx="16073438" cy="333375"/>
            <a:chOff x="0" y="0"/>
            <a:chExt cx="21431250" cy="444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431250" cy="444500"/>
            </a:xfrm>
            <a:custGeom>
              <a:avLst/>
              <a:gdLst/>
              <a:ahLst/>
              <a:cxnLst/>
              <a:rect r="r" b="b" t="t" l="l"/>
              <a:pathLst>
                <a:path h="444500" w="21431250">
                  <a:moveTo>
                    <a:pt x="0" y="0"/>
                  </a:moveTo>
                  <a:lnTo>
                    <a:pt x="21431250" y="0"/>
                  </a:lnTo>
                  <a:lnTo>
                    <a:pt x="214312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9457" r="0" b="-88945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214312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Interpretación Crítica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43062" y="7381875"/>
            <a:ext cx="15954375" cy="952500"/>
            <a:chOff x="0" y="0"/>
            <a:chExt cx="21272500" cy="1270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2725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272500">
                  <a:moveTo>
                    <a:pt x="127000" y="0"/>
                  </a:moveTo>
                  <a:lnTo>
                    <a:pt x="21145500" y="0"/>
                  </a:lnTo>
                  <a:cubicBezTo>
                    <a:pt x="21215604" y="0"/>
                    <a:pt x="21272500" y="56896"/>
                    <a:pt x="21272500" y="127000"/>
                  </a:cubicBezTo>
                  <a:lnTo>
                    <a:pt x="21272500" y="1143000"/>
                  </a:lnTo>
                  <a:cubicBezTo>
                    <a:pt x="21272500" y="1213104"/>
                    <a:pt x="21215604" y="1270000"/>
                    <a:pt x="21145500" y="1270000"/>
                  </a:cubicBezTo>
                  <a:lnTo>
                    <a:pt x="127000" y="1270000"/>
                  </a:lnTo>
                  <a:cubicBezTo>
                    <a:pt x="56896" y="1270000"/>
                    <a:pt x="0" y="1213104"/>
                    <a:pt x="0" y="1143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833562" y="7572375"/>
            <a:ext cx="1738312" cy="476250"/>
            <a:chOff x="0" y="0"/>
            <a:chExt cx="2317750" cy="635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17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17750">
                  <a:moveTo>
                    <a:pt x="0" y="0"/>
                  </a:moveTo>
                  <a:lnTo>
                    <a:pt x="2317750" y="0"/>
                  </a:lnTo>
                  <a:lnTo>
                    <a:pt x="2317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19050"/>
              <a:ext cx="2317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R² = 0.11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708797" y="7667625"/>
            <a:ext cx="5881688" cy="285750"/>
            <a:chOff x="0" y="0"/>
            <a:chExt cx="7842250" cy="381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42250" cy="381000"/>
            </a:xfrm>
            <a:custGeom>
              <a:avLst/>
              <a:gdLst/>
              <a:ahLst/>
              <a:cxnLst/>
              <a:rect r="r" b="b" t="t" l="l"/>
              <a:pathLst>
                <a:path h="381000" w="7842250">
                  <a:moveTo>
                    <a:pt x="0" y="0"/>
                  </a:moveTo>
                  <a:lnTo>
                    <a:pt x="7842250" y="0"/>
                  </a:lnTo>
                  <a:lnTo>
                    <a:pt x="7842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1067" r="0" b="-3510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7842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El modelo explica solo el </a:t>
              </a:r>
              <a:r>
                <a:rPr lang="en-US" sz="150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11% de la varianza</a:t>
              </a:r>
              <a:r>
                <a:rPr lang="en-US" sz="1500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del costo del producto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639491" y="8473678"/>
            <a:ext cx="7889081" cy="888206"/>
          </a:xfrm>
          <a:custGeom>
            <a:avLst/>
            <a:gdLst/>
            <a:ahLst/>
            <a:cxnLst/>
            <a:rect r="r" b="b" t="t" l="l"/>
            <a:pathLst>
              <a:path h="888206" w="7889081">
                <a:moveTo>
                  <a:pt x="0" y="0"/>
                </a:moveTo>
                <a:lnTo>
                  <a:pt x="7889081" y="0"/>
                </a:lnTo>
                <a:lnTo>
                  <a:pt x="7889081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821656" y="8679656"/>
            <a:ext cx="190500" cy="190500"/>
            <a:chOff x="0" y="0"/>
            <a:chExt cx="254000" cy="254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254000"/>
                  </a:moveTo>
                  <a:cubicBezTo>
                    <a:pt x="197104" y="254000"/>
                    <a:pt x="254000" y="197104"/>
                    <a:pt x="254000" y="127000"/>
                  </a:cubicBezTo>
                  <a:cubicBezTo>
                    <a:pt x="254000" y="56896"/>
                    <a:pt x="197104" y="0"/>
                    <a:pt x="127000" y="0"/>
                  </a:cubicBezTo>
                  <a:cubicBezTo>
                    <a:pt x="56896" y="0"/>
                    <a:pt x="0" y="56896"/>
                    <a:pt x="0" y="127000"/>
                  </a:cubicBezTo>
                  <a:cubicBezTo>
                    <a:pt x="0" y="197104"/>
                    <a:pt x="56896" y="254000"/>
                    <a:pt x="127000" y="254000"/>
                  </a:cubicBezTo>
                  <a:close/>
                  <a:moveTo>
                    <a:pt x="168910" y="105537"/>
                  </a:moveTo>
                  <a:lnTo>
                    <a:pt x="129159" y="169037"/>
                  </a:lnTo>
                  <a:cubicBezTo>
                    <a:pt x="127127" y="172339"/>
                    <a:pt x="123444" y="174498"/>
                    <a:pt x="119634" y="174625"/>
                  </a:cubicBezTo>
                  <a:cubicBezTo>
                    <a:pt x="115824" y="174752"/>
                    <a:pt x="111887" y="172974"/>
                    <a:pt x="109601" y="169799"/>
                  </a:cubicBezTo>
                  <a:lnTo>
                    <a:pt x="85725" y="138049"/>
                  </a:lnTo>
                  <a:cubicBezTo>
                    <a:pt x="81788" y="132842"/>
                    <a:pt x="82804" y="125349"/>
                    <a:pt x="88138" y="121412"/>
                  </a:cubicBezTo>
                  <a:cubicBezTo>
                    <a:pt x="93472" y="117475"/>
                    <a:pt x="100838" y="118491"/>
                    <a:pt x="104775" y="123825"/>
                  </a:cubicBezTo>
                  <a:lnTo>
                    <a:pt x="118110" y="141732"/>
                  </a:lnTo>
                  <a:lnTo>
                    <a:pt x="148590" y="92964"/>
                  </a:lnTo>
                  <a:cubicBezTo>
                    <a:pt x="152019" y="87376"/>
                    <a:pt x="159385" y="85725"/>
                    <a:pt x="164973" y="89154"/>
                  </a:cubicBezTo>
                  <a:cubicBezTo>
                    <a:pt x="170561" y="92583"/>
                    <a:pt x="172212" y="99949"/>
                    <a:pt x="168783" y="105537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035969" y="8632031"/>
            <a:ext cx="7429500" cy="285750"/>
            <a:chOff x="0" y="0"/>
            <a:chExt cx="9906000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0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990600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Diagnóstico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97844" y="8965406"/>
            <a:ext cx="7655719" cy="238125"/>
            <a:chOff x="0" y="0"/>
            <a:chExt cx="10207625" cy="317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07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207626">
                  <a:moveTo>
                    <a:pt x="0" y="0"/>
                  </a:moveTo>
                  <a:lnTo>
                    <a:pt x="10207626" y="0"/>
                  </a:lnTo>
                  <a:lnTo>
                    <a:pt x="10207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6443" r="0" b="-5764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207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La limitación es </a:t>
              </a: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informativa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, no del modelo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711928" y="8473678"/>
            <a:ext cx="7889081" cy="888206"/>
          </a:xfrm>
          <a:custGeom>
            <a:avLst/>
            <a:gdLst/>
            <a:ahLst/>
            <a:cxnLst/>
            <a:rect r="r" b="b" t="t" l="l"/>
            <a:pathLst>
              <a:path h="888206" w="7889081">
                <a:moveTo>
                  <a:pt x="0" y="0"/>
                </a:moveTo>
                <a:lnTo>
                  <a:pt x="7889081" y="0"/>
                </a:lnTo>
                <a:lnTo>
                  <a:pt x="7889081" y="888206"/>
                </a:lnTo>
                <a:lnTo>
                  <a:pt x="0" y="88820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9917906" y="8679656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0" y="0"/>
                </a:moveTo>
                <a:lnTo>
                  <a:pt x="142875" y="0"/>
                </a:lnTo>
                <a:lnTo>
                  <a:pt x="14287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0108406" y="8632031"/>
            <a:ext cx="7429500" cy="285750"/>
            <a:chOff x="0" y="0"/>
            <a:chExt cx="990600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0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990600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0281" y="8965406"/>
            <a:ext cx="7655719" cy="238125"/>
            <a:chOff x="0" y="0"/>
            <a:chExt cx="10207625" cy="3175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07626" cy="317500"/>
            </a:xfrm>
            <a:custGeom>
              <a:avLst/>
              <a:gdLst/>
              <a:ahLst/>
              <a:cxnLst/>
              <a:rect r="r" b="b" t="t" l="l"/>
              <a:pathLst>
                <a:path h="317500" w="10207626">
                  <a:moveTo>
                    <a:pt x="0" y="0"/>
                  </a:moveTo>
                  <a:lnTo>
                    <a:pt x="10207626" y="0"/>
                  </a:lnTo>
                  <a:lnTo>
                    <a:pt x="10207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6443" r="0" b="-57644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020762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Las variables logísticas </a:t>
              </a: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 tienen poder explicativo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sobre el precio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639491" y="9497616"/>
            <a:ext cx="15961519" cy="554831"/>
          </a:xfrm>
          <a:custGeom>
            <a:avLst/>
            <a:gdLst/>
            <a:ahLst/>
            <a:cxnLst/>
            <a:rect r="r" b="b" t="t" l="l"/>
            <a:pathLst>
              <a:path h="554831" w="15961519">
                <a:moveTo>
                  <a:pt x="0" y="0"/>
                </a:moveTo>
                <a:lnTo>
                  <a:pt x="15961518" y="0"/>
                </a:lnTo>
                <a:lnTo>
                  <a:pt x="15961518" y="554831"/>
                </a:lnTo>
                <a:lnTo>
                  <a:pt x="0" y="55483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821656" y="9697641"/>
            <a:ext cx="166688" cy="166688"/>
            <a:chOff x="0" y="0"/>
            <a:chExt cx="222250" cy="2222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27781"/>
              <a:ext cx="222282" cy="166688"/>
            </a:xfrm>
            <a:custGeom>
              <a:avLst/>
              <a:gdLst/>
              <a:ahLst/>
              <a:cxnLst/>
              <a:rect r="r" b="b" t="t" l="l"/>
              <a:pathLst>
                <a:path h="166688" w="222282">
                  <a:moveTo>
                    <a:pt x="218186" y="93123"/>
                  </a:moveTo>
                  <a:cubicBezTo>
                    <a:pt x="223647" y="87662"/>
                    <a:pt x="223647" y="78899"/>
                    <a:pt x="218186" y="73438"/>
                  </a:cubicBezTo>
                  <a:lnTo>
                    <a:pt x="148717" y="4096"/>
                  </a:lnTo>
                  <a:cubicBezTo>
                    <a:pt x="143256" y="-1365"/>
                    <a:pt x="134493" y="-1365"/>
                    <a:pt x="129032" y="4096"/>
                  </a:cubicBezTo>
                  <a:cubicBezTo>
                    <a:pt x="123571" y="9557"/>
                    <a:pt x="123571" y="18320"/>
                    <a:pt x="129032" y="23781"/>
                  </a:cubicBezTo>
                  <a:lnTo>
                    <a:pt x="174752" y="69501"/>
                  </a:lnTo>
                  <a:lnTo>
                    <a:pt x="13843" y="69501"/>
                  </a:lnTo>
                  <a:cubicBezTo>
                    <a:pt x="6223" y="69501"/>
                    <a:pt x="0" y="75724"/>
                    <a:pt x="0" y="83344"/>
                  </a:cubicBezTo>
                  <a:cubicBezTo>
                    <a:pt x="0" y="90964"/>
                    <a:pt x="6223" y="97187"/>
                    <a:pt x="13843" y="97187"/>
                  </a:cubicBezTo>
                  <a:lnTo>
                    <a:pt x="174752" y="97187"/>
                  </a:lnTo>
                  <a:lnTo>
                    <a:pt x="129032" y="142907"/>
                  </a:lnTo>
                  <a:cubicBezTo>
                    <a:pt x="123571" y="148368"/>
                    <a:pt x="123571" y="157131"/>
                    <a:pt x="129032" y="162592"/>
                  </a:cubicBezTo>
                  <a:cubicBezTo>
                    <a:pt x="134493" y="168053"/>
                    <a:pt x="143256" y="168053"/>
                    <a:pt x="148717" y="162592"/>
                  </a:cubicBezTo>
                  <a:lnTo>
                    <a:pt x="218186" y="93123"/>
                  </a:ln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2071688" y="9655969"/>
            <a:ext cx="15454312" cy="238125"/>
            <a:chOff x="0" y="0"/>
            <a:chExt cx="20605750" cy="317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605750" cy="317500"/>
            </a:xfrm>
            <a:custGeom>
              <a:avLst/>
              <a:gdLst/>
              <a:ahLst/>
              <a:cxnLst/>
              <a:rect r="r" b="b" t="t" l="l"/>
              <a:pathLst>
                <a:path h="317500" w="20605750">
                  <a:moveTo>
                    <a:pt x="0" y="0"/>
                  </a:moveTo>
                  <a:lnTo>
                    <a:pt x="20605750" y="0"/>
                  </a:lnTo>
                  <a:lnTo>
                    <a:pt x="20605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578" r="0" b="-121457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206057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Solución: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Se necesitan </a:t>
              </a: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variables comerciales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: categoría, marca, tipo de producto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643" y="493643"/>
            <a:ext cx="1659007" cy="329651"/>
          </a:xfrm>
          <a:custGeom>
            <a:avLst/>
            <a:gdLst/>
            <a:ahLst/>
            <a:cxnLst/>
            <a:rect r="r" b="b" t="t" l="l"/>
            <a:pathLst>
              <a:path h="329651" w="1659007">
                <a:moveTo>
                  <a:pt x="0" y="0"/>
                </a:moveTo>
                <a:lnTo>
                  <a:pt x="1659007" y="0"/>
                </a:lnTo>
                <a:lnTo>
                  <a:pt x="1659007" y="329650"/>
                </a:lnTo>
                <a:lnTo>
                  <a:pt x="0" y="329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6957" y="496957"/>
            <a:ext cx="1702079" cy="298174"/>
            <a:chOff x="0" y="0"/>
            <a:chExt cx="2269439" cy="397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9434" cy="397571"/>
            </a:xfrm>
            <a:custGeom>
              <a:avLst/>
              <a:gdLst/>
              <a:ahLst/>
              <a:cxnLst/>
              <a:rect r="r" b="b" t="t" l="l"/>
              <a:pathLst>
                <a:path h="397571" w="2269434">
                  <a:moveTo>
                    <a:pt x="0" y="0"/>
                  </a:moveTo>
                  <a:lnTo>
                    <a:pt x="2269434" y="0"/>
                  </a:lnTo>
                  <a:lnTo>
                    <a:pt x="2269434" y="397571"/>
                  </a:lnTo>
                  <a:lnTo>
                    <a:pt x="0" y="3975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6" r="0" b="-6122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69439" cy="426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0"/>
                </a:lnSpc>
              </a:pPr>
              <a:r>
                <a:rPr lang="en-US" sz="1174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02497" y="534229"/>
            <a:ext cx="906942" cy="248479"/>
            <a:chOff x="0" y="0"/>
            <a:chExt cx="1209256" cy="3313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260" cy="331304"/>
            </a:xfrm>
            <a:custGeom>
              <a:avLst/>
              <a:gdLst/>
              <a:ahLst/>
              <a:cxnLst/>
              <a:rect r="r" b="b" t="t" l="l"/>
              <a:pathLst>
                <a:path h="331304" w="1209260">
                  <a:moveTo>
                    <a:pt x="0" y="0"/>
                  </a:moveTo>
                  <a:lnTo>
                    <a:pt x="1209260" y="0"/>
                  </a:lnTo>
                  <a:lnTo>
                    <a:pt x="1209260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09256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6957" y="1018765"/>
            <a:ext cx="17517713" cy="496957"/>
            <a:chOff x="0" y="0"/>
            <a:chExt cx="23356951" cy="6626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56956" cy="662608"/>
            </a:xfrm>
            <a:custGeom>
              <a:avLst/>
              <a:gdLst/>
              <a:ahLst/>
              <a:cxnLst/>
              <a:rect r="r" b="b" t="t" l="l"/>
              <a:pathLst>
                <a:path h="662608" w="23356956">
                  <a:moveTo>
                    <a:pt x="0" y="0"/>
                  </a:moveTo>
                  <a:lnTo>
                    <a:pt x="23356956" y="0"/>
                  </a:lnTo>
                  <a:lnTo>
                    <a:pt x="23356956" y="662608"/>
                  </a:lnTo>
                  <a:lnTo>
                    <a:pt x="0" y="6626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6848" r="0" b="-6368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3356951" cy="65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3"/>
                </a:lnSpc>
              </a:pPr>
              <a:r>
                <a:rPr lang="en-US" sz="352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Resultados — Árbol de Decisión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93643" y="1711185"/>
            <a:ext cx="5634657" cy="2764736"/>
          </a:xfrm>
          <a:custGeom>
            <a:avLst/>
            <a:gdLst/>
            <a:ahLst/>
            <a:cxnLst/>
            <a:rect r="r" b="b" t="t" l="l"/>
            <a:pathLst>
              <a:path h="2764736" w="5634657">
                <a:moveTo>
                  <a:pt x="0" y="0"/>
                </a:moveTo>
                <a:lnTo>
                  <a:pt x="5634656" y="0"/>
                </a:lnTo>
                <a:lnTo>
                  <a:pt x="5634656" y="2764736"/>
                </a:lnTo>
                <a:lnTo>
                  <a:pt x="0" y="2764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944082" y="2298421"/>
            <a:ext cx="819979" cy="248479"/>
            <a:chOff x="0" y="0"/>
            <a:chExt cx="1093305" cy="3313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304" cy="331304"/>
            </a:xfrm>
            <a:custGeom>
              <a:avLst/>
              <a:gdLst/>
              <a:ahLst/>
              <a:cxnLst/>
              <a:rect r="r" b="b" t="t" l="l"/>
              <a:pathLst>
                <a:path h="331304" w="1093304">
                  <a:moveTo>
                    <a:pt x="0" y="0"/>
                  </a:moveTo>
                  <a:lnTo>
                    <a:pt x="1093304" y="0"/>
                  </a:lnTo>
                  <a:lnTo>
                    <a:pt x="1093304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93305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Accuracy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68645" y="2646293"/>
            <a:ext cx="1863585" cy="745436"/>
            <a:chOff x="0" y="0"/>
            <a:chExt cx="2484780" cy="9939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84782" cy="993914"/>
            </a:xfrm>
            <a:custGeom>
              <a:avLst/>
              <a:gdLst/>
              <a:ahLst/>
              <a:cxnLst/>
              <a:rect r="r" b="b" t="t" l="l"/>
              <a:pathLst>
                <a:path h="993914" w="2484782">
                  <a:moveTo>
                    <a:pt x="0" y="0"/>
                  </a:moveTo>
                  <a:lnTo>
                    <a:pt x="2484782" y="0"/>
                  </a:lnTo>
                  <a:lnTo>
                    <a:pt x="2484782" y="993914"/>
                  </a:lnTo>
                  <a:lnTo>
                    <a:pt x="0" y="993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04775"/>
              <a:ext cx="2484780" cy="88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34"/>
                </a:lnSpc>
              </a:pPr>
              <a:r>
                <a:rPr lang="en-US" sz="5869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68%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10314" y="3491122"/>
            <a:ext cx="1602686" cy="397564"/>
            <a:chOff x="0" y="0"/>
            <a:chExt cx="2136915" cy="530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6902" cy="529971"/>
            </a:xfrm>
            <a:custGeom>
              <a:avLst/>
              <a:gdLst/>
              <a:ahLst/>
              <a:cxnLst/>
              <a:rect r="r" b="b" t="t" l="l"/>
              <a:pathLst>
                <a:path h="529971" w="2136902">
                  <a:moveTo>
                    <a:pt x="132461" y="0"/>
                  </a:moveTo>
                  <a:lnTo>
                    <a:pt x="2004441" y="0"/>
                  </a:lnTo>
                  <a:cubicBezTo>
                    <a:pt x="2077593" y="0"/>
                    <a:pt x="2136902" y="59309"/>
                    <a:pt x="2136902" y="132461"/>
                  </a:cubicBezTo>
                  <a:lnTo>
                    <a:pt x="2136902" y="397510"/>
                  </a:lnTo>
                  <a:cubicBezTo>
                    <a:pt x="2136902" y="470662"/>
                    <a:pt x="2077593" y="529971"/>
                    <a:pt x="2004441" y="529971"/>
                  </a:cubicBezTo>
                  <a:lnTo>
                    <a:pt x="132461" y="529971"/>
                  </a:lnTo>
                  <a:cubicBezTo>
                    <a:pt x="59309" y="530098"/>
                    <a:pt x="0" y="470789"/>
                    <a:pt x="0" y="397510"/>
                  </a:cubicBezTo>
                  <a:lnTo>
                    <a:pt x="0" y="132461"/>
                  </a:lnTo>
                  <a:cubicBezTo>
                    <a:pt x="0" y="59309"/>
                    <a:pt x="59309" y="0"/>
                    <a:pt x="132461" y="0"/>
                  </a:cubicBezTo>
                  <a:close/>
                </a:path>
              </a:pathLst>
            </a:custGeom>
            <a:solidFill>
              <a:srgbClr val="00D4FF">
                <a:alpha val="784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59399" y="3609146"/>
            <a:ext cx="1381677" cy="198787"/>
            <a:chOff x="0" y="0"/>
            <a:chExt cx="1842237" cy="265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42234" cy="265044"/>
            </a:xfrm>
            <a:custGeom>
              <a:avLst/>
              <a:gdLst/>
              <a:ahLst/>
              <a:cxnLst/>
              <a:rect r="r" b="b" t="t" l="l"/>
              <a:pathLst>
                <a:path h="265044" w="1842234">
                  <a:moveTo>
                    <a:pt x="0" y="0"/>
                  </a:moveTo>
                  <a:lnTo>
                    <a:pt x="1842234" y="0"/>
                  </a:lnTo>
                  <a:lnTo>
                    <a:pt x="1842234" y="265044"/>
                  </a:lnTo>
                  <a:lnTo>
                    <a:pt x="0" y="2650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433" r="0" b="-854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842237" cy="293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0"/>
                </a:lnSpc>
              </a:pPr>
              <a:r>
                <a:rPr lang="en-US" sz="1174">
                  <a:solidFill>
                    <a:srgbClr val="00D4FF"/>
                  </a:solidFill>
                  <a:latin typeface="Arimo"/>
                  <a:ea typeface="Arimo"/>
                  <a:cs typeface="Arimo"/>
                  <a:sym typeface="Arimo"/>
                </a:rPr>
                <a:t>2,200 predicciones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324533" y="1711185"/>
            <a:ext cx="11473901" cy="2764736"/>
          </a:xfrm>
          <a:custGeom>
            <a:avLst/>
            <a:gdLst/>
            <a:ahLst/>
            <a:cxnLst/>
            <a:rect r="r" b="b" t="t" l="l"/>
            <a:pathLst>
              <a:path h="2764736" w="11473901">
                <a:moveTo>
                  <a:pt x="0" y="0"/>
                </a:moveTo>
                <a:lnTo>
                  <a:pt x="11473901" y="0"/>
                </a:lnTo>
                <a:lnTo>
                  <a:pt x="11473901" y="2764736"/>
                </a:lnTo>
                <a:lnTo>
                  <a:pt x="0" y="276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01177" y="1975399"/>
            <a:ext cx="186357" cy="248479"/>
          </a:xfrm>
          <a:custGeom>
            <a:avLst/>
            <a:gdLst/>
            <a:ahLst/>
            <a:cxnLst/>
            <a:rect r="r" b="b" t="t" l="l"/>
            <a:pathLst>
              <a:path h="248479" w="186357">
                <a:moveTo>
                  <a:pt x="0" y="0"/>
                </a:moveTo>
                <a:lnTo>
                  <a:pt x="186357" y="0"/>
                </a:lnTo>
                <a:lnTo>
                  <a:pt x="186357" y="248479"/>
                </a:lnTo>
                <a:lnTo>
                  <a:pt x="0" y="2484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998741" y="1922639"/>
            <a:ext cx="3175721" cy="354008"/>
            <a:chOff x="0" y="0"/>
            <a:chExt cx="4234294" cy="4720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34289" cy="472007"/>
            </a:xfrm>
            <a:custGeom>
              <a:avLst/>
              <a:gdLst/>
              <a:ahLst/>
              <a:cxnLst/>
              <a:rect r="r" b="b" t="t" l="l"/>
              <a:pathLst>
                <a:path h="472007" w="4234289">
                  <a:moveTo>
                    <a:pt x="0" y="0"/>
                  </a:moveTo>
                  <a:lnTo>
                    <a:pt x="4234289" y="0"/>
                  </a:lnTo>
                  <a:lnTo>
                    <a:pt x="4234289" y="472007"/>
                  </a:lnTo>
                  <a:lnTo>
                    <a:pt x="0" y="4720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787" r="18235" b="-920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4234294" cy="557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Reporte de Clasificación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535741" y="2419350"/>
            <a:ext cx="11051486" cy="1845364"/>
          </a:xfrm>
          <a:custGeom>
            <a:avLst/>
            <a:gdLst/>
            <a:ahLst/>
            <a:cxnLst/>
            <a:rect r="r" b="b" t="t" l="l"/>
            <a:pathLst>
              <a:path h="1845364" w="11051486">
                <a:moveTo>
                  <a:pt x="0" y="0"/>
                </a:moveTo>
                <a:lnTo>
                  <a:pt x="11051486" y="0"/>
                </a:lnTo>
                <a:lnTo>
                  <a:pt x="11051486" y="1845364"/>
                </a:lnTo>
                <a:lnTo>
                  <a:pt x="0" y="18453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6551480" y="2435086"/>
          <a:ext cx="10991850" cy="1752600"/>
        </p:xfrm>
        <a:graphic>
          <a:graphicData uri="http://schemas.openxmlformats.org/drawingml/2006/table">
            <a:tbl>
              <a:tblPr/>
              <a:tblGrid>
                <a:gridCol w="3048473"/>
                <a:gridCol w="2168629"/>
                <a:gridCol w="1697726"/>
                <a:gridCol w="2119060"/>
                <a:gridCol w="1957962"/>
              </a:tblGrid>
              <a:tr h="4291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Clase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b="true" sz="135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Precision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b="true" sz="135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Recall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b="true" sz="135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F1-Score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b="true" sz="135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Support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</a:tr>
              <a:tr h="447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 (A tiempo)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0.57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0.91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0.70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895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47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(Retraso)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0.90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0.52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0.66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1,305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291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Weighted avg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0.76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0.68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0.67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2,200</a:t>
                      </a:r>
                      <a:endParaRPr lang="en-US" sz="1100"/>
                    </a:p>
                  </a:txBody>
                  <a:tcPr marL="66261" marR="66261" marT="66261" marB="6626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</a:tr>
            </a:tbl>
          </a:graphicData>
        </a:graphic>
      </p:graphicFrame>
      <p:sp>
        <p:nvSpPr>
          <p:cNvPr name="Freeform 31" id="31"/>
          <p:cNvSpPr/>
          <p:nvPr/>
        </p:nvSpPr>
        <p:spPr>
          <a:xfrm flipH="false" flipV="false" rot="0">
            <a:off x="493643" y="4668079"/>
            <a:ext cx="8554279" cy="5125279"/>
          </a:xfrm>
          <a:custGeom>
            <a:avLst/>
            <a:gdLst/>
            <a:ahLst/>
            <a:cxnLst/>
            <a:rect r="r" b="b" t="t" l="l"/>
            <a:pathLst>
              <a:path h="5125279" w="8554279">
                <a:moveTo>
                  <a:pt x="0" y="0"/>
                </a:moveTo>
                <a:lnTo>
                  <a:pt x="8554278" y="0"/>
                </a:lnTo>
                <a:lnTo>
                  <a:pt x="8554278" y="5125278"/>
                </a:lnTo>
                <a:lnTo>
                  <a:pt x="0" y="51252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240079" y="4668079"/>
            <a:ext cx="8554279" cy="5125279"/>
          </a:xfrm>
          <a:custGeom>
            <a:avLst/>
            <a:gdLst/>
            <a:ahLst/>
            <a:cxnLst/>
            <a:rect r="r" b="b" t="t" l="l"/>
            <a:pathLst>
              <a:path h="5125279" w="8554279">
                <a:moveTo>
                  <a:pt x="0" y="0"/>
                </a:moveTo>
                <a:lnTo>
                  <a:pt x="8554278" y="0"/>
                </a:lnTo>
                <a:lnTo>
                  <a:pt x="8554278" y="5125278"/>
                </a:lnTo>
                <a:lnTo>
                  <a:pt x="0" y="51252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470126" y="4932293"/>
            <a:ext cx="279540" cy="248479"/>
          </a:xfrm>
          <a:custGeom>
            <a:avLst/>
            <a:gdLst/>
            <a:ahLst/>
            <a:cxnLst/>
            <a:rect r="r" b="b" t="t" l="l"/>
            <a:pathLst>
              <a:path h="248479" w="279540">
                <a:moveTo>
                  <a:pt x="0" y="0"/>
                </a:moveTo>
                <a:lnTo>
                  <a:pt x="279540" y="0"/>
                </a:lnTo>
                <a:lnTo>
                  <a:pt x="279540" y="248478"/>
                </a:lnTo>
                <a:lnTo>
                  <a:pt x="0" y="2484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914287" y="4882601"/>
            <a:ext cx="1552985" cy="347872"/>
            <a:chOff x="0" y="0"/>
            <a:chExt cx="2070646" cy="4638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0652" cy="463826"/>
            </a:xfrm>
            <a:custGeom>
              <a:avLst/>
              <a:gdLst/>
              <a:ahLst/>
              <a:cxnLst/>
              <a:rect r="r" b="b" t="t" l="l"/>
              <a:pathLst>
                <a:path h="463826" w="2070652">
                  <a:moveTo>
                    <a:pt x="0" y="0"/>
                  </a:moveTo>
                  <a:lnTo>
                    <a:pt x="2070652" y="0"/>
                  </a:lnTo>
                  <a:lnTo>
                    <a:pt x="2070652" y="463826"/>
                  </a:lnTo>
                  <a:lnTo>
                    <a:pt x="0" y="4638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2070646" cy="549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Interpretación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451286" y="5425935"/>
            <a:ext cx="8131864" cy="925992"/>
          </a:xfrm>
          <a:custGeom>
            <a:avLst/>
            <a:gdLst/>
            <a:ahLst/>
            <a:cxnLst/>
            <a:rect r="r" b="b" t="t" l="l"/>
            <a:pathLst>
              <a:path h="925992" w="8131864">
                <a:moveTo>
                  <a:pt x="0" y="0"/>
                </a:moveTo>
                <a:lnTo>
                  <a:pt x="8131864" y="0"/>
                </a:lnTo>
                <a:lnTo>
                  <a:pt x="8131864" y="925992"/>
                </a:lnTo>
                <a:lnTo>
                  <a:pt x="0" y="925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640957" y="5640457"/>
            <a:ext cx="198787" cy="198787"/>
          </a:xfrm>
          <a:custGeom>
            <a:avLst/>
            <a:gdLst/>
            <a:ahLst/>
            <a:cxnLst/>
            <a:rect r="r" b="b" t="t" l="l"/>
            <a:pathLst>
              <a:path h="198787" w="198787">
                <a:moveTo>
                  <a:pt x="0" y="0"/>
                </a:moveTo>
                <a:lnTo>
                  <a:pt x="198787" y="0"/>
                </a:lnTo>
                <a:lnTo>
                  <a:pt x="198787" y="198787"/>
                </a:lnTo>
                <a:lnTo>
                  <a:pt x="0" y="19878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963979" y="5590765"/>
            <a:ext cx="2062372" cy="298171"/>
            <a:chOff x="0" y="0"/>
            <a:chExt cx="2749829" cy="3975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49826" cy="397566"/>
            </a:xfrm>
            <a:custGeom>
              <a:avLst/>
              <a:gdLst/>
              <a:ahLst/>
              <a:cxnLst/>
              <a:rect r="r" b="b" t="t" l="l"/>
              <a:pathLst>
                <a:path h="397566" w="2749826">
                  <a:moveTo>
                    <a:pt x="0" y="0"/>
                  </a:moveTo>
                  <a:lnTo>
                    <a:pt x="2749826" y="0"/>
                  </a:lnTo>
                  <a:lnTo>
                    <a:pt x="2749826" y="397566"/>
                  </a:lnTo>
                  <a:lnTo>
                    <a:pt x="0" y="3975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772" r="0" b="-8477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2749829" cy="464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564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Recall 0.91 en clase 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16107" y="5938628"/>
            <a:ext cx="7889186" cy="248479"/>
            <a:chOff x="0" y="0"/>
            <a:chExt cx="10518915" cy="33130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18914" cy="331304"/>
            </a:xfrm>
            <a:custGeom>
              <a:avLst/>
              <a:gdLst/>
              <a:ahLst/>
              <a:cxnLst/>
              <a:rect r="r" b="b" t="t" l="l"/>
              <a:pathLst>
                <a:path h="331304" w="10518914">
                  <a:moveTo>
                    <a:pt x="0" y="0"/>
                  </a:moveTo>
                  <a:lnTo>
                    <a:pt x="10518914" y="0"/>
                  </a:lnTo>
                  <a:lnTo>
                    <a:pt x="10518914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8650" r="0" b="-5686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518915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Excelente detectando entregas a tiempo reales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9451286" y="6494393"/>
            <a:ext cx="8131864" cy="925992"/>
          </a:xfrm>
          <a:custGeom>
            <a:avLst/>
            <a:gdLst/>
            <a:ahLst/>
            <a:cxnLst/>
            <a:rect r="r" b="b" t="t" l="l"/>
            <a:pathLst>
              <a:path h="925992" w="8131864">
                <a:moveTo>
                  <a:pt x="0" y="0"/>
                </a:moveTo>
                <a:lnTo>
                  <a:pt x="8131864" y="0"/>
                </a:lnTo>
                <a:lnTo>
                  <a:pt x="8131864" y="925992"/>
                </a:lnTo>
                <a:lnTo>
                  <a:pt x="0" y="92599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640957" y="6708915"/>
            <a:ext cx="198787" cy="198787"/>
          </a:xfrm>
          <a:custGeom>
            <a:avLst/>
            <a:gdLst/>
            <a:ahLst/>
            <a:cxnLst/>
            <a:rect r="r" b="b" t="t" l="l"/>
            <a:pathLst>
              <a:path h="198787" w="198787">
                <a:moveTo>
                  <a:pt x="0" y="0"/>
                </a:moveTo>
                <a:lnTo>
                  <a:pt x="198787" y="0"/>
                </a:lnTo>
                <a:lnTo>
                  <a:pt x="198787" y="198786"/>
                </a:lnTo>
                <a:lnTo>
                  <a:pt x="0" y="19878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963979" y="6659213"/>
            <a:ext cx="2049942" cy="298171"/>
            <a:chOff x="0" y="0"/>
            <a:chExt cx="2733256" cy="3975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33260" cy="397566"/>
            </a:xfrm>
            <a:custGeom>
              <a:avLst/>
              <a:gdLst/>
              <a:ahLst/>
              <a:cxnLst/>
              <a:rect r="r" b="b" t="t" l="l"/>
              <a:pathLst>
                <a:path h="397566" w="2733260">
                  <a:moveTo>
                    <a:pt x="0" y="0"/>
                  </a:moveTo>
                  <a:lnTo>
                    <a:pt x="2733260" y="0"/>
                  </a:lnTo>
                  <a:lnTo>
                    <a:pt x="2733260" y="397566"/>
                  </a:lnTo>
                  <a:lnTo>
                    <a:pt x="0" y="3975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959" r="0" b="-839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2733256" cy="464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564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Recall 0.52 en clase 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16107" y="7007085"/>
            <a:ext cx="7889186" cy="248479"/>
            <a:chOff x="0" y="0"/>
            <a:chExt cx="10518915" cy="33130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518914" cy="331304"/>
            </a:xfrm>
            <a:custGeom>
              <a:avLst/>
              <a:gdLst/>
              <a:ahLst/>
              <a:cxnLst/>
              <a:rect r="r" b="b" t="t" l="l"/>
              <a:pathLst>
                <a:path h="331304" w="10518914">
                  <a:moveTo>
                    <a:pt x="0" y="0"/>
                  </a:moveTo>
                  <a:lnTo>
                    <a:pt x="10518914" y="0"/>
                  </a:lnTo>
                  <a:lnTo>
                    <a:pt x="10518914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8650" r="0" b="-5686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518915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Solo detecta la mitad de los retrasos reales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9451286" y="7562850"/>
            <a:ext cx="8131864" cy="925992"/>
          </a:xfrm>
          <a:custGeom>
            <a:avLst/>
            <a:gdLst/>
            <a:ahLst/>
            <a:cxnLst/>
            <a:rect r="r" b="b" t="t" l="l"/>
            <a:pathLst>
              <a:path h="925992" w="8131864">
                <a:moveTo>
                  <a:pt x="0" y="0"/>
                </a:moveTo>
                <a:lnTo>
                  <a:pt x="8131864" y="0"/>
                </a:lnTo>
                <a:lnTo>
                  <a:pt x="8131864" y="925992"/>
                </a:lnTo>
                <a:lnTo>
                  <a:pt x="0" y="92599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640957" y="7777372"/>
            <a:ext cx="198787" cy="198787"/>
          </a:xfrm>
          <a:custGeom>
            <a:avLst/>
            <a:gdLst/>
            <a:ahLst/>
            <a:cxnLst/>
            <a:rect r="r" b="b" t="t" l="l"/>
            <a:pathLst>
              <a:path h="198787" w="198787">
                <a:moveTo>
                  <a:pt x="0" y="0"/>
                </a:moveTo>
                <a:lnTo>
                  <a:pt x="198787" y="0"/>
                </a:lnTo>
                <a:lnTo>
                  <a:pt x="198787" y="198787"/>
                </a:lnTo>
                <a:lnTo>
                  <a:pt x="0" y="19878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9963979" y="7727671"/>
            <a:ext cx="2348122" cy="298171"/>
            <a:chOff x="0" y="0"/>
            <a:chExt cx="3130829" cy="3975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30826" cy="397566"/>
            </a:xfrm>
            <a:custGeom>
              <a:avLst/>
              <a:gdLst/>
              <a:ahLst/>
              <a:cxnLst/>
              <a:rect r="r" b="b" t="t" l="l"/>
              <a:pathLst>
                <a:path h="397566" w="3130826">
                  <a:moveTo>
                    <a:pt x="0" y="0"/>
                  </a:moveTo>
                  <a:lnTo>
                    <a:pt x="3130826" y="0"/>
                  </a:lnTo>
                  <a:lnTo>
                    <a:pt x="3130826" y="397566"/>
                  </a:lnTo>
                  <a:lnTo>
                    <a:pt x="0" y="3975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445" r="0" b="-1034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3130829" cy="464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564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Precision 0.90 en clase 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16107" y="8075543"/>
            <a:ext cx="7889186" cy="248479"/>
            <a:chOff x="0" y="0"/>
            <a:chExt cx="10518915" cy="33130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518914" cy="331304"/>
            </a:xfrm>
            <a:custGeom>
              <a:avLst/>
              <a:gdLst/>
              <a:ahLst/>
              <a:cxnLst/>
              <a:rect r="r" b="b" t="t" l="l"/>
              <a:pathLst>
                <a:path h="331304" w="10518914">
                  <a:moveTo>
                    <a:pt x="0" y="0"/>
                  </a:moveTo>
                  <a:lnTo>
                    <a:pt x="10518914" y="0"/>
                  </a:lnTo>
                  <a:lnTo>
                    <a:pt x="10518914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8650" r="0" b="-5686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518915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Cuando predice retraso, casi siempre acierta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491453" y="8636242"/>
            <a:ext cx="8138493" cy="957472"/>
          </a:xfrm>
          <a:custGeom>
            <a:avLst/>
            <a:gdLst/>
            <a:ahLst/>
            <a:cxnLst/>
            <a:rect r="r" b="b" t="t" l="l"/>
            <a:pathLst>
              <a:path h="957472" w="8138493">
                <a:moveTo>
                  <a:pt x="0" y="0"/>
                </a:moveTo>
                <a:lnTo>
                  <a:pt x="8138493" y="0"/>
                </a:lnTo>
                <a:lnTo>
                  <a:pt x="8138493" y="957472"/>
                </a:lnTo>
                <a:lnTo>
                  <a:pt x="0" y="95747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9653378" y="8858250"/>
            <a:ext cx="198787" cy="198787"/>
          </a:xfrm>
          <a:custGeom>
            <a:avLst/>
            <a:gdLst/>
            <a:ahLst/>
            <a:cxnLst/>
            <a:rect r="r" b="b" t="t" l="l"/>
            <a:pathLst>
              <a:path h="198787" w="198787">
                <a:moveTo>
                  <a:pt x="0" y="0"/>
                </a:moveTo>
                <a:lnTo>
                  <a:pt x="198787" y="0"/>
                </a:lnTo>
                <a:lnTo>
                  <a:pt x="198787" y="198787"/>
                </a:lnTo>
                <a:lnTo>
                  <a:pt x="0" y="19878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9976399" y="8800309"/>
            <a:ext cx="2335701" cy="314669"/>
            <a:chOff x="0" y="0"/>
            <a:chExt cx="3114269" cy="41955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14269" cy="419563"/>
            </a:xfrm>
            <a:custGeom>
              <a:avLst/>
              <a:gdLst/>
              <a:ahLst/>
              <a:cxnLst/>
              <a:rect r="r" b="b" t="t" l="l"/>
              <a:pathLst>
                <a:path h="419563" w="3114269">
                  <a:moveTo>
                    <a:pt x="0" y="0"/>
                  </a:moveTo>
                  <a:lnTo>
                    <a:pt x="3114269" y="0"/>
                  </a:lnTo>
                  <a:lnTo>
                    <a:pt x="3114269" y="419563"/>
                  </a:lnTo>
                  <a:lnTo>
                    <a:pt x="0" y="419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480" r="14361" b="-7123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3114269" cy="486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0"/>
                </a:lnSpc>
              </a:pPr>
              <a:r>
                <a:rPr lang="en-US" sz="1564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491 Falsos Negativos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28537" y="9156421"/>
            <a:ext cx="7864335" cy="248479"/>
            <a:chOff x="0" y="0"/>
            <a:chExt cx="10485780" cy="33130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85782" cy="331304"/>
            </a:xfrm>
            <a:custGeom>
              <a:avLst/>
              <a:gdLst/>
              <a:ahLst/>
              <a:cxnLst/>
              <a:rect r="r" b="b" t="t" l="l"/>
              <a:pathLst>
                <a:path h="331304" w="10485782">
                  <a:moveTo>
                    <a:pt x="0" y="0"/>
                  </a:moveTo>
                  <a:lnTo>
                    <a:pt x="10485782" y="0"/>
                  </a:lnTo>
                  <a:lnTo>
                    <a:pt x="10485782" y="331304"/>
                  </a:lnTo>
                  <a:lnTo>
                    <a:pt x="0" y="331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6701" r="0" b="-56670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485780" cy="37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2"/>
                </a:lnSpc>
              </a:pPr>
              <a:r>
                <a:rPr lang="en-US" sz="1369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Retrasos que pasaron desapercibidos → </a:t>
              </a:r>
              <a:r>
                <a:rPr lang="en-US" sz="1369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riesgo reputacional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731582" y="4895021"/>
            <a:ext cx="208359" cy="238125"/>
          </a:xfrm>
          <a:custGeom>
            <a:avLst/>
            <a:gdLst/>
            <a:ahLst/>
            <a:cxnLst/>
            <a:rect r="r" b="b" t="t" l="l"/>
            <a:pathLst>
              <a:path h="238125" w="208359">
                <a:moveTo>
                  <a:pt x="0" y="0"/>
                </a:moveTo>
                <a:lnTo>
                  <a:pt x="208359" y="0"/>
                </a:lnTo>
                <a:lnTo>
                  <a:pt x="20835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27469" y="4847396"/>
            <a:ext cx="2083594" cy="333375"/>
            <a:chOff x="0" y="0"/>
            <a:chExt cx="2778125" cy="444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78126" cy="444500"/>
            </a:xfrm>
            <a:custGeom>
              <a:avLst/>
              <a:gdLst/>
              <a:ahLst/>
              <a:cxnLst/>
              <a:rect r="r" b="b" t="t" l="l"/>
              <a:pathLst>
                <a:path h="444500" w="2778126">
                  <a:moveTo>
                    <a:pt x="0" y="0"/>
                  </a:moveTo>
                  <a:lnTo>
                    <a:pt x="2778126" y="0"/>
                  </a:lnTo>
                  <a:lnTo>
                    <a:pt x="27781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77812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Matriz de Confusión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6938" y="5371271"/>
            <a:ext cx="8167688" cy="2809875"/>
            <a:chOff x="0" y="0"/>
            <a:chExt cx="10890250" cy="37465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890250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619500"/>
                  </a:lnTo>
                  <a:cubicBezTo>
                    <a:pt x="10890250" y="3689604"/>
                    <a:pt x="10833354" y="3746500"/>
                    <a:pt x="10763250" y="3746500"/>
                  </a:cubicBezTo>
                  <a:lnTo>
                    <a:pt x="127000" y="3746500"/>
                  </a:lnTo>
                  <a:cubicBezTo>
                    <a:pt x="56896" y="3746500"/>
                    <a:pt x="0" y="3689604"/>
                    <a:pt x="0" y="3619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3463047" y="5561771"/>
            <a:ext cx="2619375" cy="238125"/>
            <a:chOff x="0" y="0"/>
            <a:chExt cx="3492500" cy="317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92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492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Pred. 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090328" y="5561771"/>
            <a:ext cx="2619375" cy="238125"/>
            <a:chOff x="0" y="0"/>
            <a:chExt cx="3492500" cy="317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92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3492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Pred. 1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77438" y="5895146"/>
            <a:ext cx="2619375" cy="1000125"/>
            <a:chOff x="0" y="0"/>
            <a:chExt cx="3492500" cy="13335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92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34925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 0</a:t>
              </a:r>
            </a:p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(A tiempo)</a:t>
              </a: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3497575" y="5888003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3647594" y="6109459"/>
            <a:ext cx="2250281" cy="454248"/>
            <a:chOff x="0" y="0"/>
            <a:chExt cx="3000375" cy="6056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817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683313" y="6490459"/>
            <a:ext cx="2178844" cy="190500"/>
            <a:chOff x="0" y="0"/>
            <a:chExt cx="2905125" cy="254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TN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6124856" y="5888003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6274875" y="6109459"/>
            <a:ext cx="2250281" cy="454248"/>
            <a:chOff x="0" y="0"/>
            <a:chExt cx="3000375" cy="60566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78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310593" y="6490459"/>
            <a:ext cx="2178844" cy="190500"/>
            <a:chOff x="0" y="0"/>
            <a:chExt cx="2905125" cy="254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FP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77438" y="6990521"/>
            <a:ext cx="2619375" cy="1000125"/>
            <a:chOff x="0" y="0"/>
            <a:chExt cx="3492500" cy="13335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492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4925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 1</a:t>
              </a:r>
            </a:p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(Retraso)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3497575" y="6983378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3647594" y="7204834"/>
            <a:ext cx="2250281" cy="454248"/>
            <a:chOff x="0" y="0"/>
            <a:chExt cx="3000375" cy="60566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628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3683313" y="7585834"/>
            <a:ext cx="2178844" cy="190500"/>
            <a:chOff x="0" y="0"/>
            <a:chExt cx="2905125" cy="254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FN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6124856" y="6983378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6274875" y="7204834"/>
            <a:ext cx="2250281" cy="454248"/>
            <a:chOff x="0" y="0"/>
            <a:chExt cx="3000375" cy="60566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677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310593" y="7585834"/>
            <a:ext cx="2178844" cy="190500"/>
            <a:chOff x="0" y="0"/>
            <a:chExt cx="2905125" cy="2540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TP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6562" y="511969"/>
            <a:ext cx="869156" cy="238125"/>
            <a:chOff x="0" y="0"/>
            <a:chExt cx="1158875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8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158876">
                  <a:moveTo>
                    <a:pt x="0" y="0"/>
                  </a:moveTo>
                  <a:lnTo>
                    <a:pt x="1158876" y="0"/>
                  </a:lnTo>
                  <a:lnTo>
                    <a:pt x="1158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20" r="0" b="-211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58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76312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Resultados — Random Forest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72678" y="1639491"/>
            <a:ext cx="5662612" cy="2650331"/>
          </a:xfrm>
          <a:custGeom>
            <a:avLst/>
            <a:gdLst/>
            <a:ahLst/>
            <a:cxnLst/>
            <a:rect r="r" b="b" t="t" l="l"/>
            <a:pathLst>
              <a:path h="2650331" w="5662612">
                <a:moveTo>
                  <a:pt x="0" y="0"/>
                </a:moveTo>
                <a:lnTo>
                  <a:pt x="5662613" y="0"/>
                </a:lnTo>
                <a:lnTo>
                  <a:pt x="5662613" y="2650331"/>
                </a:lnTo>
                <a:lnTo>
                  <a:pt x="0" y="26503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948378" y="2202656"/>
            <a:ext cx="785812" cy="238125"/>
            <a:chOff x="0" y="0"/>
            <a:chExt cx="1047750" cy="31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750" cy="317500"/>
            </a:xfrm>
            <a:custGeom>
              <a:avLst/>
              <a:gdLst/>
              <a:ahLst/>
              <a:cxnLst/>
              <a:rect r="r" b="b" t="t" l="l"/>
              <a:pathLst>
                <a:path h="317500" w="1047750">
                  <a:moveTo>
                    <a:pt x="0" y="0"/>
                  </a:moveTo>
                  <a:lnTo>
                    <a:pt x="1047750" y="0"/>
                  </a:lnTo>
                  <a:lnTo>
                    <a:pt x="1047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77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Accuracy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88676" y="2536031"/>
            <a:ext cx="1785938" cy="714375"/>
            <a:chOff x="0" y="0"/>
            <a:chExt cx="2381250" cy="95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81250" cy="952500"/>
            </a:xfrm>
            <a:custGeom>
              <a:avLst/>
              <a:gdLst/>
              <a:ahLst/>
              <a:cxnLst/>
              <a:rect r="r" b="b" t="t" l="l"/>
              <a:pathLst>
                <a:path h="952500" w="2381250">
                  <a:moveTo>
                    <a:pt x="0" y="0"/>
                  </a:moveTo>
                  <a:lnTo>
                    <a:pt x="2381250" y="0"/>
                  </a:lnTo>
                  <a:lnTo>
                    <a:pt x="238125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2381250" cy="866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5625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68%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32774" y="3345656"/>
            <a:ext cx="1535906" cy="381000"/>
            <a:chOff x="0" y="0"/>
            <a:chExt cx="2047875" cy="50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7875" cy="508000"/>
            </a:xfrm>
            <a:custGeom>
              <a:avLst/>
              <a:gdLst/>
              <a:ahLst/>
              <a:cxnLst/>
              <a:rect r="r" b="b" t="t" l="l"/>
              <a:pathLst>
                <a:path h="508000" w="2047875">
                  <a:moveTo>
                    <a:pt x="127000" y="0"/>
                  </a:moveTo>
                  <a:lnTo>
                    <a:pt x="1920875" y="0"/>
                  </a:lnTo>
                  <a:cubicBezTo>
                    <a:pt x="1990979" y="0"/>
                    <a:pt x="2047875" y="56896"/>
                    <a:pt x="2047875" y="127000"/>
                  </a:cubicBezTo>
                  <a:lnTo>
                    <a:pt x="2047875" y="381000"/>
                  </a:lnTo>
                  <a:cubicBezTo>
                    <a:pt x="2047875" y="451104"/>
                    <a:pt x="1990979" y="508000"/>
                    <a:pt x="1920875" y="508000"/>
                  </a:cubicBezTo>
                  <a:lnTo>
                    <a:pt x="127000" y="508000"/>
                  </a:lnTo>
                  <a:cubicBezTo>
                    <a:pt x="56896" y="508000"/>
                    <a:pt x="0" y="451104"/>
                    <a:pt x="0" y="381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ED957">
                <a:alpha val="784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75649" y="3458766"/>
            <a:ext cx="1324108" cy="190500"/>
            <a:chOff x="0" y="0"/>
            <a:chExt cx="1765478" cy="25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65474" cy="254000"/>
            </a:xfrm>
            <a:custGeom>
              <a:avLst/>
              <a:gdLst/>
              <a:ahLst/>
              <a:cxnLst/>
              <a:rect r="r" b="b" t="t" l="l"/>
              <a:pathLst>
                <a:path h="254000" w="1765474">
                  <a:moveTo>
                    <a:pt x="0" y="0"/>
                  </a:moveTo>
                  <a:lnTo>
                    <a:pt x="1765474" y="0"/>
                  </a:lnTo>
                  <a:lnTo>
                    <a:pt x="176547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434" r="0" b="-854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765478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2,200 predicciones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314646" y="1639491"/>
            <a:ext cx="11496675" cy="2650331"/>
          </a:xfrm>
          <a:custGeom>
            <a:avLst/>
            <a:gdLst/>
            <a:ahLst/>
            <a:cxnLst/>
            <a:rect r="r" b="b" t="t" l="l"/>
            <a:pathLst>
              <a:path h="2650331" w="11496675">
                <a:moveTo>
                  <a:pt x="0" y="0"/>
                </a:moveTo>
                <a:lnTo>
                  <a:pt x="11496675" y="0"/>
                </a:lnTo>
                <a:lnTo>
                  <a:pt x="11496675" y="2650331"/>
                </a:lnTo>
                <a:lnTo>
                  <a:pt x="0" y="2650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80156" y="1893094"/>
            <a:ext cx="178594" cy="238125"/>
          </a:xfrm>
          <a:custGeom>
            <a:avLst/>
            <a:gdLst/>
            <a:ahLst/>
            <a:cxnLst/>
            <a:rect r="r" b="b" t="t" l="l"/>
            <a:pathLst>
              <a:path h="238125" w="178594">
                <a:moveTo>
                  <a:pt x="0" y="0"/>
                </a:moveTo>
                <a:lnTo>
                  <a:pt x="178594" y="0"/>
                </a:lnTo>
                <a:lnTo>
                  <a:pt x="178594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961156" y="1845469"/>
            <a:ext cx="2778157" cy="372193"/>
            <a:chOff x="0" y="0"/>
            <a:chExt cx="3317875" cy="444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17876" cy="444500"/>
            </a:xfrm>
            <a:custGeom>
              <a:avLst/>
              <a:gdLst/>
              <a:ahLst/>
              <a:cxnLst/>
              <a:rect r="r" b="b" t="t" l="l"/>
              <a:pathLst>
                <a:path h="444500" w="3317876">
                  <a:moveTo>
                    <a:pt x="0" y="0"/>
                  </a:moveTo>
                  <a:lnTo>
                    <a:pt x="3317876" y="0"/>
                  </a:lnTo>
                  <a:lnTo>
                    <a:pt x="33178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5441" r="0" b="-954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331787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Reporte de Clasificación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517053" y="2318147"/>
            <a:ext cx="11091862" cy="1769269"/>
          </a:xfrm>
          <a:custGeom>
            <a:avLst/>
            <a:gdLst/>
            <a:ahLst/>
            <a:cxnLst/>
            <a:rect r="r" b="b" t="t" l="l"/>
            <a:pathLst>
              <a:path h="1769269" w="11091862">
                <a:moveTo>
                  <a:pt x="0" y="0"/>
                </a:moveTo>
                <a:lnTo>
                  <a:pt x="11091862" y="0"/>
                </a:lnTo>
                <a:lnTo>
                  <a:pt x="11091862" y="1769269"/>
                </a:lnTo>
                <a:lnTo>
                  <a:pt x="0" y="17692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6532531" y="2333625"/>
          <a:ext cx="11010900" cy="1676400"/>
        </p:xfrm>
        <a:graphic>
          <a:graphicData uri="http://schemas.openxmlformats.org/drawingml/2006/table">
            <a:tbl>
              <a:tblPr/>
              <a:tblGrid>
                <a:gridCol w="3057925"/>
                <a:gridCol w="2168994"/>
                <a:gridCol w="1694897"/>
                <a:gridCol w="2121583"/>
                <a:gridCol w="1967502"/>
              </a:tblGrid>
              <a:tr h="41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Clase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Precision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Recall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F1-Score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Support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28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 (A tiempo)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895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28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 (Retraso)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1,305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1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Weighted avg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0.76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2,200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</a:tbl>
          </a:graphicData>
        </a:graphic>
      </p:graphicFrame>
      <p:sp>
        <p:nvSpPr>
          <p:cNvPr name="Freeform 31" id="31"/>
          <p:cNvSpPr/>
          <p:nvPr/>
        </p:nvSpPr>
        <p:spPr>
          <a:xfrm flipH="false" flipV="false" rot="0">
            <a:off x="436959" y="4604147"/>
            <a:ext cx="8579644" cy="4674394"/>
          </a:xfrm>
          <a:custGeom>
            <a:avLst/>
            <a:gdLst/>
            <a:ahLst/>
            <a:cxnLst/>
            <a:rect r="r" b="b" t="t" l="l"/>
            <a:pathLst>
              <a:path h="4674394" w="8579644">
                <a:moveTo>
                  <a:pt x="0" y="0"/>
                </a:moveTo>
                <a:lnTo>
                  <a:pt x="8579644" y="0"/>
                </a:lnTo>
                <a:lnTo>
                  <a:pt x="8579644" y="4674394"/>
                </a:lnTo>
                <a:lnTo>
                  <a:pt x="0" y="46743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23300" y="4726781"/>
            <a:ext cx="208359" cy="238125"/>
          </a:xfrm>
          <a:custGeom>
            <a:avLst/>
            <a:gdLst/>
            <a:ahLst/>
            <a:cxnLst/>
            <a:rect r="r" b="b" t="t" l="l"/>
            <a:pathLst>
              <a:path h="238125" w="208359">
                <a:moveTo>
                  <a:pt x="0" y="0"/>
                </a:moveTo>
                <a:lnTo>
                  <a:pt x="208359" y="0"/>
                </a:lnTo>
                <a:lnTo>
                  <a:pt x="20835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119188" y="4679156"/>
            <a:ext cx="2083594" cy="333375"/>
            <a:chOff x="0" y="0"/>
            <a:chExt cx="2778125" cy="444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78126" cy="444500"/>
            </a:xfrm>
            <a:custGeom>
              <a:avLst/>
              <a:gdLst/>
              <a:ahLst/>
              <a:cxnLst/>
              <a:rect r="r" b="b" t="t" l="l"/>
              <a:pathLst>
                <a:path h="444500" w="2778126">
                  <a:moveTo>
                    <a:pt x="0" y="0"/>
                  </a:moveTo>
                  <a:lnTo>
                    <a:pt x="2778126" y="0"/>
                  </a:lnTo>
                  <a:lnTo>
                    <a:pt x="27781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77812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Matriz de Confusión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8656" y="5203031"/>
            <a:ext cx="8167688" cy="2809875"/>
            <a:chOff x="0" y="0"/>
            <a:chExt cx="10890250" cy="3746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90250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619500"/>
                  </a:lnTo>
                  <a:cubicBezTo>
                    <a:pt x="10890250" y="3689604"/>
                    <a:pt x="10833354" y="3746500"/>
                    <a:pt x="10763250" y="3746500"/>
                  </a:cubicBezTo>
                  <a:lnTo>
                    <a:pt x="127000" y="3746500"/>
                  </a:lnTo>
                  <a:cubicBezTo>
                    <a:pt x="56896" y="3746500"/>
                    <a:pt x="0" y="3689604"/>
                    <a:pt x="0" y="3619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454765" y="5393531"/>
            <a:ext cx="2619375" cy="238125"/>
            <a:chOff x="0" y="0"/>
            <a:chExt cx="3492500" cy="31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92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3492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Pred. 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82046" y="5393531"/>
            <a:ext cx="2619375" cy="238125"/>
            <a:chOff x="0" y="0"/>
            <a:chExt cx="3492500" cy="317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92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492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Pred. 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69156" y="5726906"/>
            <a:ext cx="2619375" cy="1000125"/>
            <a:chOff x="0" y="0"/>
            <a:chExt cx="3492500" cy="1333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92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4925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 0</a:t>
              </a:r>
            </a:p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(A tiempo)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3489293" y="5719762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3"/>
                </a:lnTo>
                <a:lnTo>
                  <a:pt x="0" y="10144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3639312" y="5941219"/>
            <a:ext cx="2250281" cy="454248"/>
            <a:chOff x="0" y="0"/>
            <a:chExt cx="3000375" cy="6056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817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675031" y="6322219"/>
            <a:ext cx="2178844" cy="190500"/>
            <a:chOff x="0" y="0"/>
            <a:chExt cx="2905125" cy="254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TN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6116574" y="5719762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3"/>
                </a:lnTo>
                <a:lnTo>
                  <a:pt x="0" y="10144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6266593" y="5941219"/>
            <a:ext cx="2250281" cy="454248"/>
            <a:chOff x="0" y="0"/>
            <a:chExt cx="3000375" cy="60566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302312" y="6322219"/>
            <a:ext cx="2178844" cy="190500"/>
            <a:chOff x="0" y="0"/>
            <a:chExt cx="2905125" cy="254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FP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69156" y="6822281"/>
            <a:ext cx="2619375" cy="1000125"/>
            <a:chOff x="0" y="0"/>
            <a:chExt cx="3492500" cy="13335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92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2" r="0" b="-10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4925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 1</a:t>
              </a:r>
            </a:p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9CA3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(Retraso)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3489293" y="6815138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3639312" y="7036594"/>
            <a:ext cx="2250281" cy="454248"/>
            <a:chOff x="0" y="0"/>
            <a:chExt cx="3000375" cy="6056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628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675031" y="7417594"/>
            <a:ext cx="2178844" cy="190500"/>
            <a:chOff x="0" y="0"/>
            <a:chExt cx="2905125" cy="254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FN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6116574" y="6815138"/>
            <a:ext cx="2550319" cy="1014412"/>
          </a:xfrm>
          <a:custGeom>
            <a:avLst/>
            <a:gdLst/>
            <a:ahLst/>
            <a:cxnLst/>
            <a:rect r="r" b="b" t="t" l="l"/>
            <a:pathLst>
              <a:path h="1014412" w="2550319">
                <a:moveTo>
                  <a:pt x="0" y="0"/>
                </a:moveTo>
                <a:lnTo>
                  <a:pt x="2550319" y="0"/>
                </a:lnTo>
                <a:lnTo>
                  <a:pt x="2550319" y="1014412"/>
                </a:lnTo>
                <a:lnTo>
                  <a:pt x="0" y="101441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6266593" y="7036594"/>
            <a:ext cx="2250281" cy="454248"/>
            <a:chOff x="0" y="0"/>
            <a:chExt cx="3000375" cy="60566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00376" cy="605664"/>
            </a:xfrm>
            <a:custGeom>
              <a:avLst/>
              <a:gdLst/>
              <a:ahLst/>
              <a:cxnLst/>
              <a:rect r="r" b="b" t="t" l="l"/>
              <a:pathLst>
                <a:path h="605664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605664"/>
                  </a:lnTo>
                  <a:lnTo>
                    <a:pt x="0" y="605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588" r="0" b="-3846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000375" cy="64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25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677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302312" y="7417594"/>
            <a:ext cx="2178844" cy="190500"/>
            <a:chOff x="0" y="0"/>
            <a:chExt cx="2905125" cy="254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905126" cy="254000"/>
            </a:xfrm>
            <a:custGeom>
              <a:avLst/>
              <a:gdLst/>
              <a:ahLst/>
              <a:cxnLst/>
              <a:rect r="r" b="b" t="t" l="l"/>
              <a:pathLst>
                <a:path h="254000" w="2905126">
                  <a:moveTo>
                    <a:pt x="0" y="0"/>
                  </a:moveTo>
                  <a:lnTo>
                    <a:pt x="2905126" y="0"/>
                  </a:lnTo>
                  <a:lnTo>
                    <a:pt x="290512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860" r="0" b="-17286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29051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TP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235678" y="4473178"/>
            <a:ext cx="8579644" cy="4674394"/>
          </a:xfrm>
          <a:custGeom>
            <a:avLst/>
            <a:gdLst/>
            <a:ahLst/>
            <a:cxnLst/>
            <a:rect r="r" b="b" t="t" l="l"/>
            <a:pathLst>
              <a:path h="4674394" w="8579644">
                <a:moveTo>
                  <a:pt x="0" y="0"/>
                </a:moveTo>
                <a:lnTo>
                  <a:pt x="8579644" y="0"/>
                </a:lnTo>
                <a:lnTo>
                  <a:pt x="8579644" y="4674394"/>
                </a:lnTo>
                <a:lnTo>
                  <a:pt x="0" y="467439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471422" y="4726781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882188" y="4679156"/>
            <a:ext cx="1190625" cy="333375"/>
            <a:chOff x="0" y="0"/>
            <a:chExt cx="1587500" cy="4445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87500" cy="444500"/>
            </a:xfrm>
            <a:custGeom>
              <a:avLst/>
              <a:gdLst/>
              <a:ahLst/>
              <a:cxnLst/>
              <a:rect r="r" b="b" t="t" l="l"/>
              <a:pathLst>
                <a:path h="444500" w="1587500">
                  <a:moveTo>
                    <a:pt x="0" y="0"/>
                  </a:moveTo>
                  <a:lnTo>
                    <a:pt x="1587500" y="0"/>
                  </a:lnTo>
                  <a:lnTo>
                    <a:pt x="1587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1587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Curva ROC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41656" y="5203031"/>
            <a:ext cx="8167688" cy="3048000"/>
            <a:chOff x="0" y="0"/>
            <a:chExt cx="10890250" cy="4064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890250" cy="4064000"/>
            </a:xfrm>
            <a:custGeom>
              <a:avLst/>
              <a:gdLst/>
              <a:ahLst/>
              <a:cxnLst/>
              <a:rect r="r" b="b" t="t" l="l"/>
              <a:pathLst>
                <a:path h="4064000" w="10890250">
                  <a:moveTo>
                    <a:pt x="127000" y="0"/>
                  </a:moveTo>
                  <a:lnTo>
                    <a:pt x="10763250" y="0"/>
                  </a:lnTo>
                  <a:cubicBezTo>
                    <a:pt x="10833354" y="0"/>
                    <a:pt x="10890250" y="56896"/>
                    <a:pt x="10890250" y="127000"/>
                  </a:cubicBezTo>
                  <a:lnTo>
                    <a:pt x="10890250" y="3937000"/>
                  </a:lnTo>
                  <a:cubicBezTo>
                    <a:pt x="10890250" y="4007104"/>
                    <a:pt x="10833354" y="4064000"/>
                    <a:pt x="10763250" y="4064000"/>
                  </a:cubicBezTo>
                  <a:lnTo>
                    <a:pt x="127000" y="4064000"/>
                  </a:lnTo>
                  <a:cubicBezTo>
                    <a:pt x="56896" y="4064000"/>
                    <a:pt x="0" y="4007104"/>
                    <a:pt x="0" y="3937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F111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234852" y="5459016"/>
            <a:ext cx="4581306" cy="190500"/>
            <a:chOff x="0" y="0"/>
            <a:chExt cx="6108408" cy="254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108402" cy="254000"/>
            </a:xfrm>
            <a:custGeom>
              <a:avLst/>
              <a:gdLst/>
              <a:ahLst/>
              <a:cxnLst/>
              <a:rect r="r" b="b" t="t" l="l"/>
              <a:pathLst>
                <a:path h="254000" w="6108402">
                  <a:moveTo>
                    <a:pt x="0" y="0"/>
                  </a:moveTo>
                  <a:lnTo>
                    <a:pt x="6108402" y="0"/>
                  </a:lnTo>
                  <a:lnTo>
                    <a:pt x="6108402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8592" r="0" b="-41859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6108408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Tasa de Verdaderos Positivos (TPR) vs Tasa de Falsos Positivos (FPR)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9628584" y="5790250"/>
            <a:ext cx="7630716" cy="1872125"/>
          </a:xfrm>
          <a:custGeom>
            <a:avLst/>
            <a:gdLst/>
            <a:ahLst/>
            <a:cxnLst/>
            <a:rect r="r" b="b" t="t" l="l"/>
            <a:pathLst>
              <a:path h="1872125" w="7630716">
                <a:moveTo>
                  <a:pt x="0" y="0"/>
                </a:moveTo>
                <a:lnTo>
                  <a:pt x="7630716" y="0"/>
                </a:lnTo>
                <a:lnTo>
                  <a:pt x="7630716" y="1872125"/>
                </a:lnTo>
                <a:lnTo>
                  <a:pt x="0" y="187212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 descr="preencoded.png"/>
          <p:cNvSpPr/>
          <p:nvPr/>
        </p:nvSpPr>
        <p:spPr>
          <a:xfrm flipH="false" flipV="false" rot="0">
            <a:off x="9739312" y="5430739"/>
            <a:ext cx="7283768" cy="2189261"/>
          </a:xfrm>
          <a:custGeom>
            <a:avLst/>
            <a:gdLst/>
            <a:ahLst/>
            <a:cxnLst/>
            <a:rect r="r" b="b" t="t" l="l"/>
            <a:pathLst>
              <a:path h="2189261" w="7283768">
                <a:moveTo>
                  <a:pt x="0" y="0"/>
                </a:moveTo>
                <a:lnTo>
                  <a:pt x="7283768" y="0"/>
                </a:lnTo>
                <a:lnTo>
                  <a:pt x="7283768" y="2189261"/>
                </a:lnTo>
                <a:lnTo>
                  <a:pt x="0" y="218926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-350" b="-25568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583295" y="7870031"/>
            <a:ext cx="1250156" cy="190500"/>
            <a:chOff x="0" y="0"/>
            <a:chExt cx="1666875" cy="254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66876" cy="254000"/>
            </a:xfrm>
            <a:custGeom>
              <a:avLst/>
              <a:gdLst/>
              <a:ahLst/>
              <a:cxnLst/>
              <a:rect r="r" b="b" t="t" l="l"/>
              <a:pathLst>
                <a:path h="254000" w="1666876">
                  <a:moveTo>
                    <a:pt x="0" y="0"/>
                  </a:moveTo>
                  <a:lnTo>
                    <a:pt x="1666876" y="0"/>
                  </a:lnTo>
                  <a:lnTo>
                    <a:pt x="16668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6668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FF88"/>
                  </a:solidFill>
                  <a:latin typeface="Arimo"/>
                  <a:ea typeface="Arimo"/>
                  <a:cs typeface="Arimo"/>
                  <a:sym typeface="Arimo"/>
                </a:rPr>
                <a:t>— Random Forest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050088" y="7870031"/>
            <a:ext cx="2488406" cy="190500"/>
            <a:chOff x="0" y="0"/>
            <a:chExt cx="3317875" cy="254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317876" cy="254000"/>
            </a:xfrm>
            <a:custGeom>
              <a:avLst/>
              <a:gdLst/>
              <a:ahLst/>
              <a:cxnLst/>
              <a:rect r="r" b="b" t="t" l="l"/>
              <a:pathLst>
                <a:path h="254000" w="3317876">
                  <a:moveTo>
                    <a:pt x="0" y="0"/>
                  </a:moveTo>
                  <a:lnTo>
                    <a:pt x="3317876" y="0"/>
                  </a:lnTo>
                  <a:lnTo>
                    <a:pt x="33178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523" r="0" b="-20452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3178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- - Clasificador Aleatorio (AUC=0.50)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9438084" y="8390334"/>
            <a:ext cx="8174831" cy="554831"/>
          </a:xfrm>
          <a:custGeom>
            <a:avLst/>
            <a:gdLst/>
            <a:ahLst/>
            <a:cxnLst/>
            <a:rect r="r" b="b" t="t" l="l"/>
            <a:pathLst>
              <a:path h="554831" w="8174831">
                <a:moveTo>
                  <a:pt x="0" y="0"/>
                </a:moveTo>
                <a:lnTo>
                  <a:pt x="8174832" y="0"/>
                </a:lnTo>
                <a:lnTo>
                  <a:pt x="8174832" y="554832"/>
                </a:lnTo>
                <a:lnTo>
                  <a:pt x="0" y="55483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9620250" y="8590359"/>
            <a:ext cx="166688" cy="166688"/>
            <a:chOff x="0" y="0"/>
            <a:chExt cx="222250" cy="22225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2250" cy="222250"/>
            </a:xfrm>
            <a:custGeom>
              <a:avLst/>
              <a:gdLst/>
              <a:ahLst/>
              <a:cxnLst/>
              <a:rect r="r" b="b" t="t" l="l"/>
              <a:pathLst>
                <a:path h="222250" w="222250">
                  <a:moveTo>
                    <a:pt x="111125" y="222250"/>
                  </a:moveTo>
                  <a:cubicBezTo>
                    <a:pt x="172466" y="222250"/>
                    <a:pt x="222250" y="172466"/>
                    <a:pt x="222250" y="111125"/>
                  </a:cubicBezTo>
                  <a:cubicBezTo>
                    <a:pt x="222250" y="49784"/>
                    <a:pt x="172466" y="0"/>
                    <a:pt x="111125" y="0"/>
                  </a:cubicBezTo>
                  <a:cubicBezTo>
                    <a:pt x="49784" y="0"/>
                    <a:pt x="0" y="49784"/>
                    <a:pt x="0" y="111125"/>
                  </a:cubicBezTo>
                  <a:cubicBezTo>
                    <a:pt x="0" y="172466"/>
                    <a:pt x="49784" y="222250"/>
                    <a:pt x="111125" y="222250"/>
                  </a:cubicBezTo>
                  <a:close/>
                  <a:moveTo>
                    <a:pt x="147701" y="92329"/>
                  </a:moveTo>
                  <a:lnTo>
                    <a:pt x="113030" y="147955"/>
                  </a:lnTo>
                  <a:cubicBezTo>
                    <a:pt x="111252" y="150876"/>
                    <a:pt x="108077" y="152654"/>
                    <a:pt x="104648" y="152908"/>
                  </a:cubicBezTo>
                  <a:cubicBezTo>
                    <a:pt x="101219" y="153162"/>
                    <a:pt x="97917" y="151511"/>
                    <a:pt x="95885" y="148717"/>
                  </a:cubicBezTo>
                  <a:lnTo>
                    <a:pt x="75057" y="120904"/>
                  </a:lnTo>
                  <a:cubicBezTo>
                    <a:pt x="71628" y="116332"/>
                    <a:pt x="72517" y="109855"/>
                    <a:pt x="77089" y="106299"/>
                  </a:cubicBezTo>
                  <a:cubicBezTo>
                    <a:pt x="81661" y="102743"/>
                    <a:pt x="88138" y="103759"/>
                    <a:pt x="91694" y="108331"/>
                  </a:cubicBezTo>
                  <a:lnTo>
                    <a:pt x="103378" y="123952"/>
                  </a:lnTo>
                  <a:lnTo>
                    <a:pt x="130048" y="81280"/>
                  </a:lnTo>
                  <a:cubicBezTo>
                    <a:pt x="133096" y="76454"/>
                    <a:pt x="139573" y="74930"/>
                    <a:pt x="144399" y="77978"/>
                  </a:cubicBezTo>
                  <a:cubicBezTo>
                    <a:pt x="149225" y="81026"/>
                    <a:pt x="150749" y="87503"/>
                    <a:pt x="147701" y="92329"/>
                  </a:cubicBez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870281" y="8548688"/>
            <a:ext cx="7667625" cy="238125"/>
            <a:chOff x="0" y="0"/>
            <a:chExt cx="10223500" cy="3175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223500" cy="317500"/>
            </a:xfrm>
            <a:custGeom>
              <a:avLst/>
              <a:gdLst/>
              <a:ahLst/>
              <a:cxnLst/>
              <a:rect r="r" b="b" t="t" l="l"/>
              <a:pathLst>
                <a:path h="3175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7418" r="0" b="-57741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1022350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AUC = 0.75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: El modelo tiene </a:t>
              </a: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capacidad discriminativa moderada-buena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472678" y="9330928"/>
            <a:ext cx="17342644" cy="554831"/>
          </a:xfrm>
          <a:custGeom>
            <a:avLst/>
            <a:gdLst/>
            <a:ahLst/>
            <a:cxnLst/>
            <a:rect r="r" b="b" t="t" l="l"/>
            <a:pathLst>
              <a:path h="554831" w="17342644">
                <a:moveTo>
                  <a:pt x="0" y="0"/>
                </a:moveTo>
                <a:lnTo>
                  <a:pt x="17342644" y="0"/>
                </a:lnTo>
                <a:lnTo>
                  <a:pt x="17342644" y="554831"/>
                </a:lnTo>
                <a:lnTo>
                  <a:pt x="0" y="55483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5458920" y="9530953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8" y="0"/>
                </a:lnTo>
                <a:lnTo>
                  <a:pt x="16668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863203" y="9489281"/>
            <a:ext cx="16835438" cy="238125"/>
            <a:chOff x="0" y="0"/>
            <a:chExt cx="22447250" cy="3175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447250" cy="317500"/>
            </a:xfrm>
            <a:custGeom>
              <a:avLst/>
              <a:gdLst/>
              <a:ahLst/>
              <a:cxnLst/>
              <a:rect r="r" b="b" t="t" l="l"/>
              <a:pathLst>
                <a:path h="317500" w="22447250">
                  <a:moveTo>
                    <a:pt x="0" y="0"/>
                  </a:moveTo>
                  <a:lnTo>
                    <a:pt x="22447250" y="0"/>
                  </a:lnTo>
                  <a:lnTo>
                    <a:pt x="22447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7592" r="0" b="-132759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22447250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Interpretación: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Misma accuracy general (68%), pero </a:t>
              </a:r>
              <a:r>
                <a:rPr lang="en-US" sz="1312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perfiles de error distintos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entre modelos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1975" y="561975"/>
            <a:ext cx="1881721" cy="371827"/>
          </a:xfrm>
          <a:custGeom>
            <a:avLst/>
            <a:gdLst/>
            <a:ahLst/>
            <a:cxnLst/>
            <a:rect r="r" b="b" t="t" l="l"/>
            <a:pathLst>
              <a:path h="371827" w="1881721">
                <a:moveTo>
                  <a:pt x="0" y="0"/>
                </a:moveTo>
                <a:lnTo>
                  <a:pt x="1881721" y="0"/>
                </a:lnTo>
                <a:lnTo>
                  <a:pt x="1881721" y="371827"/>
                </a:lnTo>
                <a:lnTo>
                  <a:pt x="0" y="371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4442" y="564442"/>
            <a:ext cx="1933223" cy="338667"/>
            <a:chOff x="0" y="0"/>
            <a:chExt cx="2577630" cy="4515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77630" cy="451551"/>
            </a:xfrm>
            <a:custGeom>
              <a:avLst/>
              <a:gdLst/>
              <a:ahLst/>
              <a:cxnLst/>
              <a:rect r="r" b="b" t="t" l="l"/>
              <a:pathLst>
                <a:path h="451551" w="2577630">
                  <a:moveTo>
                    <a:pt x="0" y="0"/>
                  </a:moveTo>
                  <a:lnTo>
                    <a:pt x="2577630" y="0"/>
                  </a:lnTo>
                  <a:lnTo>
                    <a:pt x="2577630" y="451551"/>
                  </a:lnTo>
                  <a:lnTo>
                    <a:pt x="0" y="4515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77630" cy="480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0"/>
                </a:lnSpc>
              </a:pPr>
              <a:r>
                <a:rPr lang="en-US" sz="1333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15184" y="606781"/>
            <a:ext cx="1030110" cy="282226"/>
            <a:chOff x="0" y="0"/>
            <a:chExt cx="1373480" cy="376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3482" cy="376296"/>
            </a:xfrm>
            <a:custGeom>
              <a:avLst/>
              <a:gdLst/>
              <a:ahLst/>
              <a:cxnLst/>
              <a:rect r="r" b="b" t="t" l="l"/>
              <a:pathLst>
                <a:path h="376296" w="1373482">
                  <a:moveTo>
                    <a:pt x="0" y="0"/>
                  </a:moveTo>
                  <a:lnTo>
                    <a:pt x="1373482" y="0"/>
                  </a:lnTo>
                  <a:lnTo>
                    <a:pt x="1373482" y="376296"/>
                  </a:lnTo>
                  <a:lnTo>
                    <a:pt x="0" y="3762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19" r="0" b="-211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73480" cy="423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9"/>
                </a:lnSpc>
              </a:pPr>
              <a:r>
                <a:rPr lang="en-US" sz="155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4442" y="1157107"/>
            <a:ext cx="17413110" cy="564442"/>
            <a:chOff x="0" y="0"/>
            <a:chExt cx="23217480" cy="7525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17482" cy="752592"/>
            </a:xfrm>
            <a:custGeom>
              <a:avLst/>
              <a:gdLst/>
              <a:ahLst/>
              <a:cxnLst/>
              <a:rect r="r" b="b" t="t" l="l"/>
              <a:pathLst>
                <a:path h="752592" w="23217482">
                  <a:moveTo>
                    <a:pt x="0" y="0"/>
                  </a:moveTo>
                  <a:lnTo>
                    <a:pt x="23217482" y="0"/>
                  </a:lnTo>
                  <a:lnTo>
                    <a:pt x="23217482" y="752592"/>
                  </a:lnTo>
                  <a:lnTo>
                    <a:pt x="0" y="752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1114" r="0" b="-5511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3217480" cy="724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4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Comparación de Modelos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1975" y="1944862"/>
            <a:ext cx="8471602" cy="5607053"/>
          </a:xfrm>
          <a:custGeom>
            <a:avLst/>
            <a:gdLst/>
            <a:ahLst/>
            <a:cxnLst/>
            <a:rect r="r" b="b" t="t" l="l"/>
            <a:pathLst>
              <a:path h="5607053" w="8471602">
                <a:moveTo>
                  <a:pt x="0" y="0"/>
                </a:moveTo>
                <a:lnTo>
                  <a:pt x="8471602" y="0"/>
                </a:lnTo>
                <a:lnTo>
                  <a:pt x="8471602" y="5607053"/>
                </a:lnTo>
                <a:lnTo>
                  <a:pt x="0" y="5607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7250" y="2243671"/>
            <a:ext cx="246945" cy="282226"/>
          </a:xfrm>
          <a:custGeom>
            <a:avLst/>
            <a:gdLst/>
            <a:ahLst/>
            <a:cxnLst/>
            <a:rect r="r" b="b" t="t" l="l"/>
            <a:pathLst>
              <a:path h="282226" w="246945">
                <a:moveTo>
                  <a:pt x="0" y="0"/>
                </a:moveTo>
                <a:lnTo>
                  <a:pt x="246945" y="0"/>
                </a:lnTo>
                <a:lnTo>
                  <a:pt x="246945" y="282226"/>
                </a:lnTo>
                <a:lnTo>
                  <a:pt x="0" y="28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26442" y="2187226"/>
            <a:ext cx="2314223" cy="395107"/>
            <a:chOff x="0" y="0"/>
            <a:chExt cx="3085630" cy="5268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85630" cy="526814"/>
            </a:xfrm>
            <a:custGeom>
              <a:avLst/>
              <a:gdLst/>
              <a:ahLst/>
              <a:cxnLst/>
              <a:rect r="r" b="b" t="t" l="l"/>
              <a:pathLst>
                <a:path h="526814" w="3085630">
                  <a:moveTo>
                    <a:pt x="0" y="0"/>
                  </a:moveTo>
                  <a:lnTo>
                    <a:pt x="3085630" y="0"/>
                  </a:lnTo>
                  <a:lnTo>
                    <a:pt x="3085630" y="526814"/>
                  </a:lnTo>
                  <a:lnTo>
                    <a:pt x="0" y="5268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127" r="0" b="-641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085630" cy="603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Tabla Comparativa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01862" y="2805646"/>
            <a:ext cx="7991827" cy="3730276"/>
          </a:xfrm>
          <a:custGeom>
            <a:avLst/>
            <a:gdLst/>
            <a:ahLst/>
            <a:cxnLst/>
            <a:rect r="r" b="b" t="t" l="l"/>
            <a:pathLst>
              <a:path h="3730276" w="7991827">
                <a:moveTo>
                  <a:pt x="0" y="0"/>
                </a:moveTo>
                <a:lnTo>
                  <a:pt x="7991828" y="0"/>
                </a:lnTo>
                <a:lnTo>
                  <a:pt x="7991828" y="3730276"/>
                </a:lnTo>
                <a:lnTo>
                  <a:pt x="0" y="3730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801862" y="3519307"/>
          <a:ext cx="7905750" cy="1828800"/>
        </p:xfrm>
        <a:graphic>
          <a:graphicData uri="http://schemas.openxmlformats.org/drawingml/2006/table">
            <a:tbl>
              <a:tblPr/>
              <a:tblGrid>
                <a:gridCol w="2588608"/>
                <a:gridCol w="1217346"/>
                <a:gridCol w="2378722"/>
                <a:gridCol w="1721075"/>
              </a:tblGrid>
              <a:tr h="443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Métrica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Árbol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Diferencia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61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Accuracy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0.66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0.68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&gt;RF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61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Precision clase 1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0.79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0.90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&gt;RF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461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 clase 1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0.59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0.52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&gt;A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name="Freeform 19" id="19"/>
          <p:cNvSpPr/>
          <p:nvPr/>
        </p:nvSpPr>
        <p:spPr>
          <a:xfrm flipH="false" flipV="false" rot="0">
            <a:off x="9254423" y="1944862"/>
            <a:ext cx="8471602" cy="5607053"/>
          </a:xfrm>
          <a:custGeom>
            <a:avLst/>
            <a:gdLst/>
            <a:ahLst/>
            <a:cxnLst/>
            <a:rect r="r" b="b" t="t" l="l"/>
            <a:pathLst>
              <a:path h="5607053" w="8471602">
                <a:moveTo>
                  <a:pt x="0" y="0"/>
                </a:moveTo>
                <a:lnTo>
                  <a:pt x="8471602" y="0"/>
                </a:lnTo>
                <a:lnTo>
                  <a:pt x="8471602" y="5607053"/>
                </a:lnTo>
                <a:lnTo>
                  <a:pt x="0" y="56070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96777" y="2243671"/>
            <a:ext cx="352777" cy="282226"/>
          </a:xfrm>
          <a:custGeom>
            <a:avLst/>
            <a:gdLst/>
            <a:ahLst/>
            <a:cxnLst/>
            <a:rect r="r" b="b" t="t" l="l"/>
            <a:pathLst>
              <a:path h="282226" w="352777">
                <a:moveTo>
                  <a:pt x="0" y="0"/>
                </a:moveTo>
                <a:lnTo>
                  <a:pt x="352778" y="0"/>
                </a:lnTo>
                <a:lnTo>
                  <a:pt x="352778" y="282226"/>
                </a:lnTo>
                <a:lnTo>
                  <a:pt x="0" y="282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018890" y="2187226"/>
            <a:ext cx="2765774" cy="395107"/>
            <a:chOff x="0" y="0"/>
            <a:chExt cx="3687699" cy="5268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87704" cy="526814"/>
            </a:xfrm>
            <a:custGeom>
              <a:avLst/>
              <a:gdLst/>
              <a:ahLst/>
              <a:cxnLst/>
              <a:rect r="r" b="b" t="t" l="l"/>
              <a:pathLst>
                <a:path h="526814" w="3687704">
                  <a:moveTo>
                    <a:pt x="0" y="0"/>
                  </a:moveTo>
                  <a:lnTo>
                    <a:pt x="3687704" y="0"/>
                  </a:lnTo>
                  <a:lnTo>
                    <a:pt x="3687704" y="526814"/>
                  </a:lnTo>
                  <a:lnTo>
                    <a:pt x="0" y="5268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3687699" cy="603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Trade-offs de Negocio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494310" y="2805646"/>
            <a:ext cx="7991827" cy="2079269"/>
          </a:xfrm>
          <a:custGeom>
            <a:avLst/>
            <a:gdLst/>
            <a:ahLst/>
            <a:cxnLst/>
            <a:rect r="r" b="b" t="t" l="l"/>
            <a:pathLst>
              <a:path h="2079269" w="7991827">
                <a:moveTo>
                  <a:pt x="0" y="0"/>
                </a:moveTo>
                <a:lnTo>
                  <a:pt x="7991828" y="0"/>
                </a:lnTo>
                <a:lnTo>
                  <a:pt x="7991828" y="2079269"/>
                </a:lnTo>
                <a:lnTo>
                  <a:pt x="0" y="207926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9510890" y="2822222"/>
          <a:ext cx="7905750" cy="2000250"/>
        </p:xfrm>
        <a:graphic>
          <a:graphicData uri="http://schemas.openxmlformats.org/drawingml/2006/table">
            <a:tbl>
              <a:tblPr/>
              <a:tblGrid>
                <a:gridCol w="2093955"/>
                <a:gridCol w="2948630"/>
                <a:gridCol w="1089712"/>
                <a:gridCol w="1773452"/>
              </a:tblGrid>
              <a:tr h="66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 de Error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Descripción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439"/>
                        </a:lnSpc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439"/>
                        </a:lnSpc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679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E8E8E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Falso Positivo (FP)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Predice retraso, llega a tiempo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677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628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66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E8E8E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Falso Negativo (FN)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Predice a tiempo, se retrasa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817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E8E8E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78</a:t>
                      </a:r>
                      <a:endParaRPr lang="en-US" sz="1100"/>
                    </a:p>
                  </a:txBody>
                  <a:tcPr marL="75259" marR="75259" marT="75259" marB="7525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678" y="472678"/>
            <a:ext cx="1590675" cy="316706"/>
          </a:xfrm>
          <a:custGeom>
            <a:avLst/>
            <a:gdLst/>
            <a:ahLst/>
            <a:cxnLst/>
            <a:rect r="r" b="b" t="t" l="l"/>
            <a:pathLst>
              <a:path h="316706" w="1590675">
                <a:moveTo>
                  <a:pt x="0" y="0"/>
                </a:moveTo>
                <a:lnTo>
                  <a:pt x="1590675" y="0"/>
                </a:lnTo>
                <a:lnTo>
                  <a:pt x="1590675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1631156" cy="285750"/>
            <a:chOff x="0" y="0"/>
            <a:chExt cx="2174875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74876">
                  <a:moveTo>
                    <a:pt x="0" y="0"/>
                  </a:moveTo>
                  <a:lnTo>
                    <a:pt x="2174876" y="0"/>
                  </a:lnTo>
                  <a:lnTo>
                    <a:pt x="217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227" r="0" b="-6122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7487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5"/>
                </a:lnSpc>
              </a:pPr>
              <a:r>
                <a:rPr lang="en-US" sz="1125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CRISP-DM · Fase 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07219" y="511969"/>
            <a:ext cx="1012031" cy="238125"/>
            <a:chOff x="0" y="0"/>
            <a:chExt cx="1349375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9376" cy="317500"/>
            </a:xfrm>
            <a:custGeom>
              <a:avLst/>
              <a:gdLst/>
              <a:ahLst/>
              <a:cxnLst/>
              <a:rect r="r" b="b" t="t" l="l"/>
              <a:pathLst>
                <a:path h="317500" w="1349376">
                  <a:moveTo>
                    <a:pt x="0" y="0"/>
                  </a:moveTo>
                  <a:lnTo>
                    <a:pt x="1349376" y="0"/>
                  </a:lnTo>
                  <a:lnTo>
                    <a:pt x="13493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93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Deployment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76312"/>
            <a:ext cx="17549812" cy="476250"/>
            <a:chOff x="0" y="0"/>
            <a:chExt cx="2339975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399750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33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Interpretación y Decisiones Estratégicas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69106" y="2596667"/>
            <a:ext cx="8586788" cy="5395912"/>
          </a:xfrm>
          <a:custGeom>
            <a:avLst/>
            <a:gdLst/>
            <a:ahLst/>
            <a:cxnLst/>
            <a:rect r="r" b="b" t="t" l="l"/>
            <a:pathLst>
              <a:path h="5395912" w="8586788">
                <a:moveTo>
                  <a:pt x="0" y="0"/>
                </a:moveTo>
                <a:lnTo>
                  <a:pt x="8586788" y="0"/>
                </a:lnTo>
                <a:lnTo>
                  <a:pt x="8586788" y="5395913"/>
                </a:lnTo>
                <a:lnTo>
                  <a:pt x="0" y="5395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3419" y="2834792"/>
            <a:ext cx="585788" cy="585788"/>
          </a:xfrm>
          <a:custGeom>
            <a:avLst/>
            <a:gdLst/>
            <a:ahLst/>
            <a:cxnLst/>
            <a:rect r="r" b="b" t="t" l="l"/>
            <a:pathLst>
              <a:path h="585788" w="585788">
                <a:moveTo>
                  <a:pt x="0" y="0"/>
                </a:moveTo>
                <a:lnTo>
                  <a:pt x="585787" y="0"/>
                </a:lnTo>
                <a:lnTo>
                  <a:pt x="585787" y="585788"/>
                </a:lnTo>
                <a:lnTo>
                  <a:pt x="0" y="585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3438" y="298481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04938" y="2818124"/>
            <a:ext cx="2738438" cy="333375"/>
            <a:chOff x="0" y="0"/>
            <a:chExt cx="3651250" cy="44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1250" cy="444500"/>
            </a:xfrm>
            <a:custGeom>
              <a:avLst/>
              <a:gdLst/>
              <a:ahLst/>
              <a:cxnLst/>
              <a:rect r="r" b="b" t="t" l="l"/>
              <a:pathLst>
                <a:path h="444500" w="3651250">
                  <a:moveTo>
                    <a:pt x="0" y="0"/>
                  </a:moveTo>
                  <a:lnTo>
                    <a:pt x="3651250" y="0"/>
                  </a:lnTo>
                  <a:lnTo>
                    <a:pt x="36512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365125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Regresión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4938" y="3193170"/>
            <a:ext cx="2706348" cy="220266"/>
            <a:chOff x="0" y="0"/>
            <a:chExt cx="3608464" cy="293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8462" cy="293688"/>
            </a:xfrm>
            <a:custGeom>
              <a:avLst/>
              <a:gdLst/>
              <a:ahLst/>
              <a:cxnLst/>
              <a:rect r="r" b="b" t="t" l="l"/>
              <a:pathLst>
                <a:path h="293688" w="3608462">
                  <a:moveTo>
                    <a:pt x="0" y="0"/>
                  </a:moveTo>
                  <a:lnTo>
                    <a:pt x="3608462" y="0"/>
                  </a:lnTo>
                  <a:lnTo>
                    <a:pt x="3608462" y="293688"/>
                  </a:lnTo>
                  <a:lnTo>
                    <a:pt x="0" y="293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407" r="0" b="-1894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08464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FF6B35"/>
                  </a:solidFill>
                  <a:latin typeface="Arimo"/>
                  <a:ea typeface="Arimo"/>
                  <a:cs typeface="Arimo"/>
                  <a:sym typeface="Arimo"/>
                </a:rPr>
                <a:t>No recomendado para producción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6991" y="3624177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9156" y="383015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78719" y="3782530"/>
            <a:ext cx="1500188" cy="285750"/>
            <a:chOff x="0" y="0"/>
            <a:chExt cx="200025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2000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 implementar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45344" y="4163530"/>
            <a:ext cx="7917656" cy="266407"/>
            <a:chOff x="0" y="0"/>
            <a:chExt cx="10556875" cy="3552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56876" cy="355209"/>
            </a:xfrm>
            <a:custGeom>
              <a:avLst/>
              <a:gdLst/>
              <a:ahLst/>
              <a:cxnLst/>
              <a:rect r="r" b="b" t="t" l="l"/>
              <a:pathLst>
                <a:path h="355209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55209"/>
                  </a:lnTo>
                  <a:lnTo>
                    <a:pt x="0" y="3552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407" r="0" b="-5237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556875" cy="402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R² = 0.11— desempeño insuficiente para aplicación productiva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86991" y="4695739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9156" y="4901717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78719" y="4854092"/>
            <a:ext cx="1131094" cy="285750"/>
            <a:chOff x="0" y="0"/>
            <a:chExt cx="1508125" cy="38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08126" cy="381000"/>
            </a:xfrm>
            <a:custGeom>
              <a:avLst/>
              <a:gdLst/>
              <a:ahLst/>
              <a:cxnLst/>
              <a:rect r="r" b="b" t="t" l="l"/>
              <a:pathLst>
                <a:path h="381000" w="1508126">
                  <a:moveTo>
                    <a:pt x="0" y="0"/>
                  </a:moveTo>
                  <a:lnTo>
                    <a:pt x="1508126" y="0"/>
                  </a:lnTo>
                  <a:lnTo>
                    <a:pt x="150812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50812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Diagnóstico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45344" y="5235092"/>
            <a:ext cx="7917656" cy="266407"/>
            <a:chOff x="0" y="0"/>
            <a:chExt cx="10556875" cy="3552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56876" cy="355209"/>
            </a:xfrm>
            <a:custGeom>
              <a:avLst/>
              <a:gdLst/>
              <a:ahLst/>
              <a:cxnLst/>
              <a:rect r="r" b="b" t="t" l="l"/>
              <a:pathLst>
                <a:path h="355209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55209"/>
                  </a:lnTo>
                  <a:lnTo>
                    <a:pt x="0" y="3552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407" r="0" b="-523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556875" cy="402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Limitación informativa: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el dataset no contiene variables de precio (categoría, marca, tipo)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86991" y="5767302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869156" y="5973280"/>
            <a:ext cx="190500" cy="190500"/>
            <a:chOff x="0" y="0"/>
            <a:chExt cx="254000" cy="25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31655"/>
              <a:ext cx="253968" cy="190690"/>
            </a:xfrm>
            <a:custGeom>
              <a:avLst/>
              <a:gdLst/>
              <a:ahLst/>
              <a:cxnLst/>
              <a:rect r="r" b="b" t="t" l="l"/>
              <a:pathLst>
                <a:path h="190690" w="253968">
                  <a:moveTo>
                    <a:pt x="249301" y="106521"/>
                  </a:moveTo>
                  <a:cubicBezTo>
                    <a:pt x="255524" y="100298"/>
                    <a:pt x="255524" y="90265"/>
                    <a:pt x="249301" y="84042"/>
                  </a:cubicBezTo>
                  <a:lnTo>
                    <a:pt x="169926" y="4667"/>
                  </a:lnTo>
                  <a:cubicBezTo>
                    <a:pt x="163703" y="-1556"/>
                    <a:pt x="153670" y="-1556"/>
                    <a:pt x="147447" y="4667"/>
                  </a:cubicBezTo>
                  <a:cubicBezTo>
                    <a:pt x="141224" y="10890"/>
                    <a:pt x="141224" y="20923"/>
                    <a:pt x="147447" y="27146"/>
                  </a:cubicBezTo>
                  <a:lnTo>
                    <a:pt x="199771" y="79470"/>
                  </a:lnTo>
                  <a:lnTo>
                    <a:pt x="15875" y="79470"/>
                  </a:lnTo>
                  <a:cubicBezTo>
                    <a:pt x="7112" y="79470"/>
                    <a:pt x="0" y="86582"/>
                    <a:pt x="0" y="95345"/>
                  </a:cubicBezTo>
                  <a:cubicBezTo>
                    <a:pt x="0" y="104108"/>
                    <a:pt x="7112" y="111220"/>
                    <a:pt x="15875" y="111220"/>
                  </a:cubicBezTo>
                  <a:lnTo>
                    <a:pt x="199771" y="111220"/>
                  </a:lnTo>
                  <a:lnTo>
                    <a:pt x="147447" y="163544"/>
                  </a:lnTo>
                  <a:cubicBezTo>
                    <a:pt x="141224" y="169767"/>
                    <a:pt x="141224" y="179800"/>
                    <a:pt x="147447" y="186023"/>
                  </a:cubicBezTo>
                  <a:cubicBezTo>
                    <a:pt x="153670" y="192246"/>
                    <a:pt x="163703" y="192246"/>
                    <a:pt x="169926" y="186023"/>
                  </a:cubicBezTo>
                  <a:lnTo>
                    <a:pt x="249301" y="106648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78719" y="5925655"/>
            <a:ext cx="690562" cy="285750"/>
            <a:chOff x="0" y="0"/>
            <a:chExt cx="920750" cy="38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0750" cy="381000"/>
            </a:xfrm>
            <a:custGeom>
              <a:avLst/>
              <a:gdLst/>
              <a:ahLst/>
              <a:cxnLst/>
              <a:rect r="r" b="b" t="t" l="l"/>
              <a:pathLst>
                <a:path h="381000" w="920750">
                  <a:moveTo>
                    <a:pt x="0" y="0"/>
                  </a:moveTo>
                  <a:lnTo>
                    <a:pt x="920750" y="0"/>
                  </a:lnTo>
                  <a:lnTo>
                    <a:pt x="920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91" t="0" r="-309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207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Acción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45344" y="6306655"/>
            <a:ext cx="7917656" cy="238125"/>
            <a:chOff x="0" y="0"/>
            <a:chExt cx="10556875" cy="317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56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556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Incorporar </a:t>
              </a: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variables comerciales adicionales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686991" y="6838864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81062" y="7044842"/>
            <a:ext cx="166688" cy="190500"/>
          </a:xfrm>
          <a:custGeom>
            <a:avLst/>
            <a:gdLst/>
            <a:ahLst/>
            <a:cxnLst/>
            <a:rect r="r" b="b" t="t" l="l"/>
            <a:pathLst>
              <a:path h="190500" w="166688">
                <a:moveTo>
                  <a:pt x="0" y="0"/>
                </a:moveTo>
                <a:lnTo>
                  <a:pt x="166688" y="0"/>
                </a:lnTo>
                <a:lnTo>
                  <a:pt x="166688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78719" y="6997217"/>
            <a:ext cx="678656" cy="285750"/>
            <a:chOff x="0" y="0"/>
            <a:chExt cx="904875" cy="381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04876" cy="381000"/>
            </a:xfrm>
            <a:custGeom>
              <a:avLst/>
              <a:gdLst/>
              <a:ahLst/>
              <a:cxnLst/>
              <a:rect r="r" b="b" t="t" l="l"/>
              <a:pathLst>
                <a:path h="381000" w="904876">
                  <a:moveTo>
                    <a:pt x="0" y="0"/>
                  </a:moveTo>
                  <a:lnTo>
                    <a:pt x="904876" y="0"/>
                  </a:lnTo>
                  <a:lnTo>
                    <a:pt x="9048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90487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FF8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Probar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45344" y="7378217"/>
            <a:ext cx="7917656" cy="238125"/>
            <a:chOff x="0" y="0"/>
            <a:chExt cx="10556875" cy="317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56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556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Random Forest Regressor, SVR, Gradient Boosting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9232106" y="2596667"/>
            <a:ext cx="8586788" cy="5395912"/>
          </a:xfrm>
          <a:custGeom>
            <a:avLst/>
            <a:gdLst/>
            <a:ahLst/>
            <a:cxnLst/>
            <a:rect r="r" b="b" t="t" l="l"/>
            <a:pathLst>
              <a:path h="5395912" w="8586788">
                <a:moveTo>
                  <a:pt x="0" y="0"/>
                </a:moveTo>
                <a:lnTo>
                  <a:pt x="8586788" y="0"/>
                </a:lnTo>
                <a:lnTo>
                  <a:pt x="8586788" y="5395913"/>
                </a:lnTo>
                <a:lnTo>
                  <a:pt x="0" y="539591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446419" y="2834792"/>
            <a:ext cx="585788" cy="585788"/>
          </a:xfrm>
          <a:custGeom>
            <a:avLst/>
            <a:gdLst/>
            <a:ahLst/>
            <a:cxnLst/>
            <a:rect r="r" b="b" t="t" l="l"/>
            <a:pathLst>
              <a:path h="585788" w="585788">
                <a:moveTo>
                  <a:pt x="0" y="0"/>
                </a:moveTo>
                <a:lnTo>
                  <a:pt x="585787" y="0"/>
                </a:lnTo>
                <a:lnTo>
                  <a:pt x="585787" y="585788"/>
                </a:lnTo>
                <a:lnTo>
                  <a:pt x="0" y="5857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596438" y="2984811"/>
            <a:ext cx="285750" cy="285750"/>
            <a:chOff x="0" y="0"/>
            <a:chExt cx="381000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167938" y="2818124"/>
            <a:ext cx="2345531" cy="333375"/>
            <a:chOff x="0" y="0"/>
            <a:chExt cx="3127375" cy="444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27376" cy="444500"/>
            </a:xfrm>
            <a:custGeom>
              <a:avLst/>
              <a:gdLst/>
              <a:ahLst/>
              <a:cxnLst/>
              <a:rect r="r" b="b" t="t" l="l"/>
              <a:pathLst>
                <a:path h="444500" w="3127376">
                  <a:moveTo>
                    <a:pt x="0" y="0"/>
                  </a:moveTo>
                  <a:lnTo>
                    <a:pt x="3127376" y="0"/>
                  </a:lnTo>
                  <a:lnTo>
                    <a:pt x="3127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091" r="0" b="-870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312737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Clasificación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67938" y="3193170"/>
            <a:ext cx="2379445" cy="227409"/>
            <a:chOff x="0" y="0"/>
            <a:chExt cx="3072930" cy="2936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72928" cy="293688"/>
            </a:xfrm>
            <a:custGeom>
              <a:avLst/>
              <a:gdLst/>
              <a:ahLst/>
              <a:cxnLst/>
              <a:rect r="r" b="b" t="t" l="l"/>
              <a:pathLst>
                <a:path h="293688" w="3072928">
                  <a:moveTo>
                    <a:pt x="0" y="0"/>
                  </a:moveTo>
                  <a:lnTo>
                    <a:pt x="3072928" y="0"/>
                  </a:lnTo>
                  <a:lnTo>
                    <a:pt x="3072928" y="293688"/>
                  </a:lnTo>
                  <a:lnTo>
                    <a:pt x="0" y="293688"/>
                  </a:lnTo>
                  <a:close/>
                </a:path>
              </a:pathLst>
            </a:custGeom>
            <a:solidFill>
              <a:srgbClr val="FFDE59">
                <a:alpha val="0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072930" cy="34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FFDE59"/>
                  </a:solidFill>
                  <a:latin typeface="Arimo"/>
                  <a:ea typeface="Arimo"/>
                  <a:cs typeface="Arimo"/>
                  <a:sym typeface="Arimo"/>
                </a:rPr>
                <a:t>Valor estratégico confirmado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449991" y="3624177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9632156" y="383015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9941719" y="3830155"/>
            <a:ext cx="2310625" cy="304737"/>
            <a:chOff x="0" y="0"/>
            <a:chExt cx="3080833" cy="4063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80834" cy="406316"/>
            </a:xfrm>
            <a:custGeom>
              <a:avLst/>
              <a:gdLst/>
              <a:ahLst/>
              <a:cxnLst/>
              <a:rect r="r" b="b" t="t" l="l"/>
              <a:pathLst>
                <a:path h="406316" w="3080834">
                  <a:moveTo>
                    <a:pt x="0" y="0"/>
                  </a:moveTo>
                  <a:lnTo>
                    <a:pt x="3080834" y="0"/>
                  </a:lnTo>
                  <a:lnTo>
                    <a:pt x="3080834" y="406316"/>
                  </a:lnTo>
                  <a:lnTo>
                    <a:pt x="0" y="406316"/>
                  </a:lnTo>
                  <a:close/>
                </a:path>
              </a:pathLst>
            </a:custGeom>
            <a:solidFill>
              <a:srgbClr val="FFDE59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3080833" cy="47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FFDE5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Posible </a:t>
              </a:r>
              <a:r>
                <a:rPr lang="en-US" b="true" sz="1500">
                  <a:solidFill>
                    <a:srgbClr val="FFDE5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Valor estratégico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8344" y="4163530"/>
            <a:ext cx="7917656" cy="266407"/>
            <a:chOff x="0" y="0"/>
            <a:chExt cx="10556875" cy="35520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556876" cy="355209"/>
            </a:xfrm>
            <a:custGeom>
              <a:avLst/>
              <a:gdLst/>
              <a:ahLst/>
              <a:cxnLst/>
              <a:rect r="r" b="b" t="t" l="l"/>
              <a:pathLst>
                <a:path h="355209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55209"/>
                  </a:lnTo>
                  <a:lnTo>
                    <a:pt x="0" y="3552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407" r="0" b="-52379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556875" cy="402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Anticipa que los envios llegaran a tiempo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449991" y="4695739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9608344" y="4901717"/>
            <a:ext cx="238125" cy="190500"/>
          </a:xfrm>
          <a:custGeom>
            <a:avLst/>
            <a:gdLst/>
            <a:ahLst/>
            <a:cxnLst/>
            <a:rect r="r" b="b" t="t" l="l"/>
            <a:pathLst>
              <a:path h="190500" w="238125">
                <a:moveTo>
                  <a:pt x="0" y="0"/>
                </a:moveTo>
                <a:lnTo>
                  <a:pt x="238125" y="0"/>
                </a:lnTo>
                <a:lnTo>
                  <a:pt x="2381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9941719" y="4854092"/>
            <a:ext cx="2102445" cy="309563"/>
            <a:chOff x="0" y="0"/>
            <a:chExt cx="2587625" cy="381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87626" cy="381000"/>
            </a:xfrm>
            <a:custGeom>
              <a:avLst/>
              <a:gdLst/>
              <a:ahLst/>
              <a:cxnLst/>
              <a:rect r="r" b="b" t="t" l="l"/>
              <a:pathLst>
                <a:path h="381000" w="2587626">
                  <a:moveTo>
                    <a:pt x="0" y="0"/>
                  </a:moveTo>
                  <a:lnTo>
                    <a:pt x="2587626" y="0"/>
                  </a:lnTo>
                  <a:lnTo>
                    <a:pt x="258762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335" r="0" b="-823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258762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00D4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Acciones preventivas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08344" y="5235092"/>
            <a:ext cx="7917656" cy="266407"/>
            <a:chOff x="0" y="0"/>
            <a:chExt cx="10556875" cy="3552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556876" cy="355209"/>
            </a:xfrm>
            <a:custGeom>
              <a:avLst/>
              <a:gdLst/>
              <a:ahLst/>
              <a:cxnLst/>
              <a:rect r="r" b="b" t="t" l="l"/>
              <a:pathLst>
                <a:path h="355209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55209"/>
                  </a:lnTo>
                  <a:lnTo>
                    <a:pt x="0" y="3552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407" r="0" b="-52379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556875" cy="402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Priorización de envíos, reasignación de recursos, comunicación anticipada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9449991" y="5767302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9632156" y="5973280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9941719" y="5925655"/>
            <a:ext cx="1583531" cy="285750"/>
            <a:chOff x="0" y="0"/>
            <a:chExt cx="2111375" cy="381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11376" cy="381000"/>
            </a:xfrm>
            <a:custGeom>
              <a:avLst/>
              <a:gdLst/>
              <a:ahLst/>
              <a:cxnLst/>
              <a:rect r="r" b="b" t="t" l="l"/>
              <a:pathLst>
                <a:path h="381000" w="2111376">
                  <a:moveTo>
                    <a:pt x="0" y="0"/>
                  </a:moveTo>
                  <a:lnTo>
                    <a:pt x="2111376" y="0"/>
                  </a:lnTo>
                  <a:lnTo>
                    <a:pt x="21113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979" r="0" b="-5797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211137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FF6B3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Ajuste de umbral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08344" y="6306655"/>
            <a:ext cx="7917656" cy="238125"/>
            <a:chOff x="0" y="0"/>
            <a:chExt cx="10556875" cy="3175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556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0556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Ajustar </a:t>
              </a: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umbral de decisión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según prioridad de negocio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9449991" y="6838864"/>
            <a:ext cx="8151019" cy="935831"/>
          </a:xfrm>
          <a:custGeom>
            <a:avLst/>
            <a:gdLst/>
            <a:ahLst/>
            <a:cxnLst/>
            <a:rect r="r" b="b" t="t" l="l"/>
            <a:pathLst>
              <a:path h="935831" w="8151019">
                <a:moveTo>
                  <a:pt x="0" y="0"/>
                </a:moveTo>
                <a:lnTo>
                  <a:pt x="8151018" y="0"/>
                </a:lnTo>
                <a:lnTo>
                  <a:pt x="8151018" y="935831"/>
                </a:lnTo>
                <a:lnTo>
                  <a:pt x="0" y="93583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9620250" y="7044842"/>
            <a:ext cx="214312" cy="190500"/>
          </a:xfrm>
          <a:custGeom>
            <a:avLst/>
            <a:gdLst/>
            <a:ahLst/>
            <a:cxnLst/>
            <a:rect r="r" b="b" t="t" l="l"/>
            <a:pathLst>
              <a:path h="190500" w="214312">
                <a:moveTo>
                  <a:pt x="0" y="0"/>
                </a:moveTo>
                <a:lnTo>
                  <a:pt x="214312" y="0"/>
                </a:lnTo>
                <a:lnTo>
                  <a:pt x="214312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941719" y="6997217"/>
            <a:ext cx="1500188" cy="285750"/>
            <a:chOff x="0" y="0"/>
            <a:chExt cx="2000250" cy="381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00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66675"/>
              <a:ext cx="2000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FFDE5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Recomendación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08344" y="7378217"/>
            <a:ext cx="7917656" cy="238125"/>
            <a:chOff x="0" y="0"/>
            <a:chExt cx="10556875" cy="3175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56876" cy="317500"/>
            </a:xfrm>
            <a:custGeom>
              <a:avLst/>
              <a:gdLst/>
              <a:ahLst/>
              <a:cxnLst/>
              <a:rect r="r" b="b" t="t" l="l"/>
              <a:pathLst>
                <a:path h="317500" w="10556876">
                  <a:moveTo>
                    <a:pt x="0" y="0"/>
                  </a:moveTo>
                  <a:lnTo>
                    <a:pt x="10556876" y="0"/>
                  </a:lnTo>
                  <a:lnTo>
                    <a:pt x="105568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10556875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E8E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Random Forest</a:t>
              </a:r>
              <a:r>
                <a:rPr lang="en-US" sz="1312">
                  <a:solidFill>
                    <a:srgbClr val="E8E8E8"/>
                  </a:solidFill>
                  <a:latin typeface="Arimo"/>
                  <a:ea typeface="Arimo"/>
                  <a:cs typeface="Arimo"/>
                  <a:sym typeface="Arimo"/>
                </a:rPr>
                <a:t> preferido si se busca minimizar falsas promesas al cliente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static.vecteezy.com/22ccb0b44efd37f18bf9693c2351ca6078fa487c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-6250" t="0" r="-625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1117">
                    <a:alpha val="95000"/>
                  </a:srgbClr>
                </a:gs>
                <a:gs pos="50000">
                  <a:srgbClr val="0F1117">
                    <a:alpha val="90000"/>
                  </a:srgbClr>
                </a:gs>
                <a:gs pos="100000">
                  <a:srgbClr val="01FF88">
                    <a:alpha val="1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62632" y="3842816"/>
            <a:ext cx="5162736" cy="1694449"/>
            <a:chOff x="0" y="0"/>
            <a:chExt cx="6883647" cy="22592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3647" cy="2259265"/>
            </a:xfrm>
            <a:custGeom>
              <a:avLst/>
              <a:gdLst/>
              <a:ahLst/>
              <a:cxnLst/>
              <a:rect r="r" b="b" t="t" l="l"/>
              <a:pathLst>
                <a:path h="2259265" w="6883647">
                  <a:moveTo>
                    <a:pt x="0" y="0"/>
                  </a:moveTo>
                  <a:lnTo>
                    <a:pt x="6883647" y="0"/>
                  </a:lnTo>
                  <a:lnTo>
                    <a:pt x="6883647" y="2259265"/>
                  </a:lnTo>
                  <a:lnTo>
                    <a:pt x="0" y="2259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862" r="-238733" b="-12133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61925"/>
              <a:ext cx="6883647" cy="209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67"/>
                </a:lnSpc>
              </a:pPr>
              <a:r>
                <a:rPr lang="en-US" sz="82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GRACIAS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0" y="5277534"/>
            <a:ext cx="1828800" cy="57150"/>
            <a:chOff x="0" y="0"/>
            <a:chExt cx="24384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D4FF">
                    <a:alpha val="100000"/>
                  </a:srgbClr>
                </a:gs>
                <a:gs pos="100000">
                  <a:srgbClr val="00FF88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21494" y="9429750"/>
            <a:ext cx="17245012" cy="285750"/>
            <a:chOff x="0" y="0"/>
            <a:chExt cx="22993350" cy="38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933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Universidad Católica Boliviana "San Pablo" | Machine Learning 2026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DAHDsiQZs08</dc:identifier>
  <dcterms:modified xsi:type="dcterms:W3CDTF">2011-08-01T06:04:30Z</dcterms:modified>
  <cp:revision>1</cp:revision>
  <dc:title>Análisis Predictivo de Entregas E-Commerce.pptx</dc:title>
</cp:coreProperties>
</file>