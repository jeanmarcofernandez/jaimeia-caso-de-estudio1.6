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y="6858000" cx="12192000"/>
  <p:notesSz cx="6858000" cy="9144000"/>
  <p:embeddedFontLst>
    <p:embeddedFont>
      <p:font typeface="Poppins"/>
      <p:regular r:id="rId20"/>
      <p:bold r:id="rId21"/>
      <p:italic r:id="rId22"/>
      <p:boldItalic r:id="rId23"/>
    </p:embeddedFont>
    <p:embeddedFont>
      <p:font typeface="Lato"/>
      <p:regular r:id="rId24"/>
      <p:bold r:id="rId25"/>
      <p:italic r:id="rId26"/>
      <p:boldItalic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74B769A3-AC44-42B5-83DB-312A2F06E2ED}">
  <a:tblStyle styleId="{74B769A3-AC44-42B5-83DB-312A2F06E2ED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oppins-regular.fntdata"/><Relationship Id="rId22" Type="http://schemas.openxmlformats.org/officeDocument/2006/relationships/font" Target="fonts/Poppins-italic.fntdata"/><Relationship Id="rId21" Type="http://schemas.openxmlformats.org/officeDocument/2006/relationships/font" Target="fonts/Poppins-bold.fntdata"/><Relationship Id="rId24" Type="http://schemas.openxmlformats.org/officeDocument/2006/relationships/font" Target="fonts/Lato-regular.fntdata"/><Relationship Id="rId23" Type="http://schemas.openxmlformats.org/officeDocument/2006/relationships/font" Target="fonts/Poppins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Lato-italic.fntdata"/><Relationship Id="rId25" Type="http://schemas.openxmlformats.org/officeDocument/2006/relationships/font" Target="fonts/Lato-bold.fntdata"/><Relationship Id="rId27" Type="http://schemas.openxmlformats.org/officeDocument/2006/relationships/font" Target="fonts/Lato-bold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1.png"/><Relationship Id="rId4" Type="http://schemas.openxmlformats.org/officeDocument/2006/relationships/image" Target="../media/image7.png"/><Relationship Id="rId5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1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12.png"/><Relationship Id="rId7" Type="http://schemas.openxmlformats.org/officeDocument/2006/relationships/image" Target="../media/image4.png"/><Relationship Id="rId8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1.png"/><Relationship Id="rId4" Type="http://schemas.openxmlformats.org/officeDocument/2006/relationships/image" Target="../media/image3.png"/><Relationship Id="rId5" Type="http://schemas.openxmlformats.org/officeDocument/2006/relationships/image" Target="../media/image17.png"/><Relationship Id="rId6" Type="http://schemas.openxmlformats.org/officeDocument/2006/relationships/image" Target="../media/image11.png"/><Relationship Id="rId7" Type="http://schemas.openxmlformats.org/officeDocument/2006/relationships/image" Target="../media/image10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1.png"/><Relationship Id="rId4" Type="http://schemas.openxmlformats.org/officeDocument/2006/relationships/image" Target="../media/image14.png"/><Relationship Id="rId5" Type="http://schemas.openxmlformats.org/officeDocument/2006/relationships/image" Target="../media/image16.png"/><Relationship Id="rId6" Type="http://schemas.openxmlformats.org/officeDocument/2006/relationships/image" Target="../media/image1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1.png"/><Relationship Id="rId4" Type="http://schemas.openxmlformats.org/officeDocument/2006/relationships/image" Target="../media/image14.png"/><Relationship Id="rId5" Type="http://schemas.openxmlformats.org/officeDocument/2006/relationships/image" Target="../media/image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1.png"/><Relationship Id="rId4" Type="http://schemas.openxmlformats.org/officeDocument/2006/relationships/image" Target="../media/image9.png"/><Relationship Id="rId5" Type="http://schemas.openxmlformats.org/officeDocument/2006/relationships/image" Target="../media/image1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1.png"/><Relationship Id="rId4" Type="http://schemas.openxmlformats.org/officeDocument/2006/relationships/image" Target="../media/image14.png"/><Relationship Id="rId5" Type="http://schemas.openxmlformats.org/officeDocument/2006/relationships/image" Target="../media/image2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1.png"/><Relationship Id="rId4" Type="http://schemas.openxmlformats.org/officeDocument/2006/relationships/image" Target="../media/image15.png"/><Relationship Id="rId5" Type="http://schemas.openxmlformats.org/officeDocument/2006/relationships/image" Target="../media/image2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1.png"/><Relationship Id="rId4" Type="http://schemas.openxmlformats.org/officeDocument/2006/relationships/image" Target="../media/image30.png"/><Relationship Id="rId5" Type="http://schemas.openxmlformats.org/officeDocument/2006/relationships/image" Target="../media/image27.png"/><Relationship Id="rId6" Type="http://schemas.openxmlformats.org/officeDocument/2006/relationships/image" Target="../media/image3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1.png"/><Relationship Id="rId4" Type="http://schemas.openxmlformats.org/officeDocument/2006/relationships/image" Target="../media/image32.png"/><Relationship Id="rId9" Type="http://schemas.openxmlformats.org/officeDocument/2006/relationships/image" Target="../media/image31.png"/><Relationship Id="rId5" Type="http://schemas.openxmlformats.org/officeDocument/2006/relationships/image" Target="../media/image34.png"/><Relationship Id="rId6" Type="http://schemas.openxmlformats.org/officeDocument/2006/relationships/image" Target="../media/image33.png"/><Relationship Id="rId7" Type="http://schemas.openxmlformats.org/officeDocument/2006/relationships/image" Target="../media/image29.png"/><Relationship Id="rId8" Type="http://schemas.openxmlformats.org/officeDocument/2006/relationships/image" Target="../media/image2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1.png"/><Relationship Id="rId4" Type="http://schemas.openxmlformats.org/officeDocument/2006/relationships/image" Target="../media/image26.png"/><Relationship Id="rId5" Type="http://schemas.openxmlformats.org/officeDocument/2006/relationships/image" Target="../media/image25.png"/><Relationship Id="rId6" Type="http://schemas.openxmlformats.org/officeDocument/2006/relationships/image" Target="../media/image2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295275" y="2057400"/>
            <a:ext cx="11601450" cy="201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250" u="none" cap="none" strike="noStrik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Optimización Logística E-Commerce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571500" y="4267200"/>
            <a:ext cx="11049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Análisis Predictivo y Toma de Decisiones en la Cadena de Suministro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1" name="Google Shape;91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2" name="Google Shape;92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628900"/>
            <a:ext cx="5286375" cy="2552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3" name="Google Shape;93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2628900"/>
            <a:ext cx="5286375" cy="255270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4"/>
          <p:cNvSpPr txBox="1"/>
          <p:nvPr/>
        </p:nvSpPr>
        <p:spPr>
          <a:xfrm>
            <a:off x="962025" y="3019425"/>
            <a:ext cx="4730591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38BDF8"/>
                </a:solidFill>
                <a:latin typeface="Poppins"/>
                <a:ea typeface="Poppins"/>
                <a:cs typeface="Poppins"/>
                <a:sym typeface="Poppins"/>
              </a:rPr>
              <a:t>Retención de Clientes</a:t>
            </a:r>
            <a:endParaRPr/>
          </a:p>
        </p:txBody>
      </p:sp>
      <p:sp>
        <p:nvSpPr>
          <p:cNvPr id="95" name="Google Shape;95;p14"/>
          <p:cNvSpPr txBox="1"/>
          <p:nvPr/>
        </p:nvSpPr>
        <p:spPr>
          <a:xfrm>
            <a:off x="962025" y="3619500"/>
            <a:ext cx="4505325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La puntualidad en la entrega es un pilar fundamental para la satisfacción del cliente. Un paquete retrasado impacta directamente la retención y el valor de vida del usuario en la plataforma de e-commerce.</a:t>
            </a:r>
            <a:endParaRPr/>
          </a:p>
        </p:txBody>
      </p:sp>
      <p:sp>
        <p:nvSpPr>
          <p:cNvPr id="96" name="Google Shape;96;p14"/>
          <p:cNvSpPr txBox="1"/>
          <p:nvPr/>
        </p:nvSpPr>
        <p:spPr>
          <a:xfrm>
            <a:off x="6724650" y="3019425"/>
            <a:ext cx="4730591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38BDF8"/>
                </a:solidFill>
                <a:latin typeface="Poppins"/>
                <a:ea typeface="Poppins"/>
                <a:cs typeface="Poppins"/>
                <a:sym typeface="Poppins"/>
              </a:rPr>
              <a:t>Optimización de Costos</a:t>
            </a:r>
            <a:endParaRPr/>
          </a:p>
        </p:txBody>
      </p:sp>
      <p:sp>
        <p:nvSpPr>
          <p:cNvPr id="97" name="Google Shape;97;p14"/>
          <p:cNvSpPr txBox="1"/>
          <p:nvPr/>
        </p:nvSpPr>
        <p:spPr>
          <a:xfrm>
            <a:off x="6724650" y="3619500"/>
            <a:ext cx="4505325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Los costos asociados a los productos y los recursos logísticos influyen en la rentabilidad. Predecir con precisión los márgenes operativos permite ajustar el pricing y las estrategias de envío.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38BDF8"/>
                </a:solidFill>
                <a:latin typeface="Poppins"/>
                <a:ea typeface="Poppins"/>
                <a:cs typeface="Poppins"/>
                <a:sym typeface="Poppins"/>
              </a:rPr>
              <a:t>Contexto y Relevancia del Negocio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3" name="Google Shape;103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4" name="Google Shape;104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357437"/>
            <a:ext cx="3429000" cy="30956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5" name="Google Shape;105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81500" y="2357437"/>
            <a:ext cx="3429000" cy="30956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6" name="Google Shape;106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191500" y="2357437"/>
            <a:ext cx="3429000" cy="3095625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5"/>
          <p:cNvSpPr txBox="1"/>
          <p:nvPr/>
        </p:nvSpPr>
        <p:spPr>
          <a:xfrm>
            <a:off x="1515903" y="3386137"/>
            <a:ext cx="1540192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38BDF8"/>
                </a:solidFill>
                <a:latin typeface="Poppins"/>
                <a:ea typeface="Poppins"/>
                <a:cs typeface="Poppins"/>
                <a:sym typeface="Poppins"/>
              </a:rPr>
              <a:t>Regresión</a:t>
            </a:r>
            <a:endParaRPr/>
          </a:p>
        </p:txBody>
      </p:sp>
      <p:sp>
        <p:nvSpPr>
          <p:cNvPr id="108" name="Google Shape;108;p15"/>
          <p:cNvSpPr txBox="1"/>
          <p:nvPr/>
        </p:nvSpPr>
        <p:spPr>
          <a:xfrm>
            <a:off x="866775" y="3986212"/>
            <a:ext cx="2838450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Estimar de forma continua el costo del producto (Cost_of_the_Product) utilizando variables logísticas y demográficas del cliente.</a:t>
            </a:r>
            <a:endParaRPr/>
          </a:p>
        </p:txBody>
      </p:sp>
      <p:sp>
        <p:nvSpPr>
          <p:cNvPr id="109" name="Google Shape;109;p15"/>
          <p:cNvSpPr txBox="1"/>
          <p:nvPr/>
        </p:nvSpPr>
        <p:spPr>
          <a:xfrm>
            <a:off x="5080873" y="3386137"/>
            <a:ext cx="2030253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38BDF8"/>
                </a:solidFill>
                <a:latin typeface="Poppins"/>
                <a:ea typeface="Poppins"/>
                <a:cs typeface="Poppins"/>
                <a:sym typeface="Poppins"/>
              </a:rPr>
              <a:t>Clasificación</a:t>
            </a:r>
            <a:endParaRPr/>
          </a:p>
        </p:txBody>
      </p:sp>
      <p:sp>
        <p:nvSpPr>
          <p:cNvPr id="110" name="Google Shape;110;p15"/>
          <p:cNvSpPr txBox="1"/>
          <p:nvPr/>
        </p:nvSpPr>
        <p:spPr>
          <a:xfrm>
            <a:off x="4676775" y="3986212"/>
            <a:ext cx="2838450" cy="771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Predecir con exactitud si un pedido llegará a tiempo o experimentará retrasos (Reached.on.Time_Y.N).</a:t>
            </a:r>
            <a:endParaRPr/>
          </a:p>
        </p:txBody>
      </p:sp>
      <p:sp>
        <p:nvSpPr>
          <p:cNvPr id="111" name="Google Shape;111;p15"/>
          <p:cNvSpPr txBox="1"/>
          <p:nvPr/>
        </p:nvSpPr>
        <p:spPr>
          <a:xfrm>
            <a:off x="9240916" y="3386137"/>
            <a:ext cx="1330166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38BDF8"/>
                </a:solidFill>
                <a:latin typeface="Poppins"/>
                <a:ea typeface="Poppins"/>
                <a:cs typeface="Poppins"/>
                <a:sym typeface="Poppins"/>
              </a:rPr>
              <a:t>Impacto</a:t>
            </a:r>
            <a:endParaRPr/>
          </a:p>
        </p:txBody>
      </p:sp>
      <p:sp>
        <p:nvSpPr>
          <p:cNvPr id="112" name="Google Shape;112;p15"/>
          <p:cNvSpPr txBox="1"/>
          <p:nvPr/>
        </p:nvSpPr>
        <p:spPr>
          <a:xfrm>
            <a:off x="8486775" y="3986212"/>
            <a:ext cx="2838450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Analizar a fondo el impacto comercial de los errores en las predicciones (Falsos Positivos vs. Falsos Negativos).</a:t>
            </a:r>
            <a:endParaRPr/>
          </a:p>
        </p:txBody>
      </p:sp>
      <p:pic>
        <p:nvPicPr>
          <p:cNvPr descr="image.png" id="113" name="Google Shape;113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057400" y="2700337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4" name="Google Shape;114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867400" y="2700337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5" name="Google Shape;115;p1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677400" y="2700337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5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38BDF8"/>
                </a:solidFill>
                <a:latin typeface="Poppins"/>
                <a:ea typeface="Poppins"/>
                <a:cs typeface="Poppins"/>
                <a:sym typeface="Poppins"/>
              </a:rPr>
              <a:t>Objetivos del Proyecto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1" name="Google Shape;121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6"/>
          <p:cNvSpPr txBox="1"/>
          <p:nvPr/>
        </p:nvSpPr>
        <p:spPr>
          <a:xfrm>
            <a:off x="1714500" y="2747962"/>
            <a:ext cx="914400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8FAFC"/>
                </a:solidFill>
                <a:latin typeface="Lato"/>
                <a:ea typeface="Lato"/>
                <a:cs typeface="Lato"/>
                <a:sym typeface="Lato"/>
              </a:rPr>
              <a:t>Dataset:</a:t>
            </a:r>
            <a:r>
              <a:rPr b="0" i="0" lang="en-US" sz="13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Contiene 10,999 registros con 12 variables (ID, Almacén, Envío, Llamadas, Rating, Costo, Descuento, Peso, etc.).</a:t>
            </a:r>
            <a:endParaRPr/>
          </a:p>
        </p:txBody>
      </p:sp>
      <p:sp>
        <p:nvSpPr>
          <p:cNvPr id="123" name="Google Shape;123;p16"/>
          <p:cNvSpPr txBox="1"/>
          <p:nvPr/>
        </p:nvSpPr>
        <p:spPr>
          <a:xfrm>
            <a:off x="1714500" y="3195637"/>
            <a:ext cx="914400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8FAFC"/>
                </a:solidFill>
                <a:latin typeface="Lato"/>
                <a:ea typeface="Lato"/>
                <a:cs typeface="Lato"/>
                <a:sym typeface="Lato"/>
              </a:rPr>
              <a:t>Codificación Ordinal:</a:t>
            </a:r>
            <a:r>
              <a:rPr b="0" i="0" lang="en-US" sz="13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La variable "Product_importance" fue mapeada a valores continuos (low=0, medium=1, high=2).</a:t>
            </a:r>
            <a:endParaRPr/>
          </a:p>
        </p:txBody>
      </p:sp>
      <p:sp>
        <p:nvSpPr>
          <p:cNvPr id="124" name="Google Shape;124;p16"/>
          <p:cNvSpPr txBox="1"/>
          <p:nvPr/>
        </p:nvSpPr>
        <p:spPr>
          <a:xfrm>
            <a:off x="1714500" y="3643312"/>
            <a:ext cx="914400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8FAFC"/>
                </a:solidFill>
                <a:latin typeface="Lato"/>
                <a:ea typeface="Lato"/>
                <a:cs typeface="Lato"/>
                <a:sym typeface="Lato"/>
              </a:rPr>
              <a:t>One-Hot Encoding:</a:t>
            </a:r>
            <a:r>
              <a:rPr b="0" i="0" lang="en-US" sz="13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Variables nominales como "Warehouse_block", "Mode_of_Shipment" y "Gender" fueron transformadas a múltiples columnas binarias.</a:t>
            </a:r>
            <a:endParaRPr/>
          </a:p>
        </p:txBody>
      </p:sp>
      <p:sp>
        <p:nvSpPr>
          <p:cNvPr id="125" name="Google Shape;125;p16"/>
          <p:cNvSpPr txBox="1"/>
          <p:nvPr/>
        </p:nvSpPr>
        <p:spPr>
          <a:xfrm>
            <a:off x="1714500" y="4348162"/>
            <a:ext cx="914400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8FAFC"/>
                </a:solidFill>
                <a:latin typeface="Lato"/>
                <a:ea typeface="Lato"/>
                <a:cs typeface="Lato"/>
                <a:sym typeface="Lato"/>
              </a:rPr>
              <a:t>Estandarización:</a:t>
            </a:r>
            <a:r>
              <a:rPr b="0" i="0" lang="en-US" sz="13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Se utilizó StandardScaler para llevar las características numéricas a una distribución estándar y prevenir sesgos algorítmicos.</a:t>
            </a:r>
            <a:endParaRPr/>
          </a:p>
        </p:txBody>
      </p:sp>
      <p:pic>
        <p:nvPicPr>
          <p:cNvPr descr="image.png" id="126" name="Google Shape;126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33500" y="2757487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7" name="Google Shape;127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333500" y="3205162"/>
            <a:ext cx="2571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8" name="Google Shape;128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333500" y="3652837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9" name="Google Shape;129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333500" y="4357687"/>
            <a:ext cx="200025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16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38BDF8"/>
                </a:solidFill>
                <a:latin typeface="Poppins"/>
                <a:ea typeface="Poppins"/>
                <a:cs typeface="Poppins"/>
                <a:sym typeface="Poppins"/>
              </a:rPr>
              <a:t>Datos y Preprocesamiento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5" name="Google Shape;135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6" name="Google Shape;136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1762125"/>
            <a:ext cx="5286375" cy="428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7"/>
          <p:cNvSpPr txBox="1"/>
          <p:nvPr/>
        </p:nvSpPr>
        <p:spPr>
          <a:xfrm>
            <a:off x="714375" y="1762125"/>
            <a:ext cx="952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38" name="Google Shape;138;p17"/>
          <p:cNvSpPr txBox="1"/>
          <p:nvPr/>
        </p:nvSpPr>
        <p:spPr>
          <a:xfrm>
            <a:off x="809625" y="1762125"/>
            <a:ext cx="504825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El análisis de correlación lineal nos permite identificar la relación y multicolinealidad entre nuestras características.</a:t>
            </a:r>
            <a:endParaRPr/>
          </a:p>
        </p:txBody>
      </p:sp>
      <p:sp>
        <p:nvSpPr>
          <p:cNvPr id="139" name="Google Shape;139;p17"/>
          <p:cNvSpPr txBox="1"/>
          <p:nvPr/>
        </p:nvSpPr>
        <p:spPr>
          <a:xfrm>
            <a:off x="714375" y="2419350"/>
            <a:ext cx="952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40" name="Google Shape;140;p17"/>
          <p:cNvSpPr txBox="1"/>
          <p:nvPr/>
        </p:nvSpPr>
        <p:spPr>
          <a:xfrm>
            <a:off x="809625" y="2419350"/>
            <a:ext cx="5048250" cy="771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Se observa una correlación baja entre la mayoría de las variables predictoras y nuestro objetivo principal de regresión (Costo del Producto).</a:t>
            </a:r>
            <a:endParaRPr/>
          </a:p>
        </p:txBody>
      </p:sp>
      <p:sp>
        <p:nvSpPr>
          <p:cNvPr id="141" name="Google Shape;141;p17"/>
          <p:cNvSpPr txBox="1"/>
          <p:nvPr/>
        </p:nvSpPr>
        <p:spPr>
          <a:xfrm>
            <a:off x="714375" y="3333750"/>
            <a:ext cx="952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42" name="Google Shape;142;p17"/>
          <p:cNvSpPr txBox="1"/>
          <p:nvPr/>
        </p:nvSpPr>
        <p:spPr>
          <a:xfrm>
            <a:off x="809625" y="3333750"/>
            <a:ext cx="5048250" cy="771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Esto indica preliminarmente que las relaciones en este conjunto de datos pueden no ser estrictamente lineales o que faltan factores explicativos.</a:t>
            </a:r>
            <a:endParaRPr/>
          </a:p>
        </p:txBody>
      </p:sp>
      <p:pic>
        <p:nvPicPr>
          <p:cNvPr descr="image.png" id="143" name="Google Shape;143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43650" y="1771650"/>
            <a:ext cx="5267325" cy="426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17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38BDF8"/>
                </a:solidFill>
                <a:latin typeface="Poppins"/>
                <a:ea typeface="Poppins"/>
                <a:cs typeface="Poppins"/>
                <a:sym typeface="Poppins"/>
              </a:rPr>
              <a:t>EDA: Matriz de Correlación</a:t>
            </a:r>
            <a:endParaRPr/>
          </a:p>
        </p:txBody>
      </p:sp>
      <p:pic>
        <p:nvPicPr>
          <p:cNvPr id="145" name="Google Shape;145;p1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334125" y="13"/>
            <a:ext cx="5908177" cy="68579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0" name="Google Shape;150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1" name="Google Shape;151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1762125"/>
            <a:ext cx="5286375" cy="428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18"/>
          <p:cNvSpPr txBox="1"/>
          <p:nvPr/>
        </p:nvSpPr>
        <p:spPr>
          <a:xfrm>
            <a:off x="714375" y="1762125"/>
            <a:ext cx="952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53" name="Google Shape;153;p18"/>
          <p:cNvSpPr txBox="1"/>
          <p:nvPr/>
        </p:nvSpPr>
        <p:spPr>
          <a:xfrm>
            <a:off x="809625" y="1762125"/>
            <a:ext cx="504825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Los diagramas de caja (Boxplots) fueron esenciales para examinar la dispersión de características numéricas clave.</a:t>
            </a:r>
            <a:endParaRPr/>
          </a:p>
        </p:txBody>
      </p:sp>
      <p:sp>
        <p:nvSpPr>
          <p:cNvPr id="154" name="Google Shape;154;p18"/>
          <p:cNvSpPr txBox="1"/>
          <p:nvPr/>
        </p:nvSpPr>
        <p:spPr>
          <a:xfrm>
            <a:off x="714375" y="2419350"/>
            <a:ext cx="952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55" name="Google Shape;155;p18"/>
          <p:cNvSpPr txBox="1"/>
          <p:nvPr/>
        </p:nvSpPr>
        <p:spPr>
          <a:xfrm>
            <a:off x="809625" y="2419350"/>
            <a:ext cx="5048250" cy="771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Variables como </a:t>
            </a:r>
            <a:r>
              <a:rPr b="1" i="0" lang="en-US" sz="13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Discount_offered</a:t>
            </a:r>
            <a:r>
              <a:rPr b="0" i="0" lang="en-US" sz="13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y </a:t>
            </a:r>
            <a:r>
              <a:rPr b="1" i="0" lang="en-US" sz="13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Prior_purchases</a:t>
            </a:r>
            <a:r>
              <a:rPr b="0" i="0" lang="en-US" sz="13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muestran valores extremos que pueden sesgar un modelo de regresión no robusto.</a:t>
            </a:r>
            <a:endParaRPr/>
          </a:p>
        </p:txBody>
      </p:sp>
      <p:sp>
        <p:nvSpPr>
          <p:cNvPr id="156" name="Google Shape;156;p18"/>
          <p:cNvSpPr txBox="1"/>
          <p:nvPr/>
        </p:nvSpPr>
        <p:spPr>
          <a:xfrm>
            <a:off x="714375" y="3333750"/>
            <a:ext cx="952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57" name="Google Shape;157;p18"/>
          <p:cNvSpPr txBox="1"/>
          <p:nvPr/>
        </p:nvSpPr>
        <p:spPr>
          <a:xfrm>
            <a:off x="809625" y="3333750"/>
            <a:ext cx="504825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Este análisis visual validó la necesidad de implementar técnicas de regularización (Ridge/Lasso) en etapas posteriores.</a:t>
            </a:r>
            <a:endParaRPr/>
          </a:p>
        </p:txBody>
      </p:sp>
      <p:pic>
        <p:nvPicPr>
          <p:cNvPr descr="image.png" id="158" name="Google Shape;158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43650" y="1771650"/>
            <a:ext cx="5267325" cy="426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18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38BDF8"/>
                </a:solidFill>
                <a:latin typeface="Poppins"/>
                <a:ea typeface="Poppins"/>
                <a:cs typeface="Poppins"/>
                <a:sym typeface="Poppins"/>
              </a:rPr>
              <a:t>EDA: Detección de Valores Atípicos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4" name="Google Shape;164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5" name="Google Shape;165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492250"/>
            <a:ext cx="11049000" cy="4762500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19"/>
          <p:cNvSpPr/>
          <p:nvPr/>
        </p:nvSpPr>
        <p:spPr>
          <a:xfrm>
            <a:off x="571500" y="2224087"/>
            <a:ext cx="11049000" cy="2457450"/>
          </a:xfrm>
          <a:prstGeom prst="roundRect">
            <a:avLst>
              <a:gd fmla="val 0" name="adj"/>
            </a:avLst>
          </a:prstGeom>
          <a:solidFill>
            <a:srgbClr val="1E293B"/>
          </a:solidFill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67" name="Google Shape;167;p19"/>
          <p:cNvGraphicFramePr/>
          <p:nvPr/>
        </p:nvGraphicFramePr>
        <p:xfrm>
          <a:off x="571500" y="222408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{74B769A3-AC44-42B5-83DB-312A2F06E2ED}</a:tableStyleId>
              </a:tblPr>
              <a:tblGrid>
                <a:gridCol w="3647325"/>
                <a:gridCol w="3513675"/>
                <a:gridCol w="3887975"/>
              </a:tblGrid>
              <a:tr h="614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38BDF8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Modelo Evalúado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2061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38BDF8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MAE (Error Absoluto)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2061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38BDF8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RMSE (Raíz Error Cuad.)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20617"/>
                    </a:solidFill>
                  </a:tcPr>
                </a:tc>
              </a:tr>
              <a:tr h="614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latin typeface="Lato"/>
                          <a:ea typeface="Lato"/>
                          <a:cs typeface="Lato"/>
                          <a:sym typeface="Lato"/>
                        </a:rPr>
                        <a:t>Linear Regression (Baseline)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latin typeface="Lato"/>
                          <a:ea typeface="Lato"/>
                          <a:cs typeface="Lato"/>
                          <a:sym typeface="Lato"/>
                        </a:rPr>
                        <a:t>0.768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latin typeface="Lato"/>
                          <a:ea typeface="Lato"/>
                          <a:cs typeface="Lato"/>
                          <a:sym typeface="Lato"/>
                        </a:rPr>
                        <a:t>0.927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14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latin typeface="Lato"/>
                          <a:ea typeface="Lato"/>
                          <a:cs typeface="Lato"/>
                          <a:sym typeface="Lato"/>
                        </a:rPr>
                        <a:t>Ridge Regression (alpha=1.0)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latin typeface="Lato"/>
                          <a:ea typeface="Lato"/>
                          <a:cs typeface="Lato"/>
                          <a:sym typeface="Lato"/>
                        </a:rPr>
                        <a:t>0.768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latin typeface="Lato"/>
                          <a:ea typeface="Lato"/>
                          <a:cs typeface="Lato"/>
                          <a:sym typeface="Lato"/>
                        </a:rPr>
                        <a:t>0.927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143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latin typeface="Lato"/>
                          <a:ea typeface="Lato"/>
                          <a:cs typeface="Lato"/>
                          <a:sym typeface="Lato"/>
                        </a:rPr>
                        <a:t>Lasso Regression (alpha=1.0)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latin typeface="Lato"/>
                          <a:ea typeface="Lato"/>
                          <a:cs typeface="Lato"/>
                          <a:sym typeface="Lato"/>
                        </a:rPr>
                        <a:t>0.837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latin typeface="Lato"/>
                          <a:ea typeface="Lato"/>
                          <a:cs typeface="Lato"/>
                          <a:sym typeface="Lato"/>
                        </a:rPr>
                        <a:t>0.980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descr="image.png" id="168" name="Google Shape;168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32710" y="5097363"/>
            <a:ext cx="774055" cy="136624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19"/>
          <p:cNvSpPr/>
          <p:nvPr/>
        </p:nvSpPr>
        <p:spPr>
          <a:xfrm>
            <a:off x="571500" y="2847975"/>
            <a:ext cx="364733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9"/>
          <p:cNvSpPr/>
          <p:nvPr/>
        </p:nvSpPr>
        <p:spPr>
          <a:xfrm>
            <a:off x="4218830" y="2847975"/>
            <a:ext cx="3513683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19"/>
          <p:cNvSpPr/>
          <p:nvPr/>
        </p:nvSpPr>
        <p:spPr>
          <a:xfrm>
            <a:off x="7732514" y="2847975"/>
            <a:ext cx="3887985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19"/>
          <p:cNvSpPr/>
          <p:nvPr/>
        </p:nvSpPr>
        <p:spPr>
          <a:xfrm>
            <a:off x="571500" y="3457575"/>
            <a:ext cx="364733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9"/>
          <p:cNvSpPr/>
          <p:nvPr/>
        </p:nvSpPr>
        <p:spPr>
          <a:xfrm>
            <a:off x="4218830" y="3457575"/>
            <a:ext cx="3513683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9"/>
          <p:cNvSpPr/>
          <p:nvPr/>
        </p:nvSpPr>
        <p:spPr>
          <a:xfrm>
            <a:off x="7732514" y="3457575"/>
            <a:ext cx="3887985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9"/>
          <p:cNvSpPr/>
          <p:nvPr/>
        </p:nvSpPr>
        <p:spPr>
          <a:xfrm>
            <a:off x="571500" y="4067175"/>
            <a:ext cx="364733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19"/>
          <p:cNvSpPr/>
          <p:nvPr/>
        </p:nvSpPr>
        <p:spPr>
          <a:xfrm>
            <a:off x="4218830" y="4067175"/>
            <a:ext cx="3513683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9"/>
          <p:cNvSpPr/>
          <p:nvPr/>
        </p:nvSpPr>
        <p:spPr>
          <a:xfrm>
            <a:off x="7732514" y="4067175"/>
            <a:ext cx="3887985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19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38BDF8"/>
                </a:solidFill>
                <a:latin typeface="Poppins"/>
                <a:ea typeface="Poppins"/>
                <a:cs typeface="Poppins"/>
                <a:sym typeface="Poppins"/>
              </a:rPr>
              <a:t>Resultados de Regresión (Costo)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3" name="Google Shape;183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4" name="Google Shape;184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1762125"/>
            <a:ext cx="5286375" cy="428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20"/>
          <p:cNvSpPr txBox="1"/>
          <p:nvPr/>
        </p:nvSpPr>
        <p:spPr>
          <a:xfrm>
            <a:off x="714375" y="1762125"/>
            <a:ext cx="952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86" name="Google Shape;186;p20"/>
          <p:cNvSpPr txBox="1"/>
          <p:nvPr/>
        </p:nvSpPr>
        <p:spPr>
          <a:xfrm>
            <a:off x="809625" y="1762125"/>
            <a:ext cx="50482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Modelo:</a:t>
            </a:r>
            <a:r>
              <a:rPr b="0" i="0" lang="en-US" sz="13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Árbol de Decisión.</a:t>
            </a:r>
            <a:endParaRPr/>
          </a:p>
        </p:txBody>
      </p:sp>
      <p:sp>
        <p:nvSpPr>
          <p:cNvPr id="187" name="Google Shape;187;p20"/>
          <p:cNvSpPr txBox="1"/>
          <p:nvPr/>
        </p:nvSpPr>
        <p:spPr>
          <a:xfrm>
            <a:off x="714375" y="2162175"/>
            <a:ext cx="952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88" name="Google Shape;188;p20"/>
          <p:cNvSpPr txBox="1"/>
          <p:nvPr/>
        </p:nvSpPr>
        <p:spPr>
          <a:xfrm>
            <a:off x="809625" y="2162175"/>
            <a:ext cx="50482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Accuracy:</a:t>
            </a:r>
            <a:r>
              <a:rPr b="0" i="0" lang="en-US" sz="13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64.09% de exactitud global en el conjunto de prueba.</a:t>
            </a:r>
            <a:endParaRPr/>
          </a:p>
        </p:txBody>
      </p:sp>
      <p:sp>
        <p:nvSpPr>
          <p:cNvPr id="189" name="Google Shape;189;p20"/>
          <p:cNvSpPr txBox="1"/>
          <p:nvPr/>
        </p:nvSpPr>
        <p:spPr>
          <a:xfrm>
            <a:off x="714375" y="2562225"/>
            <a:ext cx="952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90" name="Google Shape;190;p20"/>
          <p:cNvSpPr txBox="1"/>
          <p:nvPr/>
        </p:nvSpPr>
        <p:spPr>
          <a:xfrm>
            <a:off x="809625" y="2562225"/>
            <a:ext cx="5048250" cy="771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Matriz de Confusión:</a:t>
            </a:r>
            <a:r>
              <a:rPr b="0" i="0" lang="en-US" sz="13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Se observa una tendencia del modelo a predecir la Clase 1 (A tiempo) con mayor exhaustividad (Recall del 72%) frente a los retrasos.</a:t>
            </a:r>
            <a:endParaRPr/>
          </a:p>
        </p:txBody>
      </p:sp>
      <p:sp>
        <p:nvSpPr>
          <p:cNvPr id="191" name="Google Shape;191;p20"/>
          <p:cNvSpPr txBox="1"/>
          <p:nvPr/>
        </p:nvSpPr>
        <p:spPr>
          <a:xfrm>
            <a:off x="714375" y="3476625"/>
            <a:ext cx="952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92" name="Google Shape;192;p20"/>
          <p:cNvSpPr txBox="1"/>
          <p:nvPr/>
        </p:nvSpPr>
        <p:spPr>
          <a:xfrm>
            <a:off x="809625" y="3476625"/>
            <a:ext cx="504825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Se generaron 416 Falsos Positivos y 374 Falsos Negativos en la muestra evaluada.</a:t>
            </a:r>
            <a:endParaRPr/>
          </a:p>
        </p:txBody>
      </p:sp>
      <p:sp>
        <p:nvSpPr>
          <p:cNvPr id="193" name="Google Shape;193;p20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38BDF8"/>
                </a:solidFill>
                <a:latin typeface="Poppins"/>
                <a:ea typeface="Poppins"/>
                <a:cs typeface="Poppins"/>
                <a:sym typeface="Poppins"/>
              </a:rPr>
              <a:t>Resultados de Clasificación (Puntualidad)</a:t>
            </a:r>
            <a:endParaRPr/>
          </a:p>
        </p:txBody>
      </p:sp>
      <p:pic>
        <p:nvPicPr>
          <p:cNvPr id="194" name="Google Shape;194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181950" y="1727425"/>
            <a:ext cx="5438550" cy="4355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9" name="Google Shape;199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0" name="Google Shape;200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200275"/>
            <a:ext cx="5286375" cy="34099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1" name="Google Shape;201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2200275"/>
            <a:ext cx="5286375" cy="3409950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21"/>
          <p:cNvSpPr txBox="1"/>
          <p:nvPr/>
        </p:nvSpPr>
        <p:spPr>
          <a:xfrm>
            <a:off x="962025" y="2590800"/>
            <a:ext cx="4730591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38BDF8"/>
                </a:solidFill>
                <a:latin typeface="Poppins"/>
                <a:ea typeface="Poppins"/>
                <a:cs typeface="Poppins"/>
                <a:sym typeface="Poppins"/>
              </a:rPr>
              <a:t>Falsos Negativos (Riesgo Crítico)</a:t>
            </a:r>
            <a:endParaRPr/>
          </a:p>
        </p:txBody>
      </p:sp>
      <p:sp>
        <p:nvSpPr>
          <p:cNvPr id="203" name="Google Shape;203;p21"/>
          <p:cNvSpPr txBox="1"/>
          <p:nvPr/>
        </p:nvSpPr>
        <p:spPr>
          <a:xfrm>
            <a:off x="962025" y="3648075"/>
            <a:ext cx="4505325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El modelo pronostica entrega puntual, pero se retrasa.</a:t>
            </a:r>
            <a:endParaRPr/>
          </a:p>
        </p:txBody>
      </p:sp>
      <p:sp>
        <p:nvSpPr>
          <p:cNvPr id="204" name="Google Shape;204;p21"/>
          <p:cNvSpPr txBox="1"/>
          <p:nvPr/>
        </p:nvSpPr>
        <p:spPr>
          <a:xfrm>
            <a:off x="962025" y="4048125"/>
            <a:ext cx="4505325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Este es el peor escenario para el negocio. Al no anticipar el retraso, el cliente no recibe aviso previo, la satisfacción disminuye drásticamente y aumentan los reclamos a soporte técnico, dañando la reputación.</a:t>
            </a:r>
            <a:endParaRPr/>
          </a:p>
        </p:txBody>
      </p:sp>
      <p:sp>
        <p:nvSpPr>
          <p:cNvPr id="205" name="Google Shape;205;p21"/>
          <p:cNvSpPr txBox="1"/>
          <p:nvPr/>
        </p:nvSpPr>
        <p:spPr>
          <a:xfrm>
            <a:off x="6724650" y="2590800"/>
            <a:ext cx="4730591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38BDF8"/>
                </a:solidFill>
                <a:latin typeface="Poppins"/>
                <a:ea typeface="Poppins"/>
                <a:cs typeface="Poppins"/>
                <a:sym typeface="Poppins"/>
              </a:rPr>
              <a:t>Falsos Positivos (Riesgo Operativo)</a:t>
            </a:r>
            <a:endParaRPr/>
          </a:p>
        </p:txBody>
      </p:sp>
      <p:sp>
        <p:nvSpPr>
          <p:cNvPr id="206" name="Google Shape;206;p21"/>
          <p:cNvSpPr txBox="1"/>
          <p:nvPr/>
        </p:nvSpPr>
        <p:spPr>
          <a:xfrm>
            <a:off x="6724650" y="3648075"/>
            <a:ext cx="4505325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El modelo pronostica retraso, pero llega a tiempo.</a:t>
            </a:r>
            <a:endParaRPr/>
          </a:p>
        </p:txBody>
      </p:sp>
      <p:sp>
        <p:nvSpPr>
          <p:cNvPr id="207" name="Google Shape;207;p21"/>
          <p:cNvSpPr txBox="1"/>
          <p:nvPr/>
        </p:nvSpPr>
        <p:spPr>
          <a:xfrm>
            <a:off x="6724650" y="4048125"/>
            <a:ext cx="4505325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Este error activa protocolos de emergencia logísticos innecesarios, inflando temporalmente los costos operativos. Sin embargo, no afecta la satisfacción del cliente final (e incluso podría percibir una "entrega anticipada").</a:t>
            </a:r>
            <a:endParaRPr/>
          </a:p>
        </p:txBody>
      </p:sp>
      <p:sp>
        <p:nvSpPr>
          <p:cNvPr id="208" name="Google Shape;208;p21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38BDF8"/>
                </a:solidFill>
                <a:latin typeface="Poppins"/>
                <a:ea typeface="Poppins"/>
                <a:cs typeface="Poppins"/>
                <a:sym typeface="Poppins"/>
              </a:rPr>
              <a:t>Impacto: Errores de Clasificación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13" name="Google Shape;213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22"/>
          <p:cNvSpPr txBox="1"/>
          <p:nvPr/>
        </p:nvSpPr>
        <p:spPr>
          <a:xfrm>
            <a:off x="1714500" y="2847975"/>
            <a:ext cx="914400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8FAFC"/>
                </a:solidFill>
                <a:latin typeface="Lato"/>
                <a:ea typeface="Lato"/>
                <a:cs typeface="Lato"/>
                <a:sym typeface="Lato"/>
              </a:rPr>
              <a:t>Regresión Limitada:</a:t>
            </a:r>
            <a:r>
              <a:rPr b="0" i="0" lang="en-US" sz="13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Los modelos lineales no fueron capaces de estimar adecuadamente el costo del producto, evidenciando que el conjunto actual de variables no captura los factores que determinan el precio.</a:t>
            </a:r>
            <a:endParaRPr/>
          </a:p>
        </p:txBody>
      </p:sp>
      <p:sp>
        <p:nvSpPr>
          <p:cNvPr id="215" name="Google Shape;215;p22"/>
          <p:cNvSpPr txBox="1"/>
          <p:nvPr/>
        </p:nvSpPr>
        <p:spPr>
          <a:xfrm>
            <a:off x="1714500" y="3552825"/>
            <a:ext cx="914400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8FAFC"/>
                </a:solidFill>
                <a:latin typeface="Lato"/>
                <a:ea typeface="Lato"/>
                <a:cs typeface="Lato"/>
                <a:sym typeface="Lato"/>
              </a:rPr>
              <a:t>Clasificación Básica:</a:t>
            </a:r>
            <a:r>
              <a:rPr b="0" i="0" lang="en-US" sz="13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El modelo de Árbol de Decisión ofrece un rendimiento modesto (64% Accuracy). Captura señales útiles, pero el nivel de error indica la necesidad de ajustes algorítmicos.</a:t>
            </a:r>
            <a:endParaRPr/>
          </a:p>
        </p:txBody>
      </p:sp>
      <p:sp>
        <p:nvSpPr>
          <p:cNvPr id="216" name="Google Shape;216;p22"/>
          <p:cNvSpPr txBox="1"/>
          <p:nvPr/>
        </p:nvSpPr>
        <p:spPr>
          <a:xfrm>
            <a:off x="1714500" y="4257675"/>
            <a:ext cx="914400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8FAFC"/>
                </a:solidFill>
                <a:latin typeface="Lato"/>
                <a:ea typeface="Lato"/>
                <a:cs typeface="Lato"/>
                <a:sym typeface="Lato"/>
              </a:rPr>
              <a:t>Asimetría del Riesgo:</a:t>
            </a:r>
            <a:r>
              <a:rPr b="0" i="0" lang="en-US" sz="13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Los errores del modelo no cuestan lo mismo. Los Falsos Negativos destruyen la confianza del consumidor, exigiendo que el modelo minimice este fallo en específico por sobre los Falsos Positivos.</a:t>
            </a:r>
            <a:endParaRPr/>
          </a:p>
        </p:txBody>
      </p:sp>
      <p:pic>
        <p:nvPicPr>
          <p:cNvPr descr="image.png" id="217" name="Google Shape;217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33500" y="2857500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8" name="Google Shape;218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333500" y="3562350"/>
            <a:ext cx="28575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9" name="Google Shape;219;p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333500" y="4267200"/>
            <a:ext cx="22860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22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38BDF8"/>
                </a:solidFill>
                <a:latin typeface="Poppins"/>
                <a:ea typeface="Poppins"/>
                <a:cs typeface="Poppins"/>
                <a:sym typeface="Poppins"/>
              </a:rPr>
              <a:t>Conclusiones del Análisis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25" name="Google Shape;225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6" name="Google Shape;226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871662"/>
            <a:ext cx="3429000" cy="4067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7" name="Google Shape;227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81500" y="1871662"/>
            <a:ext cx="3429000" cy="4067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8" name="Google Shape;228;p2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91500" y="1871662"/>
            <a:ext cx="3429000" cy="4067175"/>
          </a:xfrm>
          <a:prstGeom prst="rect">
            <a:avLst/>
          </a:prstGeom>
          <a:noFill/>
          <a:ln>
            <a:noFill/>
          </a:ln>
        </p:spPr>
      </p:pic>
      <p:sp>
        <p:nvSpPr>
          <p:cNvPr id="229" name="Google Shape;229;p23"/>
          <p:cNvSpPr txBox="1"/>
          <p:nvPr/>
        </p:nvSpPr>
        <p:spPr>
          <a:xfrm>
            <a:off x="795813" y="2900362"/>
            <a:ext cx="2980372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38BDF8"/>
                </a:solidFill>
                <a:latin typeface="Poppins"/>
                <a:ea typeface="Poppins"/>
                <a:cs typeface="Poppins"/>
                <a:sym typeface="Poppins"/>
              </a:rPr>
              <a:t>Enriquecer Features</a:t>
            </a:r>
            <a:endParaRPr/>
          </a:p>
        </p:txBody>
      </p:sp>
      <p:sp>
        <p:nvSpPr>
          <p:cNvPr id="230" name="Google Shape;230;p23"/>
          <p:cNvSpPr txBox="1"/>
          <p:nvPr/>
        </p:nvSpPr>
        <p:spPr>
          <a:xfrm>
            <a:off x="866775" y="3957637"/>
            <a:ext cx="2838450" cy="1543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Incorporar variables externas al dataset (ej. proveedor de envíos, factores climáticos estacionales, dimensiones exactas) para nutrir significativamente las predicciones de costo y tiempo.</a:t>
            </a:r>
            <a:endParaRPr/>
          </a:p>
        </p:txBody>
      </p:sp>
      <p:sp>
        <p:nvSpPr>
          <p:cNvPr id="231" name="Google Shape;231;p23"/>
          <p:cNvSpPr txBox="1"/>
          <p:nvPr/>
        </p:nvSpPr>
        <p:spPr>
          <a:xfrm>
            <a:off x="4745831" y="2900362"/>
            <a:ext cx="2700337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38BDF8"/>
                </a:solidFill>
                <a:latin typeface="Poppins"/>
                <a:ea typeface="Poppins"/>
                <a:cs typeface="Poppins"/>
                <a:sym typeface="Poppins"/>
              </a:rPr>
              <a:t>Ajuste de Umbral</a:t>
            </a:r>
            <a:endParaRPr/>
          </a:p>
        </p:txBody>
      </p:sp>
      <p:sp>
        <p:nvSpPr>
          <p:cNvPr id="232" name="Google Shape;232;p23"/>
          <p:cNvSpPr txBox="1"/>
          <p:nvPr/>
        </p:nvSpPr>
        <p:spPr>
          <a:xfrm>
            <a:off x="4676775" y="3500437"/>
            <a:ext cx="2838450" cy="1543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Modificar el umbral de decisión del modelo de clasificación para penalizar fuertemente los Falsos Negativos, priorizando alertar posibles retrasos aunque aumenten los Falsos Positivos.</a:t>
            </a:r>
            <a:endParaRPr/>
          </a:p>
        </p:txBody>
      </p:sp>
      <p:sp>
        <p:nvSpPr>
          <p:cNvPr id="233" name="Google Shape;233;p23"/>
          <p:cNvSpPr txBox="1"/>
          <p:nvPr/>
        </p:nvSpPr>
        <p:spPr>
          <a:xfrm>
            <a:off x="8415813" y="2900362"/>
            <a:ext cx="2980372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38BDF8"/>
                </a:solidFill>
                <a:latin typeface="Poppins"/>
                <a:ea typeface="Poppins"/>
                <a:cs typeface="Poppins"/>
                <a:sym typeface="Poppins"/>
              </a:rPr>
              <a:t>Modelos Ensembles</a:t>
            </a:r>
            <a:endParaRPr/>
          </a:p>
        </p:txBody>
      </p:sp>
      <p:sp>
        <p:nvSpPr>
          <p:cNvPr id="234" name="Google Shape;234;p23"/>
          <p:cNvSpPr txBox="1"/>
          <p:nvPr/>
        </p:nvSpPr>
        <p:spPr>
          <a:xfrm>
            <a:off x="8486775" y="3957637"/>
            <a:ext cx="2838450" cy="1285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Transicionar el algoritmo hacia modelos más robustos que capturen asimetrías complejas, tales como Random Forest o Extreme Gradient Boosting (XGBoost).</a:t>
            </a:r>
            <a:endParaRPr/>
          </a:p>
        </p:txBody>
      </p:sp>
      <p:pic>
        <p:nvPicPr>
          <p:cNvPr descr="image.png" id="235" name="Google Shape;235;p2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085975" y="2214562"/>
            <a:ext cx="40005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6" name="Google Shape;236;p2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867400" y="2214562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7" name="Google Shape;237;p23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677400" y="2214562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p23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38BDF8"/>
                </a:solidFill>
                <a:latin typeface="Poppins"/>
                <a:ea typeface="Poppins"/>
                <a:cs typeface="Poppins"/>
                <a:sym typeface="Poppins"/>
              </a:rPr>
              <a:t>Recomendaciones Estratégicas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43" name="Google Shape;243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Google Shape;244;p24"/>
          <p:cNvSpPr txBox="1"/>
          <p:nvPr/>
        </p:nvSpPr>
        <p:spPr>
          <a:xfrm>
            <a:off x="295275" y="2533650"/>
            <a:ext cx="1160145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38BDF8"/>
                </a:solidFill>
                <a:latin typeface="Poppins"/>
                <a:ea typeface="Poppins"/>
                <a:cs typeface="Poppins"/>
                <a:sym typeface="Poppins"/>
              </a:rPr>
              <a:t>Preguntas y Respuestas</a:t>
            </a:r>
            <a:endParaRPr/>
          </a:p>
        </p:txBody>
      </p:sp>
      <p:sp>
        <p:nvSpPr>
          <p:cNvPr id="245" name="Google Shape;245;p24"/>
          <p:cNvSpPr txBox="1"/>
          <p:nvPr/>
        </p:nvSpPr>
        <p:spPr>
          <a:xfrm>
            <a:off x="571500" y="3867150"/>
            <a:ext cx="110490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Gracias por su atención.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50" name="Google Shape;250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1" name="Google Shape;251;p25"/>
          <p:cNvSpPr/>
          <p:nvPr/>
        </p:nvSpPr>
        <p:spPr>
          <a:xfrm>
            <a:off x="2924175" y="2752725"/>
            <a:ext cx="6343650" cy="771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25"/>
          <p:cNvSpPr/>
          <p:nvPr/>
        </p:nvSpPr>
        <p:spPr>
          <a:xfrm>
            <a:off x="2924175" y="3524250"/>
            <a:ext cx="6343650" cy="771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25"/>
          <p:cNvSpPr/>
          <p:nvPr/>
        </p:nvSpPr>
        <p:spPr>
          <a:xfrm>
            <a:off x="2924175" y="3514725"/>
            <a:ext cx="63436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25"/>
          <p:cNvSpPr/>
          <p:nvPr/>
        </p:nvSpPr>
        <p:spPr>
          <a:xfrm>
            <a:off x="2924175" y="3514725"/>
            <a:ext cx="63436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25"/>
          <p:cNvSpPr/>
          <p:nvPr/>
        </p:nvSpPr>
        <p:spPr>
          <a:xfrm>
            <a:off x="2924175" y="4286250"/>
            <a:ext cx="63436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25"/>
          <p:cNvSpPr/>
          <p:nvPr/>
        </p:nvSpPr>
        <p:spPr>
          <a:xfrm>
            <a:off x="2924175" y="4286250"/>
            <a:ext cx="63436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57" name="Google Shape;257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924175" y="2895600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58" name="Google Shape;258;p25"/>
          <p:cNvSpPr txBox="1"/>
          <p:nvPr/>
        </p:nvSpPr>
        <p:spPr>
          <a:xfrm>
            <a:off x="4019550" y="2902743"/>
            <a:ext cx="5248275" cy="185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https://www.quanthub.com/wp-content/uploads/correlation_heatmap_food_health.png</a:t>
            </a:r>
            <a:endParaRPr/>
          </a:p>
        </p:txBody>
      </p:sp>
      <p:sp>
        <p:nvSpPr>
          <p:cNvPr id="259" name="Google Shape;259;p25"/>
          <p:cNvSpPr txBox="1"/>
          <p:nvPr/>
        </p:nvSpPr>
        <p:spPr>
          <a:xfrm>
            <a:off x="4019550" y="3136106"/>
            <a:ext cx="52482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www.quanthub.com</a:t>
            </a:r>
            <a:endParaRPr/>
          </a:p>
        </p:txBody>
      </p:sp>
      <p:pic>
        <p:nvPicPr>
          <p:cNvPr descr="image.png" id="260" name="Google Shape;260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924175" y="3667125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61" name="Google Shape;261;p25"/>
          <p:cNvSpPr txBox="1"/>
          <p:nvPr/>
        </p:nvSpPr>
        <p:spPr>
          <a:xfrm>
            <a:off x="4019550" y="3674268"/>
            <a:ext cx="5248275" cy="185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https://miro.medium.com/v2/resize:fit:1400/1*0MPDTLn8KoLApoFvI0P2vQ.png</a:t>
            </a:r>
            <a:endParaRPr/>
          </a:p>
        </p:txBody>
      </p:sp>
      <p:sp>
        <p:nvSpPr>
          <p:cNvPr id="262" name="Google Shape;262;p25"/>
          <p:cNvSpPr txBox="1"/>
          <p:nvPr/>
        </p:nvSpPr>
        <p:spPr>
          <a:xfrm>
            <a:off x="4019550" y="3907631"/>
            <a:ext cx="52482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medium.com</a:t>
            </a:r>
            <a:endParaRPr/>
          </a:p>
        </p:txBody>
      </p:sp>
      <p:pic>
        <p:nvPicPr>
          <p:cNvPr descr="image.png" id="263" name="Google Shape;263;p2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924175" y="4438650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64" name="Google Shape;264;p25"/>
          <p:cNvSpPr txBox="1"/>
          <p:nvPr/>
        </p:nvSpPr>
        <p:spPr>
          <a:xfrm>
            <a:off x="4019550" y="4445793"/>
            <a:ext cx="5248275" cy="185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https://cdn.analyticsvidhya.com/wp-content/uploads/2024/08/Example-Confusion-matrix.webp</a:t>
            </a:r>
            <a:endParaRPr/>
          </a:p>
        </p:txBody>
      </p:sp>
      <p:sp>
        <p:nvSpPr>
          <p:cNvPr id="265" name="Google Shape;265;p25"/>
          <p:cNvSpPr txBox="1"/>
          <p:nvPr/>
        </p:nvSpPr>
        <p:spPr>
          <a:xfrm>
            <a:off x="4019550" y="4679156"/>
            <a:ext cx="52482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www.analyticsvidhya.com</a:t>
            </a:r>
            <a:endParaRPr/>
          </a:p>
        </p:txBody>
      </p:sp>
      <p:sp>
        <p:nvSpPr>
          <p:cNvPr id="266" name="Google Shape;266;p25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38BDF8"/>
                </a:solidFill>
                <a:latin typeface="Poppins"/>
                <a:ea typeface="Poppins"/>
                <a:cs typeface="Poppins"/>
                <a:sym typeface="Poppins"/>
              </a:rPr>
              <a:t>Image Sources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